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ddcdba5ca4bb0" /><Relationship Type="http://schemas.openxmlformats.org/officeDocument/2006/relationships/extended-properties" Target="/docProps/app.xml" Id="R42b310040a4c447b" /><Relationship Type="http://schemas.openxmlformats.org/officeDocument/2006/relationships/officeDocument" Target="/ppt/presentation.xml" Id="R714385d6d19a4b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97961d2fb541a9"/>
  </p:sldMasterIdLst>
  <p:notesMasterIdLst>
    <p:notesMasterId xmlns:r="http://schemas.openxmlformats.org/officeDocument/2006/relationships" r:id="R4e4bbe24aa6642c3"/>
  </p:notesMasterIdLst>
  <p:sldIdLst>
    <p:sldId xmlns:r="http://schemas.openxmlformats.org/officeDocument/2006/relationships" id="256" r:id="R03007d0af2f7433f"/>
    <p:sldId xmlns:r="http://schemas.openxmlformats.org/officeDocument/2006/relationships" id="257" r:id="R0616eba8e8a94038"/>
    <p:sldId xmlns:r="http://schemas.openxmlformats.org/officeDocument/2006/relationships" id="258" r:id="Rb43ac7cc4c3840f5"/>
    <p:sldId xmlns:r="http://schemas.openxmlformats.org/officeDocument/2006/relationships" id="259" r:id="Rd705b182ec844634"/>
    <p:sldId xmlns:r="http://schemas.openxmlformats.org/officeDocument/2006/relationships" id="260" r:id="R08c46d0a46e84491"/>
    <p:sldId xmlns:r="http://schemas.openxmlformats.org/officeDocument/2006/relationships" id="261" r:id="R74f7a05ccb064c23"/>
    <p:sldId xmlns:r="http://schemas.openxmlformats.org/officeDocument/2006/relationships" id="262" r:id="Ra4e48a35f98e4c31"/>
    <p:sldId xmlns:r="http://schemas.openxmlformats.org/officeDocument/2006/relationships" id="263" r:id="R9f03ec4968ac4c56"/>
    <p:sldId xmlns:r="http://schemas.openxmlformats.org/officeDocument/2006/relationships" id="264" r:id="Rd38c18106691438a"/>
    <p:sldId xmlns:r="http://schemas.openxmlformats.org/officeDocument/2006/relationships" id="265" r:id="R84bf3889a74f4728"/>
    <p:sldId xmlns:r="http://schemas.openxmlformats.org/officeDocument/2006/relationships" id="266" r:id="Re7c30ad467784394"/>
    <p:sldId xmlns:r="http://schemas.openxmlformats.org/officeDocument/2006/relationships" id="267" r:id="R8309ead3439d4c92"/>
    <p:sldId xmlns:r="http://schemas.openxmlformats.org/officeDocument/2006/relationships" id="268" r:id="R0d6bb1e00f644384"/>
    <p:sldId xmlns:r="http://schemas.openxmlformats.org/officeDocument/2006/relationships" id="269" r:id="R5b7104893a8a4d00"/>
    <p:sldId xmlns:r="http://schemas.openxmlformats.org/officeDocument/2006/relationships" id="270" r:id="Re6d2eb6a087e4879"/>
    <p:sldId xmlns:r="http://schemas.openxmlformats.org/officeDocument/2006/relationships" id="271" r:id="Rb0d0b3129d604b8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7961d2fb541a9" /><Relationship Type="http://schemas.openxmlformats.org/officeDocument/2006/relationships/theme" Target="/ppt/theme/theme1.xml" Id="R973a3ad2b9fc4b69" /><Relationship Type="http://schemas.openxmlformats.org/officeDocument/2006/relationships/notesMaster" Target="/ppt/notesMasters/notesMaster1.xml" Id="R4e4bbe24aa6642c3" /><Relationship Type="http://schemas.openxmlformats.org/officeDocument/2006/relationships/presProps" Target="/ppt/presProps.xml" Id="R4d36c01b32ba428f" /><Relationship Type="http://schemas.openxmlformats.org/officeDocument/2006/relationships/viewProps" Target="/ppt/viewProps.xml" Id="Raf6ddc3f34d04b3c" /><Relationship Type="http://schemas.openxmlformats.org/officeDocument/2006/relationships/tableStyles" Target="/ppt/tableStyles.xml" Id="R1f6795471dc8402f" /><Relationship Type="http://schemas.openxmlformats.org/officeDocument/2006/relationships/slide" Target="/ppt/slides/slide1.xml" Id="R03007d0af2f7433f" /><Relationship Type="http://schemas.openxmlformats.org/officeDocument/2006/relationships/slide" Target="/ppt/slides/slide2.xml" Id="R0616eba8e8a94038" /><Relationship Type="http://schemas.openxmlformats.org/officeDocument/2006/relationships/slide" Target="/ppt/slides/slide3.xml" Id="Rb43ac7cc4c3840f5" /><Relationship Type="http://schemas.openxmlformats.org/officeDocument/2006/relationships/slide" Target="/ppt/slides/slide4.xml" Id="Rd705b182ec844634" /><Relationship Type="http://schemas.openxmlformats.org/officeDocument/2006/relationships/slide" Target="/ppt/slides/slide5.xml" Id="R08c46d0a46e84491" /><Relationship Type="http://schemas.openxmlformats.org/officeDocument/2006/relationships/slide" Target="/ppt/slides/slide6.xml" Id="R74f7a05ccb064c23" /><Relationship Type="http://schemas.openxmlformats.org/officeDocument/2006/relationships/slide" Target="/ppt/slides/slide7.xml" Id="Ra4e48a35f98e4c31" /><Relationship Type="http://schemas.openxmlformats.org/officeDocument/2006/relationships/slide" Target="/ppt/slides/slide8.xml" Id="R9f03ec4968ac4c56" /><Relationship Type="http://schemas.openxmlformats.org/officeDocument/2006/relationships/slide" Target="/ppt/slides/slide9.xml" Id="Rd38c18106691438a" /><Relationship Type="http://schemas.openxmlformats.org/officeDocument/2006/relationships/slide" Target="/ppt/slides/slide10.xml" Id="R84bf3889a74f4728" /><Relationship Type="http://schemas.openxmlformats.org/officeDocument/2006/relationships/slide" Target="/ppt/slides/slide11.xml" Id="Re7c30ad467784394" /><Relationship Type="http://schemas.openxmlformats.org/officeDocument/2006/relationships/slide" Target="/ppt/slides/slide12.xml" Id="R8309ead3439d4c92" /><Relationship Type="http://schemas.openxmlformats.org/officeDocument/2006/relationships/slide" Target="/ppt/slides/slide13.xml" Id="R0d6bb1e00f644384" /><Relationship Type="http://schemas.openxmlformats.org/officeDocument/2006/relationships/slide" Target="/ppt/slides/slide14.xml" Id="R5b7104893a8a4d00" /><Relationship Type="http://schemas.openxmlformats.org/officeDocument/2006/relationships/slide" Target="/ppt/slides/slide15.xml" Id="Re6d2eb6a087e4879" /><Relationship Type="http://schemas.openxmlformats.org/officeDocument/2006/relationships/slide" Target="/ppt/slides/slide16.xml" Id="Rb0d0b3129d60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57a0e7968aa43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a102d88b84f0f" /><Relationship Type="http://schemas.openxmlformats.org/officeDocument/2006/relationships/notesMaster" Target="/ppt/notesMasters/notesMaster1.xml" Id="R2602e4bab4dc4a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cbabbff551452f" /><Relationship Type="http://schemas.openxmlformats.org/officeDocument/2006/relationships/notesMaster" Target="/ppt/notesMasters/notesMaster1.xml" Id="Ra48b0243ad3343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4668a7cb98476c" /><Relationship Type="http://schemas.openxmlformats.org/officeDocument/2006/relationships/notesMaster" Target="/ppt/notesMasters/notesMaster1.xml" Id="R8b85396ada8246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3c99a3dfe945f0" /><Relationship Type="http://schemas.openxmlformats.org/officeDocument/2006/relationships/notesMaster" Target="/ppt/notesMasters/notesMaster1.xml" Id="R98135db59a5d49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7b73c1e78343e2" /><Relationship Type="http://schemas.openxmlformats.org/officeDocument/2006/relationships/notesMaster" Target="/ppt/notesMasters/notesMaster1.xml" Id="R206bd69f542e46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77a1151ac54148" /><Relationship Type="http://schemas.openxmlformats.org/officeDocument/2006/relationships/notesMaster" Target="/ppt/notesMasters/notesMaster1.xml" Id="Re3008667c43a41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f56a157a414f47" /><Relationship Type="http://schemas.openxmlformats.org/officeDocument/2006/relationships/notesMaster" Target="/ppt/notesMasters/notesMaster1.xml" Id="R52eb0fd5480c49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996e4c4d95484f" /><Relationship Type="http://schemas.openxmlformats.org/officeDocument/2006/relationships/notesMaster" Target="/ppt/notesMasters/notesMaster1.xml" Id="R2ac1a18744a2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227c524c3748f8" /><Relationship Type="http://schemas.openxmlformats.org/officeDocument/2006/relationships/notesMaster" Target="/ppt/notesMasters/notesMaster1.xml" Id="R66dcca38ee4440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fd30ae4b7844da" /><Relationship Type="http://schemas.openxmlformats.org/officeDocument/2006/relationships/notesMaster" Target="/ppt/notesMasters/notesMaster1.xml" Id="R0393a5a352a546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ae075e5beb43e5" /><Relationship Type="http://schemas.openxmlformats.org/officeDocument/2006/relationships/notesMaster" Target="/ppt/notesMasters/notesMaster1.xml" Id="R0a60f54f1d4640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d93c9709474a46" /><Relationship Type="http://schemas.openxmlformats.org/officeDocument/2006/relationships/notesMaster" Target="/ppt/notesMasters/notesMaster1.xml" Id="R50ea4862e22047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a471d6658643fe" /><Relationship Type="http://schemas.openxmlformats.org/officeDocument/2006/relationships/notesMaster" Target="/ppt/notesMasters/notesMaster1.xml" Id="R12edd694b25b4e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7d8af6e97041da" /><Relationship Type="http://schemas.openxmlformats.org/officeDocument/2006/relationships/notesMaster" Target="/ppt/notesMasters/notesMaster1.xml" Id="R00f6c4d3af0d4f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bdfce7dafe46c9" /><Relationship Type="http://schemas.openxmlformats.org/officeDocument/2006/relationships/notesMaster" Target="/ppt/notesMasters/notesMaster1.xml" Id="R3163862ae03c43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5829d278674c3e" /><Relationship Type="http://schemas.openxmlformats.org/officeDocument/2006/relationships/notesMaster" Target="/ppt/notesMasters/notesMaster1.xml" Id="R719ef1949dcc49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adfdefe3f433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9306be068545e0" /><Relationship Type="http://schemas.openxmlformats.org/officeDocument/2006/relationships/slideLayout" Target="/ppt/slideLayouts/slideLayout2.xml" Id="R2b2df364758e47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df364758e47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8bf8f9c09d4068" /><Relationship Type="http://schemas.openxmlformats.org/officeDocument/2006/relationships/notesSlide" Target="/ppt/notesSlides/notesSlide1.xml" Id="Rb5294246f99e47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c81a740c3e4a8e" /><Relationship Type="http://schemas.openxmlformats.org/officeDocument/2006/relationships/notesSlide" Target="/ppt/notesSlides/notesSlide2.xml" Id="R6544eafec86243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c9f2c1ee14818" /><Relationship Type="http://schemas.openxmlformats.org/officeDocument/2006/relationships/notesSlide" Target="/ppt/notesSlides/notesSlide3.xml" Id="R4a105da8556d48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60967c00784489" /><Relationship Type="http://schemas.openxmlformats.org/officeDocument/2006/relationships/notesSlide" Target="/ppt/notesSlides/notesSlide4.xml" Id="R9300d37690de4b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db123328045e8" /><Relationship Type="http://schemas.openxmlformats.org/officeDocument/2006/relationships/notesSlide" Target="/ppt/notesSlides/notesSlide5.xml" Id="R4ed4125fe13f45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2f464fb8a4a7e" /><Relationship Type="http://schemas.openxmlformats.org/officeDocument/2006/relationships/notesSlide" Target="/ppt/notesSlides/notesSlide6.xml" Id="R742ae9483bba4e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afca3fa8c4f98" /><Relationship Type="http://schemas.openxmlformats.org/officeDocument/2006/relationships/notesSlide" Target="/ppt/notesSlides/notesSlide7.xml" Id="R838c4188835342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9301742694b5b" /><Relationship Type="http://schemas.openxmlformats.org/officeDocument/2006/relationships/notesSlide" Target="/ppt/notesSlides/notesSlide8.xml" Id="R5f6ba0568c7440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a841da29be45b9" /><Relationship Type="http://schemas.openxmlformats.org/officeDocument/2006/relationships/notesSlide" Target="/ppt/notesSlides/notesSlide9.xml" Id="R24e5115884ae4b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d0bbe9cd154bfb" /><Relationship Type="http://schemas.openxmlformats.org/officeDocument/2006/relationships/notesSlide" Target="/ppt/notesSlides/notesSlide10.xml" Id="R2072b75dcedc4c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e5894460da4ea0" /><Relationship Type="http://schemas.openxmlformats.org/officeDocument/2006/relationships/notesSlide" Target="/ppt/notesSlides/notesSlide11.xml" Id="Raba80d686d084e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9cb3f23a114397" /><Relationship Type="http://schemas.openxmlformats.org/officeDocument/2006/relationships/notesSlide" Target="/ppt/notesSlides/notesSlide12.xml" Id="Rc1fc2e060cbe4c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4cd61694664d02" /><Relationship Type="http://schemas.openxmlformats.org/officeDocument/2006/relationships/notesSlide" Target="/ppt/notesSlides/notesSlide13.xml" Id="R389e74b8098348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3f484d3932446a" /><Relationship Type="http://schemas.openxmlformats.org/officeDocument/2006/relationships/notesSlide" Target="/ppt/notesSlides/notesSlide14.xml" Id="R69f07c8245b24b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1dfa34bdc414e" /><Relationship Type="http://schemas.openxmlformats.org/officeDocument/2006/relationships/notesSlide" Target="/ppt/notesSlides/notesSlide15.xml" Id="R14149c85215248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d7e65f25c34161" /><Relationship Type="http://schemas.openxmlformats.org/officeDocument/2006/relationships/notesSlide" Target="/ppt/notesSlides/notesSlide16.xml" Id="R445076841f3241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35B7DE3-8B6D-4671-85AD-4061D8A7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2E"/>
          </a:solidFill>
        </p:spPr>
      </p:sp>
      <p:sp>
        <p:nvSpPr>
          <p:cNvPr id="2" name="cover-band">
            <a:extLst xmlns:a="http://schemas.openxmlformats.org/drawingml/2006/main">
              <a:ext uri="{FF2B5EF4-FFF2-40B4-BE49-F238E27FC236}">
                <a16:creationId xmlns:a16="http://schemas.microsoft.com/office/drawing/2014/main" id="{48BC2F4B-E7B8-47FB-8204-A2B709EE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B4A"/>
          </a:solidFill>
        </p:spPr>
      </p:sp>
      <p:sp>
        <p:nvSpPr>
          <p:cNvPr id="3" name="cover-band-fill">
            <a:extLst xmlns:a="http://schemas.openxmlformats.org/drawingml/2006/main">
              <a:ext uri="{FF2B5EF4-FFF2-40B4-BE49-F238E27FC236}">
                <a16:creationId xmlns:a16="http://schemas.microsoft.com/office/drawing/2014/main" id="{F5B07FFE-8A09-4B56-9E91-078AFAC2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4" name="cover-brand-name">
            <a:extLst xmlns:a="http://schemas.openxmlformats.org/drawingml/2006/main">
              <a:ext uri="{FF2B5EF4-FFF2-40B4-BE49-F238E27FC236}">
                <a16:creationId xmlns:a16="http://schemas.microsoft.com/office/drawing/2014/main" id="{EA171218-2A5C-4E54-8D43-FF00A634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A62F"/>
                </a:solidFill>
              </a:defRPr>
            </a:pPr>
            <a:r>
              <a:rPr sz="1350" b="1">
                <a:solidFill>
                  <a:srgbClr val="E7A62F"/>
                </a:solidFill>
              </a:rPr>
              <a:t>IDEIAPAGES × IDEIA CHAT</a:t>
            </a:r>
          </a:p>
        </p:txBody>
      </p:sp>
      <p:sp>
        <p:nvSpPr>
          <p:cNvPr id="5" name="cover-brand-tag">
            <a:extLst xmlns:a="http://schemas.openxmlformats.org/drawingml/2006/main">
              <a:ext uri="{FF2B5EF4-FFF2-40B4-BE49-F238E27FC236}">
                <a16:creationId xmlns:a16="http://schemas.microsoft.com/office/drawing/2014/main" id="{9C00D99D-2591-4420-A433-B6414C5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CB0AE"/>
                </a:solidFill>
              </a:defRPr>
            </a:pPr>
            <a:r>
              <a:rPr sz="1050">
                <a:solidFill>
                  <a:srgbClr val="9CB0AE"/>
                </a:solidFill>
              </a:rPr>
              <a:t>ESTRATÉGIA + SISTEMA · MVP</a:t>
            </a:r>
          </a:p>
        </p:txBody>
      </p:sp>
      <p:sp>
        <p:nvSpPr>
          <p:cNvPr id="6" name="cover-author-name">
            <a:extLst xmlns:a="http://schemas.openxmlformats.org/drawingml/2006/main">
              <a:ext uri="{FF2B5EF4-FFF2-40B4-BE49-F238E27FC236}">
                <a16:creationId xmlns:a16="http://schemas.microsoft.com/office/drawing/2014/main" id="{225CB288-FDB9-4DA5-B8E6-577BF90A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7620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Junior</a:t>
            </a:r>
          </a:p>
        </p:txBody>
      </p:sp>
      <p:sp>
        <p:nvSpPr>
          <p:cNvPr id="7" name="cover-author-role">
            <a:extLst xmlns:a="http://schemas.openxmlformats.org/drawingml/2006/main">
              <a:ext uri="{FF2B5EF4-FFF2-40B4-BE49-F238E27FC236}">
                <a16:creationId xmlns:a16="http://schemas.microsoft.com/office/drawing/2014/main" id="{B9D2B71B-6B71-49E2-9B8A-4EB72B2D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106680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CB0AE"/>
                </a:solidFill>
              </a:defRPr>
            </a:pPr>
            <a:r>
              <a:rPr sz="1050">
                <a:solidFill>
                  <a:srgbClr val="9CB0AE"/>
                </a:solidFill>
              </a:rPr>
              <a:t>Estratégia · Rede Ideia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7587EFA-E9D7-4EBC-93B3-48F3B1FB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871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650" b="1">
                <a:solidFill>
                  <a:srgbClr val="FFFFFF"/>
                </a:solidFill>
              </a:defRPr>
            </a:pPr>
            <a:r>
              <a:rPr sz="7650" b="1">
                <a:solidFill>
                  <a:srgbClr val="FFFFFF"/>
                </a:solidFill>
              </a:rPr>
              <a:t>Estratégia + Sistema do MVP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FAA6C46-1E10-43DF-B941-0FCDF60C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8896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DE9E5"/>
                </a:solidFill>
              </a:defRPr>
            </a:pPr>
            <a:r>
              <a:rPr sz="2250">
                <a:solidFill>
                  <a:srgbClr val="CDE9E5"/>
                </a:solidFill>
              </a:rPr>
              <a:t>Decisões de pesquisa, sistema construído e plano de execução do IDeiaPages</a:t>
            </a:r>
          </a:p>
        </p:txBody>
      </p:sp>
      <p:sp>
        <p:nvSpPr>
          <p:cNvPr id="10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21512238-DF58-4247-BD8D-0103328E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0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</p:spPr>
      </p:sp>
      <p:sp>
        <p:nvSpPr>
          <p:cNvPr id="11" name="cover-thesis-label">
            <a:extLst xmlns:a="http://schemas.openxmlformats.org/drawingml/2006/main">
              <a:ext uri="{FF2B5EF4-FFF2-40B4-BE49-F238E27FC236}">
                <a16:creationId xmlns:a16="http://schemas.microsoft.com/office/drawing/2014/main" id="{FBBC2FAA-1B4A-4CA4-AB00-F6796403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86800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F8EE"/>
                </a:solidFill>
              </a:defRPr>
            </a:pPr>
            <a:r>
              <a:rPr sz="1050" b="1">
                <a:solidFill>
                  <a:srgbClr val="D4F8EE"/>
                </a:solidFill>
              </a:rPr>
              <a:t>TESE</a:t>
            </a:r>
          </a:p>
        </p:txBody>
      </p:sp>
      <p:sp>
        <p:nvSpPr>
          <p:cNvPr id="12" name="cover-thesis-text">
            <a:extLst xmlns:a="http://schemas.openxmlformats.org/drawingml/2006/main">
              <a:ext uri="{FF2B5EF4-FFF2-40B4-BE49-F238E27FC236}">
                <a16:creationId xmlns:a16="http://schemas.microsoft.com/office/drawing/2014/main" id="{923EDCDC-2BDE-4850-9542-528E0CE5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34450"/>
            <a:ext cx="1150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10 LPs em bloco. Sistema gera com 3 IAs e mede vencedor. Search Console guia a próxima rodada.</a:t>
            </a:r>
          </a:p>
        </p:txBody>
      </p:sp>
      <p:sp>
        <p:nvSpPr>
          <p:cNvPr id="13" name="cover-dot">
            <a:extLst xmlns:a="http://schemas.openxmlformats.org/drawingml/2006/main">
              <a:ext uri="{FF2B5EF4-FFF2-40B4-BE49-F238E27FC236}">
                <a16:creationId xmlns:a16="http://schemas.microsoft.com/office/drawing/2014/main" id="{7C6691B2-3725-4655-B58D-1F83ABD5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296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14" name="cover-version-text">
            <a:extLst xmlns:a="http://schemas.openxmlformats.org/drawingml/2006/main">
              <a:ext uri="{FF2B5EF4-FFF2-40B4-BE49-F238E27FC236}">
                <a16:creationId xmlns:a16="http://schemas.microsoft.com/office/drawing/2014/main" id="{F686FE28-0345-4730-9693-13FE53A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1440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A62F"/>
                </a:solidFill>
              </a:defRPr>
            </a:pPr>
            <a:r>
              <a:rPr sz="1200" b="1">
                <a:solidFill>
                  <a:srgbClr val="E7A62F"/>
                </a:solidFill>
              </a:rPr>
              <a:t>v3</a:t>
            </a:r>
          </a:p>
        </p:txBody>
      </p:sp>
    </p:spTree>
    <p:extLst>
      <p:ext uri="{BB962C8B-B14F-4D97-AF65-F5344CB8AC3E}">
        <p14:creationId xmlns:p14="http://schemas.microsoft.com/office/powerpoint/2010/main" val="15661242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6961302-7CD7-4C65-851B-6EB72C0D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tese">
            <a:extLst xmlns:a="http://schemas.openxmlformats.org/drawingml/2006/main">
              <a:ext uri="{FF2B5EF4-FFF2-40B4-BE49-F238E27FC236}">
                <a16:creationId xmlns:a16="http://schemas.microsoft.com/office/drawing/2014/main" id="{FBB1330E-7F25-4903-914D-0B6B24C5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TESE</a:t>
            </a:r>
          </a:p>
        </p:txBody>
      </p:sp>
      <p:sp>
        <p:nvSpPr>
          <p:cNvPr id="3" name="thesis-text">
            <a:extLst xmlns:a="http://schemas.openxmlformats.org/drawingml/2006/main">
              <a:ext uri="{FF2B5EF4-FFF2-40B4-BE49-F238E27FC236}">
                <a16:creationId xmlns:a16="http://schemas.microsoft.com/office/drawing/2014/main" id="{BCD790A4-85C1-4752-A450-5ACD7EEB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57924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32A2E"/>
                </a:solidFill>
              </a:defRPr>
            </a:pPr>
            <a:r>
              <a:rPr sz="4500" b="1">
                <a:solidFill>
                  <a:srgbClr val="132A2E"/>
                </a:solidFill>
              </a:rPr>
              <a:t>Construímos o sistema. Refinamos o foco. Agora ligamos os dois — 10 LPs em bloco como entrega do MVP, com contabilidade como cluster principal e imobiliárias como secundário.</a:t>
            </a:r>
          </a:p>
        </p:txBody>
      </p:sp>
      <p:sp>
        <p:nvSpPr>
          <p:cNvPr id="4" name="thesis-rule">
            <a:extLst xmlns:a="http://schemas.openxmlformats.org/drawingml/2006/main">
              <a:ext uri="{FF2B5EF4-FFF2-40B4-BE49-F238E27FC236}">
                <a16:creationId xmlns:a16="http://schemas.microsoft.com/office/drawing/2014/main" id="{DE9B9C36-6B4C-4DF7-AB89-8A0AF22E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62F"/>
          </a:solidFill>
          <a:ln xmlns:a="http://schemas.openxmlformats.org/drawingml/2006/main" w="0">
            <a:solidFill>
              <a:srgbClr val="E7A62F"/>
            </a:solidFill>
            <a:prstDash val="solid"/>
          </a:ln>
        </p:spPr>
      </p:sp>
      <p:sp>
        <p:nvSpPr>
          <p:cNvPr id="5" name="thesis-sub">
            <a:extLst xmlns:a="http://schemas.openxmlformats.org/drawingml/2006/main">
              <a:ext uri="{FF2B5EF4-FFF2-40B4-BE49-F238E27FC236}">
                <a16:creationId xmlns:a16="http://schemas.microsoft.com/office/drawing/2014/main" id="{0C41F0A0-C80E-46C9-A30A-C3F0C30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1772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6A6D"/>
                </a:solidFill>
              </a:defRPr>
            </a:pPr>
            <a:r>
              <a:rPr sz="2100">
                <a:solidFill>
                  <a:srgbClr val="5D6A6D"/>
                </a:solidFill>
              </a:rPr>
              <a:t>O sistema gera, testa e mede com três IAs em paralelo. O Search Console arbitra a próxima rodada de nichos.</a:t>
            </a:r>
          </a:p>
        </p:txBody>
      </p:sp>
      <p:sp>
        <p:nvSpPr>
          <p:cNvPr id="6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059202D9-115B-4A42-99DE-9ADC86E8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7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CB42DC21-76D9-4B27-BE2B-10D55E79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1195419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15E36BB-CE79-4BF7-9240-700ED353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sistema">
            <a:extLst xmlns:a="http://schemas.openxmlformats.org/drawingml/2006/main">
              <a:ext uri="{FF2B5EF4-FFF2-40B4-BE49-F238E27FC236}">
                <a16:creationId xmlns:a16="http://schemas.microsoft.com/office/drawing/2014/main" id="{A5102392-0F90-4FCD-9056-D5683ABF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SISTEMA</a:t>
            </a:r>
          </a:p>
        </p:txBody>
      </p:sp>
      <p:sp>
        <p:nvSpPr>
          <p:cNvPr id="3" name="slide-title-sistema">
            <a:extLst xmlns:a="http://schemas.openxmlformats.org/drawingml/2006/main">
              <a:ext uri="{FF2B5EF4-FFF2-40B4-BE49-F238E27FC236}">
                <a16:creationId xmlns:a16="http://schemas.microsoft.com/office/drawing/2014/main" id="{E39D4774-7EC1-4331-8AB3-D26B4F19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IDeiaPages — plataforma de SEO programático já em operação interna.</a:t>
            </a:r>
          </a:p>
        </p:txBody>
      </p:sp>
      <p:sp>
        <p:nvSpPr>
          <p:cNvPr id="4" name="slide-subtitle-sistema">
            <a:extLst xmlns:a="http://schemas.openxmlformats.org/drawingml/2006/main">
              <a:ext uri="{FF2B5EF4-FFF2-40B4-BE49-F238E27FC236}">
                <a16:creationId xmlns:a16="http://schemas.microsoft.com/office/drawing/2014/main" id="{20CCFBA6-5685-4DAA-9A68-71210A9C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Seis capacidades integradas. Não é um site com CMS, é um motor de páginas que aprende.</a:t>
            </a:r>
          </a:p>
        </p:txBody>
      </p:sp>
      <p:sp>
        <p:nvSpPr>
          <p:cNvPr id="5" name="cap-01">
            <a:extLst xmlns:a="http://schemas.openxmlformats.org/drawingml/2006/main">
              <a:ext uri="{FF2B5EF4-FFF2-40B4-BE49-F238E27FC236}">
                <a16:creationId xmlns:a16="http://schemas.microsoft.com/office/drawing/2014/main" id="{1947EFAD-6062-4678-88AB-F32A5F06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8860"/>
            <a:ext cx="5422900" cy="291465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p-num-bg-01">
            <a:extLst xmlns:a="http://schemas.openxmlformats.org/drawingml/2006/main">
              <a:ext uri="{FF2B5EF4-FFF2-40B4-BE49-F238E27FC236}">
                <a16:creationId xmlns:a16="http://schemas.microsoft.com/office/drawing/2014/main" id="{6D656EE8-D734-406C-B12F-470C171A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7" name="cap-num-01">
            <a:extLst xmlns:a="http://schemas.openxmlformats.org/drawingml/2006/main">
              <a:ext uri="{FF2B5EF4-FFF2-40B4-BE49-F238E27FC236}">
                <a16:creationId xmlns:a16="http://schemas.microsoft.com/office/drawing/2014/main" id="{9AD93919-A196-4254-8D7D-22BEBF6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cap-title-01">
            <a:extLst xmlns:a="http://schemas.openxmlformats.org/drawingml/2006/main">
              <a:ext uri="{FF2B5EF4-FFF2-40B4-BE49-F238E27FC236}">
                <a16:creationId xmlns:a16="http://schemas.microsoft.com/office/drawing/2014/main" id="{94121C73-31FA-418E-A858-7FEB7BA9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1460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Pesquisa automatizada</a:t>
            </a:r>
          </a:p>
        </p:txBody>
      </p:sp>
      <p:sp>
        <p:nvSpPr>
          <p:cNvPr id="9" name="cap-desc-01">
            <a:extLst xmlns:a="http://schemas.openxmlformats.org/drawingml/2006/main">
              <a:ext uri="{FF2B5EF4-FFF2-40B4-BE49-F238E27FC236}">
                <a16:creationId xmlns:a16="http://schemas.microsoft.com/office/drawing/2014/main" id="{B2D72B58-EB5B-4EC3-8340-BC8260C9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93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Descobre termos, classifica intent, coleta SERP e analisa concorrentes via IA.</a:t>
            </a:r>
          </a:p>
        </p:txBody>
      </p:sp>
      <p:sp>
        <p:nvSpPr>
          <p:cNvPr id="10" name="cap-02">
            <a:extLst xmlns:a="http://schemas.openxmlformats.org/drawingml/2006/main">
              <a:ext uri="{FF2B5EF4-FFF2-40B4-BE49-F238E27FC236}">
                <a16:creationId xmlns:a16="http://schemas.microsoft.com/office/drawing/2014/main" id="{DFF0CAC6-5BFD-4F21-84E4-4938E5CB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308860"/>
            <a:ext cx="5422900" cy="291465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cap-num-bg-02">
            <a:extLst xmlns:a="http://schemas.openxmlformats.org/drawingml/2006/main">
              <a:ext uri="{FF2B5EF4-FFF2-40B4-BE49-F238E27FC236}">
                <a16:creationId xmlns:a16="http://schemas.microsoft.com/office/drawing/2014/main" id="{485F137B-1F29-4105-94D1-BDBDD857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251460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2" name="cap-num-02">
            <a:extLst xmlns:a="http://schemas.openxmlformats.org/drawingml/2006/main">
              <a:ext uri="{FF2B5EF4-FFF2-40B4-BE49-F238E27FC236}">
                <a16:creationId xmlns:a16="http://schemas.microsoft.com/office/drawing/2014/main" id="{02D80F8C-3915-4366-A9D9-34B96F07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cap-title-02">
            <a:extLst xmlns:a="http://schemas.openxmlformats.org/drawingml/2006/main">
              <a:ext uri="{FF2B5EF4-FFF2-40B4-BE49-F238E27FC236}">
                <a16:creationId xmlns:a16="http://schemas.microsoft.com/office/drawing/2014/main" id="{32F555ED-EEA0-4892-BFCF-C19A1F3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1460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Briefing técnico por termo</a:t>
            </a:r>
          </a:p>
        </p:txBody>
      </p:sp>
      <p:sp>
        <p:nvSpPr>
          <p:cNvPr id="14" name="cap-desc-02">
            <a:extLst xmlns:a="http://schemas.openxmlformats.org/drawingml/2006/main">
              <a:ext uri="{FF2B5EF4-FFF2-40B4-BE49-F238E27FC236}">
                <a16:creationId xmlns:a16="http://schemas.microsoft.com/office/drawing/2014/main" id="{054FD8E0-FB1B-4853-868B-3384AA48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93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Produz a base SEO da página: estrutura, dor, ângulo de information gain.</a:t>
            </a:r>
          </a:p>
        </p:txBody>
      </p:sp>
      <p:sp>
        <p:nvSpPr>
          <p:cNvPr id="15" name="cap-03">
            <a:extLst xmlns:a="http://schemas.openxmlformats.org/drawingml/2006/main">
              <a:ext uri="{FF2B5EF4-FFF2-40B4-BE49-F238E27FC236}">
                <a16:creationId xmlns:a16="http://schemas.microsoft.com/office/drawing/2014/main" id="{EF8A4093-43F0-4770-BD76-3B015ED2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950" y="2308860"/>
            <a:ext cx="5422900" cy="291465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cap-num-bg-03">
            <a:extLst xmlns:a="http://schemas.openxmlformats.org/drawingml/2006/main">
              <a:ext uri="{FF2B5EF4-FFF2-40B4-BE49-F238E27FC236}">
                <a16:creationId xmlns:a16="http://schemas.microsoft.com/office/drawing/2014/main" id="{FD08C9CD-2A30-44BC-B197-5ADDDCAA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600" y="251460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17" name="cap-num-03">
            <a:extLst xmlns:a="http://schemas.openxmlformats.org/drawingml/2006/main">
              <a:ext uri="{FF2B5EF4-FFF2-40B4-BE49-F238E27FC236}">
                <a16:creationId xmlns:a16="http://schemas.microsoft.com/office/drawing/2014/main" id="{E85487E0-1C85-4A8D-BA48-1FEA49A4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55270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cap-title-03">
            <a:extLst xmlns:a="http://schemas.openxmlformats.org/drawingml/2006/main">
              <a:ext uri="{FF2B5EF4-FFF2-40B4-BE49-F238E27FC236}">
                <a16:creationId xmlns:a16="http://schemas.microsoft.com/office/drawing/2014/main" id="{1C0D1C2B-8D05-40AD-ACA3-85CAC0DF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51460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Geração com 3 IAs</a:t>
            </a:r>
          </a:p>
        </p:txBody>
      </p:sp>
      <p:sp>
        <p:nvSpPr>
          <p:cNvPr id="19" name="cap-desc-03">
            <a:extLst xmlns:a="http://schemas.openxmlformats.org/drawingml/2006/main">
              <a:ext uri="{FF2B5EF4-FFF2-40B4-BE49-F238E27FC236}">
                <a16:creationId xmlns:a16="http://schemas.microsoft.com/office/drawing/2014/main" id="{11A5B20D-0F09-4226-B4A0-7827601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7655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Claude, GPT e Gemini produzem versões diferentes da mesma página em paralelo.</a:t>
            </a:r>
          </a:p>
        </p:txBody>
      </p:sp>
      <p:sp>
        <p:nvSpPr>
          <p:cNvPr id="20" name="cap-04">
            <a:extLst xmlns:a="http://schemas.openxmlformats.org/drawingml/2006/main">
              <a:ext uri="{FF2B5EF4-FFF2-40B4-BE49-F238E27FC236}">
                <a16:creationId xmlns:a16="http://schemas.microsoft.com/office/drawing/2014/main" id="{854A77B3-D542-441D-8A98-D7F9A6D1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4010"/>
            <a:ext cx="5422900" cy="291465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cap-num-bg-04">
            <a:extLst xmlns:a="http://schemas.openxmlformats.org/drawingml/2006/main">
              <a:ext uri="{FF2B5EF4-FFF2-40B4-BE49-F238E27FC236}">
                <a16:creationId xmlns:a16="http://schemas.microsoft.com/office/drawing/2014/main" id="{765BAEFC-B397-4A86-A247-4E23434F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22" name="cap-num-04">
            <a:extLst xmlns:a="http://schemas.openxmlformats.org/drawingml/2006/main">
              <a:ext uri="{FF2B5EF4-FFF2-40B4-BE49-F238E27FC236}">
                <a16:creationId xmlns:a16="http://schemas.microsoft.com/office/drawing/2014/main" id="{69E6ABEB-23EA-464C-83AD-FA3EF3F8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cap-title-04">
            <a:extLst xmlns:a="http://schemas.openxmlformats.org/drawingml/2006/main">
              <a:ext uri="{FF2B5EF4-FFF2-40B4-BE49-F238E27FC236}">
                <a16:creationId xmlns:a16="http://schemas.microsoft.com/office/drawing/2014/main" id="{7D31CD4F-59F2-4CA9-838A-8CD03403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197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Filtro de qualidade</a:t>
            </a:r>
          </a:p>
        </p:txBody>
      </p:sp>
      <p:sp>
        <p:nvSpPr>
          <p:cNvPr id="24" name="cap-desc-04">
            <a:extLst xmlns:a="http://schemas.openxmlformats.org/drawingml/2006/main">
              <a:ext uri="{FF2B5EF4-FFF2-40B4-BE49-F238E27FC236}">
                <a16:creationId xmlns:a16="http://schemas.microsoft.com/office/drawing/2014/main" id="{EBAFE47C-49A2-4070-A480-18E17787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817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Barra fato inventado, conteúdo raso e quebra de regras de produto antes da publicação.</a:t>
            </a:r>
          </a:p>
        </p:txBody>
      </p:sp>
      <p:sp>
        <p:nvSpPr>
          <p:cNvPr id="25" name="cap-05">
            <a:extLst xmlns:a="http://schemas.openxmlformats.org/drawingml/2006/main">
              <a:ext uri="{FF2B5EF4-FFF2-40B4-BE49-F238E27FC236}">
                <a16:creationId xmlns:a16="http://schemas.microsoft.com/office/drawing/2014/main" id="{42356190-895E-443B-AE6D-7AF188F4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5414010"/>
            <a:ext cx="5422900" cy="291465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ap-num-bg-05">
            <a:extLst xmlns:a="http://schemas.openxmlformats.org/drawingml/2006/main">
              <a:ext uri="{FF2B5EF4-FFF2-40B4-BE49-F238E27FC236}">
                <a16:creationId xmlns:a16="http://schemas.microsoft.com/office/drawing/2014/main" id="{93B538E2-991C-4F55-BE69-07DA5805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561975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68C9"/>
          </a:solidFill>
        </p:spPr>
      </p:sp>
      <p:sp>
        <p:nvSpPr>
          <p:cNvPr id="27" name="cap-num-05">
            <a:extLst xmlns:a="http://schemas.openxmlformats.org/drawingml/2006/main">
              <a:ext uri="{FF2B5EF4-FFF2-40B4-BE49-F238E27FC236}">
                <a16:creationId xmlns:a16="http://schemas.microsoft.com/office/drawing/2014/main" id="{AFAA1E17-91A6-418E-8259-07E037B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57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cap-title-05">
            <a:extLst xmlns:a="http://schemas.openxmlformats.org/drawingml/2006/main">
              <a:ext uri="{FF2B5EF4-FFF2-40B4-BE49-F238E27FC236}">
                <a16:creationId xmlns:a16="http://schemas.microsoft.com/office/drawing/2014/main" id="{34237D7E-E3F5-45B7-94A9-F73FD88F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197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Teste A/B nativo</a:t>
            </a:r>
          </a:p>
        </p:txBody>
      </p:sp>
      <p:sp>
        <p:nvSpPr>
          <p:cNvPr id="29" name="cap-desc-05">
            <a:extLst xmlns:a="http://schemas.openxmlformats.org/drawingml/2006/main">
              <a:ext uri="{FF2B5EF4-FFF2-40B4-BE49-F238E27FC236}">
                <a16:creationId xmlns:a16="http://schemas.microsoft.com/office/drawing/2014/main" id="{54E8D9DE-C22E-41D3-8395-B4221CC0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81700"/>
            <a:ext cx="493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Distribui visitantes entre as 3 versões e declara vencedor por significância estatística.</a:t>
            </a:r>
          </a:p>
        </p:txBody>
      </p:sp>
      <p:sp>
        <p:nvSpPr>
          <p:cNvPr id="30" name="cap-06">
            <a:extLst xmlns:a="http://schemas.openxmlformats.org/drawingml/2006/main">
              <a:ext uri="{FF2B5EF4-FFF2-40B4-BE49-F238E27FC236}">
                <a16:creationId xmlns:a16="http://schemas.microsoft.com/office/drawing/2014/main" id="{E3B9841D-C2FF-4BED-96B8-53DA0967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950" y="5414010"/>
            <a:ext cx="5422900" cy="291465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cap-num-bg-06">
            <a:extLst xmlns:a="http://schemas.openxmlformats.org/drawingml/2006/main">
              <a:ext uri="{FF2B5EF4-FFF2-40B4-BE49-F238E27FC236}">
                <a16:creationId xmlns:a16="http://schemas.microsoft.com/office/drawing/2014/main" id="{44733B14-BAC9-4F41-9116-4203E58A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600" y="561975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8694E"/>
          </a:solidFill>
        </p:spPr>
      </p:sp>
      <p:sp>
        <p:nvSpPr>
          <p:cNvPr id="32" name="cap-num-06">
            <a:extLst xmlns:a="http://schemas.openxmlformats.org/drawingml/2006/main">
              <a:ext uri="{FF2B5EF4-FFF2-40B4-BE49-F238E27FC236}">
                <a16:creationId xmlns:a16="http://schemas.microsoft.com/office/drawing/2014/main" id="{58D4AFAE-640C-4113-92DF-DAC04E4F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657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cap-title-06">
            <a:extLst xmlns:a="http://schemas.openxmlformats.org/drawingml/2006/main">
              <a:ext uri="{FF2B5EF4-FFF2-40B4-BE49-F238E27FC236}">
                <a16:creationId xmlns:a16="http://schemas.microsoft.com/office/drawing/2014/main" id="{973D5A27-625D-4DF6-8C51-10F815B4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619750"/>
            <a:ext cx="434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Dashboard interno</a:t>
            </a:r>
          </a:p>
        </p:txBody>
      </p:sp>
      <p:sp>
        <p:nvSpPr>
          <p:cNvPr id="34" name="cap-desc-06">
            <a:extLst xmlns:a="http://schemas.openxmlformats.org/drawingml/2006/main">
              <a:ext uri="{FF2B5EF4-FFF2-40B4-BE49-F238E27FC236}">
                <a16:creationId xmlns:a16="http://schemas.microsoft.com/office/drawing/2014/main" id="{3D56C301-6783-4A50-AFC6-D0741602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981700"/>
            <a:ext cx="493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Performance, custo por lead, candidatos a refresh e próximas páginas a criar.</a:t>
            </a:r>
          </a:p>
        </p:txBody>
      </p:sp>
      <p:sp>
        <p:nvSpPr>
          <p:cNvPr id="35" name="system-cred">
            <a:extLst xmlns:a="http://schemas.openxmlformats.org/drawingml/2006/main">
              <a:ext uri="{FF2B5EF4-FFF2-40B4-BE49-F238E27FC236}">
                <a16:creationId xmlns:a16="http://schemas.microsoft.com/office/drawing/2014/main" id="{960F6C77-54F7-4EC6-A975-4B2F8916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595360"/>
            <a:ext cx="16649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64B4A"/>
          </a:solidFill>
        </p:spPr>
      </p:sp>
      <p:sp>
        <p:nvSpPr>
          <p:cNvPr id="36" name="cred-1-l">
            <a:extLst xmlns:a="http://schemas.openxmlformats.org/drawingml/2006/main">
              <a:ext uri="{FF2B5EF4-FFF2-40B4-BE49-F238E27FC236}">
                <a16:creationId xmlns:a16="http://schemas.microsoft.com/office/drawing/2014/main" id="{BB9B664A-04F7-462F-BB59-D8904C0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763000"/>
            <a:ext cx="459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4F8EE"/>
                </a:solidFill>
              </a:defRPr>
            </a:pPr>
            <a:r>
              <a:rPr sz="825" b="1">
                <a:solidFill>
                  <a:srgbClr val="D4F8EE"/>
                </a:solidFill>
              </a:rPr>
              <a:t>ROADMAP</a:t>
            </a:r>
          </a:p>
        </p:txBody>
      </p:sp>
      <p:sp>
        <p:nvSpPr>
          <p:cNvPr id="37" name="cred-1-v">
            <a:extLst xmlns:a="http://schemas.openxmlformats.org/drawingml/2006/main">
              <a:ext uri="{FF2B5EF4-FFF2-40B4-BE49-F238E27FC236}">
                <a16:creationId xmlns:a16="http://schemas.microsoft.com/office/drawing/2014/main" id="{597C3AEC-5BF7-4F5B-B51C-5A5F20C0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915400"/>
            <a:ext cx="459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67% entregue · 32 de 48 tarefas</a:t>
            </a:r>
          </a:p>
        </p:txBody>
      </p:sp>
      <p:sp>
        <p:nvSpPr>
          <p:cNvPr id="38" name="cred-2-l">
            <a:extLst xmlns:a="http://schemas.openxmlformats.org/drawingml/2006/main">
              <a:ext uri="{FF2B5EF4-FFF2-40B4-BE49-F238E27FC236}">
                <a16:creationId xmlns:a16="http://schemas.microsoft.com/office/drawing/2014/main" id="{832DBF96-0253-40B4-999E-7ED7AEC8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763000"/>
            <a:ext cx="459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4F8EE"/>
                </a:solidFill>
              </a:defRPr>
            </a:pPr>
            <a:r>
              <a:rPr sz="825" b="1">
                <a:solidFill>
                  <a:srgbClr val="D4F8EE"/>
                </a:solidFill>
              </a:rPr>
              <a:t>STATUS</a:t>
            </a:r>
          </a:p>
        </p:txBody>
      </p:sp>
      <p:sp>
        <p:nvSpPr>
          <p:cNvPr id="39" name="cred-2-v">
            <a:extLst xmlns:a="http://schemas.openxmlformats.org/drawingml/2006/main">
              <a:ext uri="{FF2B5EF4-FFF2-40B4-BE49-F238E27FC236}">
                <a16:creationId xmlns:a16="http://schemas.microsoft.com/office/drawing/2014/main" id="{E53865EC-585B-46BE-9AF3-7667FC39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915400"/>
            <a:ext cx="459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Pesquisa + geração + A/B + dashboard rodando</a:t>
            </a:r>
          </a:p>
        </p:txBody>
      </p:sp>
      <p:sp>
        <p:nvSpPr>
          <p:cNvPr id="40" name="cred-3-l">
            <a:extLst xmlns:a="http://schemas.openxmlformats.org/drawingml/2006/main">
              <a:ext uri="{FF2B5EF4-FFF2-40B4-BE49-F238E27FC236}">
                <a16:creationId xmlns:a16="http://schemas.microsoft.com/office/drawing/2014/main" id="{D0352639-FDC8-4544-91F4-9715883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0"/>
            <a:ext cx="64198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4F8EE"/>
                </a:solidFill>
              </a:defRPr>
            </a:pPr>
            <a:r>
              <a:rPr sz="825" b="1">
                <a:solidFill>
                  <a:srgbClr val="D4F8EE"/>
                </a:solidFill>
              </a:rPr>
              <a:t>STACK</a:t>
            </a:r>
          </a:p>
        </p:txBody>
      </p:sp>
      <p:sp>
        <p:nvSpPr>
          <p:cNvPr id="41" name="cred-3-v">
            <a:extLst xmlns:a="http://schemas.openxmlformats.org/drawingml/2006/main">
              <a:ext uri="{FF2B5EF4-FFF2-40B4-BE49-F238E27FC236}">
                <a16:creationId xmlns:a16="http://schemas.microsoft.com/office/drawing/2014/main" id="{66825292-7F61-49C9-B5FC-A7B7D5FA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915400"/>
            <a:ext cx="641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Next.js · Supabase · Vercel · Apify · Firecrawl · Claude/GPT/Gemini</a:t>
            </a:r>
          </a:p>
        </p:txBody>
      </p:sp>
      <p:sp>
        <p:nvSpPr>
          <p:cNvPr id="42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953AD6E3-72E5-4ACA-88B7-2CB5F6B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43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A411C62D-D8E1-4250-926A-7786A3D4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2329756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8EE08EC-0630-4EAE-905B-90FF1127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m-todo-input-do-sistema">
            <a:extLst xmlns:a="http://schemas.openxmlformats.org/drawingml/2006/main">
              <a:ext uri="{FF2B5EF4-FFF2-40B4-BE49-F238E27FC236}">
                <a16:creationId xmlns:a16="http://schemas.microsoft.com/office/drawing/2014/main" id="{4A747918-41F8-4F65-9860-2A772CDE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MÉTODO · INPUT DO SISTEMA</a:t>
            </a:r>
          </a:p>
        </p:txBody>
      </p:sp>
      <p:sp>
        <p:nvSpPr>
          <p:cNvPr id="3" name="slide-title-m-todo-input-do-sistema">
            <a:extLst xmlns:a="http://schemas.openxmlformats.org/drawingml/2006/main">
              <a:ext uri="{FF2B5EF4-FFF2-40B4-BE49-F238E27FC236}">
                <a16:creationId xmlns:a16="http://schemas.microsoft.com/office/drawing/2014/main" id="{DC722265-05F2-41BD-8A36-6967DDC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Decidimos a partir de 6 etapas estruturadas — não de feeling.</a:t>
            </a:r>
          </a:p>
        </p:txBody>
      </p:sp>
      <p:sp>
        <p:nvSpPr>
          <p:cNvPr id="4" name="slide-subtitle-m-todo-input-do-sistema">
            <a:extLst xmlns:a="http://schemas.openxmlformats.org/drawingml/2006/main">
              <a:ext uri="{FF2B5EF4-FFF2-40B4-BE49-F238E27FC236}">
                <a16:creationId xmlns:a16="http://schemas.microsoft.com/office/drawing/2014/main" id="{91332466-10BF-4C89-8584-BA202430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Cada decisão neste deck tem evidência rastreável nos materiais de pesquisa.</a:t>
            </a:r>
          </a:p>
        </p:txBody>
      </p:sp>
      <p:sp>
        <p:nvSpPr>
          <p:cNvPr id="5" name="method-01">
            <a:extLst xmlns:a="http://schemas.openxmlformats.org/drawingml/2006/main">
              <a:ext uri="{FF2B5EF4-FFF2-40B4-BE49-F238E27FC236}">
                <a16:creationId xmlns:a16="http://schemas.microsoft.com/office/drawing/2014/main" id="{5521C65B-1A0B-4977-AD97-3B4E0652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8860"/>
            <a:ext cx="5410200" cy="3166110"/>
          </a:xfrm>
          <a:prstGeom xmlns:a="http://schemas.openxmlformats.org/drawingml/2006/main" prst="roundRect">
            <a:avLst>
              <a:gd name="adj" fmla="val 42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method-num-01">
            <a:extLst xmlns:a="http://schemas.openxmlformats.org/drawingml/2006/main">
              <a:ext uri="{FF2B5EF4-FFF2-40B4-BE49-F238E27FC236}">
                <a16:creationId xmlns:a16="http://schemas.microsoft.com/office/drawing/2014/main" id="{6D69431D-1D25-4735-8292-6007E508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01</a:t>
            </a:r>
          </a:p>
        </p:txBody>
      </p:sp>
      <p:sp>
        <p:nvSpPr>
          <p:cNvPr id="7" name="method-headline-01">
            <a:extLst xmlns:a="http://schemas.openxmlformats.org/drawingml/2006/main">
              <a:ext uri="{FF2B5EF4-FFF2-40B4-BE49-F238E27FC236}">
                <a16:creationId xmlns:a16="http://schemas.microsoft.com/office/drawing/2014/main" id="{3B4A57A3-6932-42F8-A958-D7DBB2E3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487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A2E"/>
                </a:solidFill>
              </a:defRPr>
            </a:pPr>
            <a:r>
              <a:rPr sz="1950" b="1">
                <a:solidFill>
                  <a:srgbClr val="132A2E"/>
                </a:solidFill>
              </a:rPr>
              <a:t>15 nichos avaliados</a:t>
            </a:r>
          </a:p>
        </p:txBody>
      </p:sp>
      <p:sp>
        <p:nvSpPr>
          <p:cNvPr id="8" name="method-detail-01">
            <a:extLst xmlns:a="http://schemas.openxmlformats.org/drawingml/2006/main">
              <a:ext uri="{FF2B5EF4-FFF2-40B4-BE49-F238E27FC236}">
                <a16:creationId xmlns:a16="http://schemas.microsoft.com/office/drawing/2014/main" id="{A27C216F-48D0-4CF6-BAE4-8816BF5A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487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Matriz inicial cruzando fit com produto, intenção provável e prioridade A/B/C.</a:t>
            </a:r>
          </a:p>
        </p:txBody>
      </p:sp>
      <p:sp>
        <p:nvSpPr>
          <p:cNvPr id="9" name="method-02">
            <a:extLst xmlns:a="http://schemas.openxmlformats.org/drawingml/2006/main">
              <a:ext uri="{FF2B5EF4-FFF2-40B4-BE49-F238E27FC236}">
                <a16:creationId xmlns:a16="http://schemas.microsoft.com/office/drawing/2014/main" id="{0B2A0C68-086F-4D7C-835E-7B0EBD05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8860"/>
            <a:ext cx="5410200" cy="3166110"/>
          </a:xfrm>
          <a:prstGeom xmlns:a="http://schemas.openxmlformats.org/drawingml/2006/main" prst="roundRect">
            <a:avLst>
              <a:gd name="adj" fmla="val 42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method-num-02">
            <a:extLst xmlns:a="http://schemas.openxmlformats.org/drawingml/2006/main">
              <a:ext uri="{FF2B5EF4-FFF2-40B4-BE49-F238E27FC236}">
                <a16:creationId xmlns:a16="http://schemas.microsoft.com/office/drawing/2014/main" id="{70C6855D-D70B-4B8D-BA62-BE34285B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02</a:t>
            </a:r>
          </a:p>
        </p:txBody>
      </p:sp>
      <p:sp>
        <p:nvSpPr>
          <p:cNvPr id="11" name="method-headline-02">
            <a:extLst xmlns:a="http://schemas.openxmlformats.org/drawingml/2006/main">
              <a:ext uri="{FF2B5EF4-FFF2-40B4-BE49-F238E27FC236}">
                <a16:creationId xmlns:a16="http://schemas.microsoft.com/office/drawing/2014/main" id="{B9A7E067-A12B-47BB-8897-77BC0B61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87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A2E"/>
                </a:solidFill>
              </a:defRPr>
            </a:pPr>
            <a:r>
              <a:rPr sz="1950" b="1">
                <a:solidFill>
                  <a:srgbClr val="132A2E"/>
                </a:solidFill>
              </a:rPr>
              <a:t>158 termos mapeados</a:t>
            </a:r>
          </a:p>
        </p:txBody>
      </p:sp>
      <p:sp>
        <p:nvSpPr>
          <p:cNvPr id="12" name="method-detail-02">
            <a:extLst xmlns:a="http://schemas.openxmlformats.org/drawingml/2006/main">
              <a:ext uri="{FF2B5EF4-FFF2-40B4-BE49-F238E27FC236}">
                <a16:creationId xmlns:a16="http://schemas.microsoft.com/office/drawing/2014/main" id="{43B9FAB8-F074-4C30-9D40-A2209695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487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Por intenção: horizontal, nicho, dor e comparativo.</a:t>
            </a:r>
          </a:p>
        </p:txBody>
      </p:sp>
      <p:sp>
        <p:nvSpPr>
          <p:cNvPr id="13" name="method-03">
            <a:extLst xmlns:a="http://schemas.openxmlformats.org/drawingml/2006/main">
              <a:ext uri="{FF2B5EF4-FFF2-40B4-BE49-F238E27FC236}">
                <a16:creationId xmlns:a16="http://schemas.microsoft.com/office/drawing/2014/main" id="{E1FDFFDD-ADA3-4311-BF28-DB8BA8B2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308860"/>
            <a:ext cx="5410200" cy="3166110"/>
          </a:xfrm>
          <a:prstGeom xmlns:a="http://schemas.openxmlformats.org/drawingml/2006/main" prst="roundRect">
            <a:avLst>
              <a:gd name="adj" fmla="val 42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method-num-03">
            <a:extLst xmlns:a="http://schemas.openxmlformats.org/drawingml/2006/main">
              <a:ext uri="{FF2B5EF4-FFF2-40B4-BE49-F238E27FC236}">
                <a16:creationId xmlns:a16="http://schemas.microsoft.com/office/drawing/2014/main" id="{8B2F1E99-A8B0-4304-853F-F8CE6CB8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5336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03</a:t>
            </a:r>
          </a:p>
        </p:txBody>
      </p:sp>
      <p:sp>
        <p:nvSpPr>
          <p:cNvPr id="15" name="method-headline-03">
            <a:extLst xmlns:a="http://schemas.openxmlformats.org/drawingml/2006/main">
              <a:ext uri="{FF2B5EF4-FFF2-40B4-BE49-F238E27FC236}">
                <a16:creationId xmlns:a16="http://schemas.microsoft.com/office/drawing/2014/main" id="{2C1F3B64-9431-430B-97CC-712B6A13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857500"/>
            <a:ext cx="487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A2E"/>
                </a:solidFill>
              </a:defRPr>
            </a:pPr>
            <a:r>
              <a:rPr sz="1950" b="1">
                <a:solidFill>
                  <a:srgbClr val="132A2E"/>
                </a:solidFill>
              </a:rPr>
              <a:t>275 resultados SERP</a:t>
            </a:r>
          </a:p>
        </p:txBody>
      </p:sp>
      <p:sp>
        <p:nvSpPr>
          <p:cNvPr id="16" name="method-detail-03">
            <a:extLst xmlns:a="http://schemas.openxmlformats.org/drawingml/2006/main">
              <a:ext uri="{FF2B5EF4-FFF2-40B4-BE49-F238E27FC236}">
                <a16:creationId xmlns:a16="http://schemas.microsoft.com/office/drawing/2014/main" id="{CD29BD7F-761B-4061-839E-55EDEE1C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276600"/>
            <a:ext cx="487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Coleta normalizada via Firecrawl em 3 lotes (principal + correção contábil + nichos prioridade A).</a:t>
            </a:r>
          </a:p>
        </p:txBody>
      </p:sp>
      <p:sp>
        <p:nvSpPr>
          <p:cNvPr id="17" name="method-04">
            <a:extLst xmlns:a="http://schemas.openxmlformats.org/drawingml/2006/main">
              <a:ext uri="{FF2B5EF4-FFF2-40B4-BE49-F238E27FC236}">
                <a16:creationId xmlns:a16="http://schemas.microsoft.com/office/drawing/2014/main" id="{0B39FC57-337F-494B-9C1F-A823F55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84520"/>
            <a:ext cx="5410200" cy="3166110"/>
          </a:xfrm>
          <a:prstGeom xmlns:a="http://schemas.openxmlformats.org/drawingml/2006/main" prst="roundRect">
            <a:avLst>
              <a:gd name="adj" fmla="val 42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method-num-04">
            <a:extLst xmlns:a="http://schemas.openxmlformats.org/drawingml/2006/main">
              <a:ext uri="{FF2B5EF4-FFF2-40B4-BE49-F238E27FC236}">
                <a16:creationId xmlns:a16="http://schemas.microsoft.com/office/drawing/2014/main" id="{037F35C5-A111-4791-A084-B7224BF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055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A62F"/>
                </a:solidFill>
              </a:defRPr>
            </a:pPr>
            <a:r>
              <a:rPr sz="1350" b="1">
                <a:solidFill>
                  <a:srgbClr val="E7A62F"/>
                </a:solidFill>
              </a:rPr>
              <a:t>04</a:t>
            </a:r>
          </a:p>
        </p:txBody>
      </p:sp>
      <p:sp>
        <p:nvSpPr>
          <p:cNvPr id="19" name="method-headline-04">
            <a:extLst xmlns:a="http://schemas.openxmlformats.org/drawingml/2006/main">
              <a:ext uri="{FF2B5EF4-FFF2-40B4-BE49-F238E27FC236}">
                <a16:creationId xmlns:a16="http://schemas.microsoft.com/office/drawing/2014/main" id="{68A04BD7-E4AE-4B96-97AE-ACEC1283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29350"/>
            <a:ext cx="487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A2E"/>
                </a:solidFill>
              </a:defRPr>
            </a:pPr>
            <a:r>
              <a:rPr sz="1950" b="1">
                <a:solidFill>
                  <a:srgbClr val="132A2E"/>
                </a:solidFill>
              </a:rPr>
              <a:t>17 domínios consolidados</a:t>
            </a:r>
          </a:p>
        </p:txBody>
      </p:sp>
      <p:sp>
        <p:nvSpPr>
          <p:cNvPr id="20" name="method-detail-04">
            <a:extLst xmlns:a="http://schemas.openxmlformats.org/drawingml/2006/main">
              <a:ext uri="{FF2B5EF4-FFF2-40B4-BE49-F238E27FC236}">
                <a16:creationId xmlns:a16="http://schemas.microsoft.com/office/drawing/2014/main" id="{9F194202-C967-4046-9C19-50C39C0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48450"/>
            <a:ext cx="487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Concorrentes recorrentes em 2 mercados: horizontal e contabilidade.</a:t>
            </a:r>
          </a:p>
        </p:txBody>
      </p:sp>
      <p:sp>
        <p:nvSpPr>
          <p:cNvPr id="21" name="method-05">
            <a:extLst xmlns:a="http://schemas.openxmlformats.org/drawingml/2006/main">
              <a:ext uri="{FF2B5EF4-FFF2-40B4-BE49-F238E27FC236}">
                <a16:creationId xmlns:a16="http://schemas.microsoft.com/office/drawing/2014/main" id="{EC5D48EC-9570-4F77-B7F2-F60ABDC0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84520"/>
            <a:ext cx="5410200" cy="3166110"/>
          </a:xfrm>
          <a:prstGeom xmlns:a="http://schemas.openxmlformats.org/drawingml/2006/main" prst="roundRect">
            <a:avLst>
              <a:gd name="adj" fmla="val 42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method-num-05">
            <a:extLst xmlns:a="http://schemas.openxmlformats.org/drawingml/2006/main">
              <a:ext uri="{FF2B5EF4-FFF2-40B4-BE49-F238E27FC236}">
                <a16:creationId xmlns:a16="http://schemas.microsoft.com/office/drawing/2014/main" id="{1DF54119-925D-4697-BA5D-EC7621A6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055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A62F"/>
                </a:solidFill>
              </a:defRPr>
            </a:pPr>
            <a:r>
              <a:rPr sz="1350" b="1">
                <a:solidFill>
                  <a:srgbClr val="E7A62F"/>
                </a:solidFill>
              </a:rPr>
              <a:t>05</a:t>
            </a:r>
          </a:p>
        </p:txBody>
      </p:sp>
      <p:sp>
        <p:nvSpPr>
          <p:cNvPr id="23" name="method-headline-05">
            <a:extLst xmlns:a="http://schemas.openxmlformats.org/drawingml/2006/main">
              <a:ext uri="{FF2B5EF4-FFF2-40B4-BE49-F238E27FC236}">
                <a16:creationId xmlns:a16="http://schemas.microsoft.com/office/drawing/2014/main" id="{E0ECF148-E86B-4C69-9C19-09F7E4F0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229350"/>
            <a:ext cx="487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A2E"/>
                </a:solidFill>
              </a:defRPr>
            </a:pPr>
            <a:r>
              <a:rPr sz="1950" b="1">
                <a:solidFill>
                  <a:srgbClr val="132A2E"/>
                </a:solidFill>
              </a:rPr>
              <a:t>12 termos pontuados</a:t>
            </a:r>
          </a:p>
        </p:txBody>
      </p:sp>
      <p:sp>
        <p:nvSpPr>
          <p:cNvPr id="24" name="method-detail-05">
            <a:extLst xmlns:a="http://schemas.openxmlformats.org/drawingml/2006/main">
              <a:ext uri="{FF2B5EF4-FFF2-40B4-BE49-F238E27FC236}">
                <a16:creationId xmlns:a16="http://schemas.microsoft.com/office/drawing/2014/main" id="{FD471823-F437-47FE-A498-32B8CC7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648450"/>
            <a:ext cx="487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Score em 6 critérios, escala 1-30: demanda, intenção, fit produto, fit comercial, oportunidade, especificidade.</a:t>
            </a:r>
          </a:p>
        </p:txBody>
      </p:sp>
      <p:sp>
        <p:nvSpPr>
          <p:cNvPr id="25" name="method-06">
            <a:extLst xmlns:a="http://schemas.openxmlformats.org/drawingml/2006/main">
              <a:ext uri="{FF2B5EF4-FFF2-40B4-BE49-F238E27FC236}">
                <a16:creationId xmlns:a16="http://schemas.microsoft.com/office/drawing/2014/main" id="{59E814ED-7A6A-4DEE-9E59-61106AE6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684520"/>
            <a:ext cx="5410200" cy="3166110"/>
          </a:xfrm>
          <a:prstGeom xmlns:a="http://schemas.openxmlformats.org/drawingml/2006/main" prst="roundRect">
            <a:avLst>
              <a:gd name="adj" fmla="val 42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method-num-06">
            <a:extLst xmlns:a="http://schemas.openxmlformats.org/drawingml/2006/main">
              <a:ext uri="{FF2B5EF4-FFF2-40B4-BE49-F238E27FC236}">
                <a16:creationId xmlns:a16="http://schemas.microsoft.com/office/drawing/2014/main" id="{BECF02BA-3F1C-48F2-87D3-96806E86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9055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694E"/>
                </a:solidFill>
              </a:defRPr>
            </a:pPr>
            <a:r>
              <a:rPr sz="1350" b="1">
                <a:solidFill>
                  <a:srgbClr val="D8694E"/>
                </a:solidFill>
              </a:rPr>
              <a:t>06</a:t>
            </a:r>
          </a:p>
        </p:txBody>
      </p:sp>
      <p:sp>
        <p:nvSpPr>
          <p:cNvPr id="27" name="method-headline-06">
            <a:extLst xmlns:a="http://schemas.openxmlformats.org/drawingml/2006/main">
              <a:ext uri="{FF2B5EF4-FFF2-40B4-BE49-F238E27FC236}">
                <a16:creationId xmlns:a16="http://schemas.microsoft.com/office/drawing/2014/main" id="{0ADFA073-EAB3-4A62-B180-FB80EECC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29350"/>
            <a:ext cx="487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A2E"/>
                </a:solidFill>
              </a:defRPr>
            </a:pPr>
            <a:r>
              <a:rPr sz="1950" b="1">
                <a:solidFill>
                  <a:srgbClr val="132A2E"/>
                </a:solidFill>
              </a:rPr>
              <a:t>4 nichos prioridade A comparados</a:t>
            </a:r>
          </a:p>
        </p:txBody>
      </p:sp>
      <p:sp>
        <p:nvSpPr>
          <p:cNvPr id="28" name="method-detail-06">
            <a:extLst xmlns:a="http://schemas.openxmlformats.org/drawingml/2006/main">
              <a:ext uri="{FF2B5EF4-FFF2-40B4-BE49-F238E27FC236}">
                <a16:creationId xmlns:a16="http://schemas.microsoft.com/office/drawing/2014/main" id="{25767F58-0469-4276-A2AE-9A952B6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648450"/>
            <a:ext cx="487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Sinal × ruído de SERP em contabilidade, imobiliárias, clínicas e odontologia.</a:t>
            </a:r>
          </a:p>
        </p:txBody>
      </p:sp>
      <p:sp>
        <p:nvSpPr>
          <p:cNvPr id="29" name="method-note">
            <a:extLst xmlns:a="http://schemas.openxmlformats.org/drawingml/2006/main">
              <a:ext uri="{FF2B5EF4-FFF2-40B4-BE49-F238E27FC236}">
                <a16:creationId xmlns:a16="http://schemas.microsoft.com/office/drawing/2014/main" id="{74E85276-E670-423F-8FD0-D4D9526F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24950"/>
            <a:ext cx="982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5D6A6D"/>
                </a:solidFill>
              </a:defRPr>
            </a:pPr>
            <a:r>
              <a:rPr sz="1200" i="1">
                <a:solidFill>
                  <a:srgbClr val="5D6A6D"/>
                </a:solidFill>
              </a:rPr>
              <a:t>Volume de buscas e tendência incorporados nos slides 6 e 7 via Apify (autocomplete PT-BR). Keyword Planner conectando como fonte oficial da próxima rodada.</a:t>
            </a:r>
          </a:p>
        </p:txBody>
      </p:sp>
      <p:sp>
        <p:nvSpPr>
          <p:cNvPr id="30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1A57184A-F28B-4AA6-9E1C-6CA06948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31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E3B4D087-579E-49BF-8EE1-99D18E3B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8179863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DCE48BF-205C-42B4-BF5D-B4A2F95E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decis-o">
            <a:extLst xmlns:a="http://schemas.openxmlformats.org/drawingml/2006/main">
              <a:ext uri="{FF2B5EF4-FFF2-40B4-BE49-F238E27FC236}">
                <a16:creationId xmlns:a16="http://schemas.microsoft.com/office/drawing/2014/main" id="{C0FA433A-7E6C-479C-A29F-6BA6B953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DECISÃO</a:t>
            </a:r>
          </a:p>
        </p:txBody>
      </p:sp>
      <p:sp>
        <p:nvSpPr>
          <p:cNvPr id="3" name="slide-title-decis-o">
            <a:extLst xmlns:a="http://schemas.openxmlformats.org/drawingml/2006/main">
              <a:ext uri="{FF2B5EF4-FFF2-40B4-BE49-F238E27FC236}">
                <a16:creationId xmlns:a16="http://schemas.microsoft.com/office/drawing/2014/main" id="{688E3B35-6ED8-412D-88AA-535365CC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Três frentes com papéis distintos — não é portfólio horizontal.</a:t>
            </a:r>
          </a:p>
        </p:txBody>
      </p:sp>
      <p:sp>
        <p:nvSpPr>
          <p:cNvPr id="4" name="slide-subtitle-decis-o">
            <a:extLst xmlns:a="http://schemas.openxmlformats.org/drawingml/2006/main">
              <a:ext uri="{FF2B5EF4-FFF2-40B4-BE49-F238E27FC236}">
                <a16:creationId xmlns:a16="http://schemas.microsoft.com/office/drawing/2014/main" id="{E69C0980-8CD4-4DAA-AB9A-27DB8137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Cada cluster tem score, evidência de SERP e tipo de risco diferente.</a:t>
            </a:r>
          </a:p>
        </p:txBody>
      </p:sp>
      <p:sp>
        <p:nvSpPr>
          <p:cNvPr id="5" name="focus-1">
            <a:extLst xmlns:a="http://schemas.openxmlformats.org/drawingml/2006/main">
              <a:ext uri="{FF2B5EF4-FFF2-40B4-BE49-F238E27FC236}">
                <a16:creationId xmlns:a16="http://schemas.microsoft.com/office/drawing/2014/main" id="{D4536B59-33D0-49B0-819A-7BF74C6E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8860"/>
            <a:ext cx="5372100" cy="69913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hip-cluster-principal">
            <a:extLst xmlns:a="http://schemas.openxmlformats.org/drawingml/2006/main">
              <a:ext uri="{FF2B5EF4-FFF2-40B4-BE49-F238E27FC236}">
                <a16:creationId xmlns:a16="http://schemas.microsoft.com/office/drawing/2014/main" id="{D141DD00-03A2-4BE2-BA4E-D6F35373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13660"/>
            <a:ext cx="24574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7" name="chip-text-cluster-principal">
            <a:extLst xmlns:a="http://schemas.openxmlformats.org/drawingml/2006/main">
              <a:ext uri="{FF2B5EF4-FFF2-40B4-BE49-F238E27FC236}">
                <a16:creationId xmlns:a16="http://schemas.microsoft.com/office/drawing/2014/main" id="{0DAC627B-621C-4E19-8744-4D3B4455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2038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CLUSTER PRINCIPAL</a:t>
            </a:r>
          </a:p>
        </p:txBody>
      </p:sp>
      <p:sp>
        <p:nvSpPr>
          <p:cNvPr id="8" name="focus-1-num">
            <a:extLst xmlns:a="http://schemas.openxmlformats.org/drawingml/2006/main">
              <a:ext uri="{FF2B5EF4-FFF2-40B4-BE49-F238E27FC236}">
                <a16:creationId xmlns:a16="http://schemas.microsoft.com/office/drawing/2014/main" id="{D10B3B9A-19CF-46E6-9934-FA1C48BC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476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56F"/>
                </a:solidFill>
              </a:defRPr>
            </a:pPr>
            <a:r>
              <a:rPr sz="4800" b="1">
                <a:solidFill>
                  <a:srgbClr val="08756F"/>
                </a:solidFill>
              </a:rPr>
              <a:t>01</a:t>
            </a:r>
          </a:p>
        </p:txBody>
      </p:sp>
      <p:sp>
        <p:nvSpPr>
          <p:cNvPr id="9" name="focus-1-title">
            <a:extLst xmlns:a="http://schemas.openxmlformats.org/drawingml/2006/main">
              <a:ext uri="{FF2B5EF4-FFF2-40B4-BE49-F238E27FC236}">
                <a16:creationId xmlns:a16="http://schemas.microsoft.com/office/drawing/2014/main" id="{ADF83B95-2032-463B-8E7F-C891A9DA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32A2E"/>
                </a:solidFill>
              </a:defRPr>
            </a:pPr>
            <a:r>
              <a:rPr sz="2850" b="1">
                <a:solidFill>
                  <a:srgbClr val="132A2E"/>
                </a:solidFill>
              </a:rPr>
              <a:t>Contabilidade</a:t>
            </a:r>
          </a:p>
        </p:txBody>
      </p:sp>
      <p:sp>
        <p:nvSpPr>
          <p:cNvPr id="10" name="focus-1-e1">
            <a:extLst xmlns:a="http://schemas.openxmlformats.org/drawingml/2006/main">
              <a:ext uri="{FF2B5EF4-FFF2-40B4-BE49-F238E27FC236}">
                <a16:creationId xmlns:a16="http://schemas.microsoft.com/office/drawing/2014/main" id="{4DDBA0D6-0C60-4005-A80C-9CC7AFE0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A2E"/>
                </a:solidFill>
              </a:defRPr>
            </a:pPr>
            <a:r>
              <a:rPr sz="1425" b="1">
                <a:solidFill>
                  <a:srgbClr val="132A2E"/>
                </a:solidFill>
              </a:rPr>
              <a:t>Top score 28/30</a:t>
            </a:r>
          </a:p>
        </p:txBody>
      </p:sp>
      <p:sp>
        <p:nvSpPr>
          <p:cNvPr id="11" name="focus-1-e2">
            <a:extLst xmlns:a="http://schemas.openxmlformats.org/drawingml/2006/main">
              <a:ext uri="{FF2B5EF4-FFF2-40B4-BE49-F238E27FC236}">
                <a16:creationId xmlns:a16="http://schemas.microsoft.com/office/drawing/2014/main" id="{CEF347B9-ADC1-431B-A1D2-74C575AD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96% sinal SERP em 25 resultados</a:t>
            </a:r>
          </a:p>
        </p:txBody>
      </p:sp>
      <p:sp>
        <p:nvSpPr>
          <p:cNvPr id="12" name="focus-1-e3">
            <a:extLst xmlns:a="http://schemas.openxmlformats.org/drawingml/2006/main">
              <a:ext uri="{FF2B5EF4-FFF2-40B4-BE49-F238E27FC236}">
                <a16:creationId xmlns:a16="http://schemas.microsoft.com/office/drawing/2014/main" id="{802DE911-0F13-41B9-B21E-BDDF30E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721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5 concorrentes nichados ativos</a:t>
            </a:r>
          </a:p>
        </p:txBody>
      </p:sp>
      <p:sp>
        <p:nvSpPr>
          <p:cNvPr id="13" name="focus-1-e4">
            <a:extLst xmlns:a="http://schemas.openxmlformats.org/drawingml/2006/main">
              <a:ext uri="{FF2B5EF4-FFF2-40B4-BE49-F238E27FC236}">
                <a16:creationId xmlns:a16="http://schemas.microsoft.com/office/drawing/2014/main" id="{FEFD1471-0A7E-4B8E-B452-225D020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Maior base atual de clientes</a:t>
            </a:r>
          </a:p>
        </p:txBody>
      </p:sp>
      <p:sp>
        <p:nvSpPr>
          <p:cNvPr id="14" name="focus-2">
            <a:extLst xmlns:a="http://schemas.openxmlformats.org/drawingml/2006/main">
              <a:ext uri="{FF2B5EF4-FFF2-40B4-BE49-F238E27FC236}">
                <a16:creationId xmlns:a16="http://schemas.microsoft.com/office/drawing/2014/main" id="{CB991B83-686F-4B8E-8710-44D2C2CD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8860"/>
            <a:ext cx="5372100" cy="69913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chip-cluster-validado">
            <a:extLst xmlns:a="http://schemas.openxmlformats.org/drawingml/2006/main">
              <a:ext uri="{FF2B5EF4-FFF2-40B4-BE49-F238E27FC236}">
                <a16:creationId xmlns:a16="http://schemas.microsoft.com/office/drawing/2014/main" id="{53AF985E-AFE4-4253-B01A-B2F882CB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3660"/>
            <a:ext cx="23431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16" name="chip-text-cluster-validado">
            <a:extLst xmlns:a="http://schemas.openxmlformats.org/drawingml/2006/main">
              <a:ext uri="{FF2B5EF4-FFF2-40B4-BE49-F238E27FC236}">
                <a16:creationId xmlns:a16="http://schemas.microsoft.com/office/drawing/2014/main" id="{DB3DEE98-3F8B-48C2-BB38-576EDAAB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1924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A2E"/>
                </a:solidFill>
              </a:defRPr>
            </a:pPr>
            <a:r>
              <a:rPr sz="1350" b="1">
                <a:solidFill>
                  <a:srgbClr val="132A2E"/>
                </a:solidFill>
              </a:rPr>
              <a:t>CLUSTER VALIDADO</a:t>
            </a:r>
          </a:p>
        </p:txBody>
      </p:sp>
      <p:sp>
        <p:nvSpPr>
          <p:cNvPr id="17" name="focus-2-num">
            <a:extLst xmlns:a="http://schemas.openxmlformats.org/drawingml/2006/main">
              <a:ext uri="{FF2B5EF4-FFF2-40B4-BE49-F238E27FC236}">
                <a16:creationId xmlns:a16="http://schemas.microsoft.com/office/drawing/2014/main" id="{E377467D-FD5A-410B-A964-442509D0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476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7A62F"/>
                </a:solidFill>
              </a:defRPr>
            </a:pPr>
            <a:r>
              <a:rPr sz="4800" b="1">
                <a:solidFill>
                  <a:srgbClr val="E7A62F"/>
                </a:solidFill>
              </a:rPr>
              <a:t>02</a:t>
            </a:r>
          </a:p>
        </p:txBody>
      </p:sp>
      <p:sp>
        <p:nvSpPr>
          <p:cNvPr id="18" name="focus-2-title">
            <a:extLst xmlns:a="http://schemas.openxmlformats.org/drawingml/2006/main">
              <a:ext uri="{FF2B5EF4-FFF2-40B4-BE49-F238E27FC236}">
                <a16:creationId xmlns:a16="http://schemas.microsoft.com/office/drawing/2014/main" id="{28876581-392C-403B-AE8C-9B84D28D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32A2E"/>
                </a:solidFill>
              </a:defRPr>
            </a:pPr>
            <a:r>
              <a:rPr sz="2850" b="1">
                <a:solidFill>
                  <a:srgbClr val="132A2E"/>
                </a:solidFill>
              </a:rPr>
              <a:t>Imobiliárias</a:t>
            </a:r>
          </a:p>
        </p:txBody>
      </p:sp>
      <p:sp>
        <p:nvSpPr>
          <p:cNvPr id="19" name="focus-2-e1">
            <a:extLst xmlns:a="http://schemas.openxmlformats.org/drawingml/2006/main">
              <a:ext uri="{FF2B5EF4-FFF2-40B4-BE49-F238E27FC236}">
                <a16:creationId xmlns:a16="http://schemas.microsoft.com/office/drawing/2014/main" id="{758E1B8C-5295-473C-BBAB-FF089F1D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A2E"/>
                </a:solidFill>
              </a:defRPr>
            </a:pPr>
            <a:r>
              <a:rPr sz="1425" b="1">
                <a:solidFill>
                  <a:srgbClr val="132A2E"/>
                </a:solidFill>
              </a:rPr>
              <a:t>100% sinal SERP em 50 resultados</a:t>
            </a:r>
          </a:p>
        </p:txBody>
      </p:sp>
      <p:sp>
        <p:nvSpPr>
          <p:cNvPr id="20" name="focus-2-e2">
            <a:extLst xmlns:a="http://schemas.openxmlformats.org/drawingml/2006/main">
              <a:ext uri="{FF2B5EF4-FFF2-40B4-BE49-F238E27FC236}">
                <a16:creationId xmlns:a16="http://schemas.microsoft.com/office/drawing/2014/main" id="{E1A15779-5070-41D3-8EE4-8D67419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Aderência a atendimento, leads e automação</a:t>
            </a:r>
          </a:p>
        </p:txBody>
      </p:sp>
      <p:sp>
        <p:nvSpPr>
          <p:cNvPr id="21" name="focus-2-e3">
            <a:extLst xmlns:a="http://schemas.openxmlformats.org/drawingml/2006/main">
              <a:ext uri="{FF2B5EF4-FFF2-40B4-BE49-F238E27FC236}">
                <a16:creationId xmlns:a16="http://schemas.microsoft.com/office/drawing/2014/main" id="{E1EFFA02-9F87-400C-9EAA-4051CC0B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Concorrentes na SERP: ChatImob, Universal Software, Zimobi, Jetimob</a:t>
            </a:r>
          </a:p>
        </p:txBody>
      </p:sp>
      <p:sp>
        <p:nvSpPr>
          <p:cNvPr id="22" name="focus-3">
            <a:extLst xmlns:a="http://schemas.openxmlformats.org/drawingml/2006/main">
              <a:ext uri="{FF2B5EF4-FFF2-40B4-BE49-F238E27FC236}">
                <a16:creationId xmlns:a16="http://schemas.microsoft.com/office/drawing/2014/main" id="{C1267076-7C49-442A-BAC8-947ECD39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308860"/>
            <a:ext cx="5372100" cy="69913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chip-sustenta-o">
            <a:extLst xmlns:a="http://schemas.openxmlformats.org/drawingml/2006/main">
              <a:ext uri="{FF2B5EF4-FFF2-40B4-BE49-F238E27FC236}">
                <a16:creationId xmlns:a16="http://schemas.microsoft.com/office/drawing/2014/main" id="{FA56F2B4-BF30-43EC-96AA-DB1BC506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613660"/>
            <a:ext cx="17716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3168C9"/>
          </a:solidFill>
        </p:spPr>
      </p:sp>
      <p:sp>
        <p:nvSpPr>
          <p:cNvPr id="24" name="chip-text-sustenta-o">
            <a:extLst xmlns:a="http://schemas.openxmlformats.org/drawingml/2006/main">
              <a:ext uri="{FF2B5EF4-FFF2-40B4-BE49-F238E27FC236}">
                <a16:creationId xmlns:a16="http://schemas.microsoft.com/office/drawing/2014/main" id="{483B9ADA-9FB4-47EF-8606-570A097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7241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SUSTENTAÇÃO</a:t>
            </a:r>
          </a:p>
        </p:txBody>
      </p:sp>
      <p:sp>
        <p:nvSpPr>
          <p:cNvPr id="25" name="focus-3-num">
            <a:extLst xmlns:a="http://schemas.openxmlformats.org/drawingml/2006/main">
              <a:ext uri="{FF2B5EF4-FFF2-40B4-BE49-F238E27FC236}">
                <a16:creationId xmlns:a16="http://schemas.microsoft.com/office/drawing/2014/main" id="{A19F290E-481E-492B-BE62-C5104244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200400"/>
            <a:ext cx="476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168C9"/>
                </a:solidFill>
              </a:defRPr>
            </a:pPr>
            <a:r>
              <a:rPr sz="4800" b="1">
                <a:solidFill>
                  <a:srgbClr val="3168C9"/>
                </a:solidFill>
              </a:rPr>
              <a:t>03</a:t>
            </a:r>
          </a:p>
        </p:txBody>
      </p:sp>
      <p:sp>
        <p:nvSpPr>
          <p:cNvPr id="26" name="focus-3-title">
            <a:extLst xmlns:a="http://schemas.openxmlformats.org/drawingml/2006/main">
              <a:ext uri="{FF2B5EF4-FFF2-40B4-BE49-F238E27FC236}">
                <a16:creationId xmlns:a16="http://schemas.microsoft.com/office/drawing/2014/main" id="{5695A77C-7B8F-4CA9-874B-67702BDF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09575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32A2E"/>
                </a:solidFill>
              </a:defRPr>
            </a:pPr>
            <a:r>
              <a:rPr sz="2850" b="1">
                <a:solidFill>
                  <a:srgbClr val="132A2E"/>
                </a:solidFill>
              </a:rPr>
              <a:t>Horizontais</a:t>
            </a:r>
          </a:p>
        </p:txBody>
      </p:sp>
      <p:sp>
        <p:nvSpPr>
          <p:cNvPr id="27" name="focus-3-warn-dot">
            <a:extLst xmlns:a="http://schemas.openxmlformats.org/drawingml/2006/main">
              <a:ext uri="{FF2B5EF4-FFF2-40B4-BE49-F238E27FC236}">
                <a16:creationId xmlns:a16="http://schemas.microsoft.com/office/drawing/2014/main" id="{165CF9E2-F79E-44FE-BB8F-033DACF6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762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5B3F"/>
          </a:solidFill>
        </p:spPr>
      </p:sp>
      <p:sp>
        <p:nvSpPr>
          <p:cNvPr id="28" name="focus-3-e1">
            <a:extLst xmlns:a="http://schemas.openxmlformats.org/drawingml/2006/main">
              <a:ext uri="{FF2B5EF4-FFF2-40B4-BE49-F238E27FC236}">
                <a16:creationId xmlns:a16="http://schemas.microsoft.com/office/drawing/2014/main" id="{5478D13B-EAB0-4696-A162-4037BEE5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705350"/>
            <a:ext cx="459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5B3F"/>
                </a:solidFill>
              </a:defRPr>
            </a:pPr>
            <a:r>
              <a:rPr sz="1425" b="1">
                <a:solidFill>
                  <a:srgbClr val="B85B3F"/>
                </a:solidFill>
              </a:rPr>
              <a:t>Concorrência forte</a:t>
            </a:r>
          </a:p>
        </p:txBody>
      </p:sp>
      <p:sp>
        <p:nvSpPr>
          <p:cNvPr id="29" name="focus-3-e2">
            <a:extLst xmlns:a="http://schemas.openxmlformats.org/drawingml/2006/main">
              <a:ext uri="{FF2B5EF4-FFF2-40B4-BE49-F238E27FC236}">
                <a16:creationId xmlns:a16="http://schemas.microsoft.com/office/drawing/2014/main" id="{11FC7151-FF37-4053-8FE1-A67E65AF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0482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UnderChat, Letalk, ChatPro, Total Chat dominam a SERP</a:t>
            </a:r>
          </a:p>
        </p:txBody>
      </p:sp>
      <p:sp>
        <p:nvSpPr>
          <p:cNvPr id="30" name="focus-3-e3">
            <a:extLst xmlns:a="http://schemas.openxmlformats.org/drawingml/2006/main">
              <a:ext uri="{FF2B5EF4-FFF2-40B4-BE49-F238E27FC236}">
                <a16:creationId xmlns:a16="http://schemas.microsoft.com/office/drawing/2014/main" id="{43E20A03-5903-4536-B24D-43C1235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3721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Função: capturar dor antes do nicho + autoridade</a:t>
            </a:r>
          </a:p>
        </p:txBody>
      </p:sp>
      <p:sp>
        <p:nvSpPr>
          <p:cNvPr id="31" name="focus-3-e4">
            <a:extLst xmlns:a="http://schemas.openxmlformats.org/drawingml/2006/main">
              <a:ext uri="{FF2B5EF4-FFF2-40B4-BE49-F238E27FC236}">
                <a16:creationId xmlns:a16="http://schemas.microsoft.com/office/drawing/2014/main" id="{D281315B-F4C7-469F-9B78-8E5DFD05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6959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i="1">
                <a:solidFill>
                  <a:srgbClr val="132A2E"/>
                </a:solidFill>
              </a:defRPr>
            </a:pPr>
            <a:r>
              <a:rPr sz="1425" i="1">
                <a:solidFill>
                  <a:srgbClr val="132A2E"/>
                </a:solidFill>
              </a:rPr>
              <a:t>Não dependemos deles para vitória rápida</a:t>
            </a:r>
          </a:p>
        </p:txBody>
      </p:sp>
      <p:sp>
        <p:nvSpPr>
          <p:cNvPr id="32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B16BA589-376D-4CB8-92D9-8E27561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33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4175C9A3-2B25-439D-A2DF-FB1E014C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8864855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2AE7EE7-687A-47CC-A2D3-3CC513DC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evid-ncia-cluster-1">
            <a:extLst xmlns:a="http://schemas.openxmlformats.org/drawingml/2006/main">
              <a:ext uri="{FF2B5EF4-FFF2-40B4-BE49-F238E27FC236}">
                <a16:creationId xmlns:a16="http://schemas.microsoft.com/office/drawing/2014/main" id="{78908125-9AC4-41BD-80BA-26E7C54B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EVIDÊNCIA · CLUSTER #1</a:t>
            </a:r>
          </a:p>
        </p:txBody>
      </p:sp>
      <p:sp>
        <p:nvSpPr>
          <p:cNvPr id="3" name="slide-title-evid-ncia-cluster-1">
            <a:extLst xmlns:a="http://schemas.openxmlformats.org/drawingml/2006/main">
              <a:ext uri="{FF2B5EF4-FFF2-40B4-BE49-F238E27FC236}">
                <a16:creationId xmlns:a16="http://schemas.microsoft.com/office/drawing/2014/main" id="{19C00E4C-9F2A-4F86-BE61-AFC383E5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Contabilidade abre o MVP por três motivos validados.</a:t>
            </a:r>
          </a:p>
        </p:txBody>
      </p:sp>
      <p:sp>
        <p:nvSpPr>
          <p:cNvPr id="4" name="slide-subtitle-evid-ncia-cluster-1">
            <a:extLst xmlns:a="http://schemas.openxmlformats.org/drawingml/2006/main">
              <a:ext uri="{FF2B5EF4-FFF2-40B4-BE49-F238E27FC236}">
                <a16:creationId xmlns:a16="http://schemas.microsoft.com/office/drawing/2014/main" id="{8BDB9D90-6081-4068-8668-9B00865D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Score formal + volume de busca + concorrentes nichados ativos.</a:t>
            </a:r>
          </a:p>
        </p:txBody>
      </p:sp>
      <p:sp>
        <p:nvSpPr>
          <p:cNvPr id="5" name="acct-table-label">
            <a:extLst xmlns:a="http://schemas.openxmlformats.org/drawingml/2006/main">
              <a:ext uri="{FF2B5EF4-FFF2-40B4-BE49-F238E27FC236}">
                <a16:creationId xmlns:a16="http://schemas.microsoft.com/office/drawing/2014/main" id="{74629381-B430-4CB8-8F24-DE9BA568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9505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Score · Volume · CPC · Tendência</a:t>
            </a:r>
          </a:p>
        </p:txBody>
      </p:sp>
      <p:sp>
        <p:nvSpPr>
          <p:cNvPr id="6" name="acct-h-0">
            <a:extLst xmlns:a="http://schemas.openxmlformats.org/drawingml/2006/main">
              <a:ext uri="{FF2B5EF4-FFF2-40B4-BE49-F238E27FC236}">
                <a16:creationId xmlns:a16="http://schemas.microsoft.com/office/drawing/2014/main" id="{2DE4D4A9-F08C-4B67-B5A8-C6563DDD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457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4B4A"/>
                </a:solidFill>
              </a:defRPr>
            </a:pPr>
            <a:r>
              <a:rPr sz="900" b="1">
                <a:solidFill>
                  <a:srgbClr val="064B4A"/>
                </a:solidFill>
              </a:rPr>
              <a:t>TERMO</a:t>
            </a:r>
          </a:p>
        </p:txBody>
      </p:sp>
      <p:sp>
        <p:nvSpPr>
          <p:cNvPr id="7" name="acct-h-1">
            <a:extLst xmlns:a="http://schemas.openxmlformats.org/drawingml/2006/main">
              <a:ext uri="{FF2B5EF4-FFF2-40B4-BE49-F238E27FC236}">
                <a16:creationId xmlns:a16="http://schemas.microsoft.com/office/drawing/2014/main" id="{7F04C247-B854-47A8-99D8-3976E8F4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4B4A"/>
                </a:solidFill>
              </a:defRPr>
            </a:pPr>
            <a:r>
              <a:rPr sz="900" b="1">
                <a:solidFill>
                  <a:srgbClr val="064B4A"/>
                </a:solidFill>
              </a:rPr>
              <a:t>SCORE</a:t>
            </a:r>
          </a:p>
        </p:txBody>
      </p:sp>
      <p:sp>
        <p:nvSpPr>
          <p:cNvPr id="8" name="acct-h-2">
            <a:extLst xmlns:a="http://schemas.openxmlformats.org/drawingml/2006/main">
              <a:ext uri="{FF2B5EF4-FFF2-40B4-BE49-F238E27FC236}">
                <a16:creationId xmlns:a16="http://schemas.microsoft.com/office/drawing/2014/main" id="{34BA2067-FF6F-4C87-B467-05FFFB5D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152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4B4A"/>
                </a:solidFill>
              </a:defRPr>
            </a:pPr>
            <a:r>
              <a:rPr sz="900" b="1">
                <a:solidFill>
                  <a:srgbClr val="064B4A"/>
                </a:solidFill>
              </a:rPr>
              <a:t>VOLUME/MÊS</a:t>
            </a:r>
          </a:p>
        </p:txBody>
      </p:sp>
      <p:sp>
        <p:nvSpPr>
          <p:cNvPr id="9" name="acct-h-3">
            <a:extLst xmlns:a="http://schemas.openxmlformats.org/drawingml/2006/main">
              <a:ext uri="{FF2B5EF4-FFF2-40B4-BE49-F238E27FC236}">
                <a16:creationId xmlns:a16="http://schemas.microsoft.com/office/drawing/2014/main" id="{C76AEF5F-2EDB-4561-BDB2-88498FAD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4B4A"/>
                </a:solidFill>
              </a:defRPr>
            </a:pPr>
            <a:r>
              <a:rPr sz="900" b="1">
                <a:solidFill>
                  <a:srgbClr val="064B4A"/>
                </a:solidFill>
              </a:rPr>
              <a:t>CPC</a:t>
            </a:r>
          </a:p>
        </p:txBody>
      </p:sp>
      <p:sp>
        <p:nvSpPr>
          <p:cNvPr id="10" name="acct-h-4">
            <a:extLst xmlns:a="http://schemas.openxmlformats.org/drawingml/2006/main">
              <a:ext uri="{FF2B5EF4-FFF2-40B4-BE49-F238E27FC236}">
                <a16:creationId xmlns:a16="http://schemas.microsoft.com/office/drawing/2014/main" id="{D0EA1053-60FA-4621-A75F-7010A291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4B4A"/>
                </a:solidFill>
              </a:defRPr>
            </a:pPr>
            <a:r>
              <a:rPr sz="900" b="1">
                <a:solidFill>
                  <a:srgbClr val="064B4A"/>
                </a:solidFill>
              </a:rPr>
              <a:t>TENDÊNCIA</a:t>
            </a:r>
          </a:p>
        </p:txBody>
      </p:sp>
      <p:sp>
        <p:nvSpPr>
          <p:cNvPr id="11" name="acct-rule-h">
            <a:extLst xmlns:a="http://schemas.openxmlformats.org/drawingml/2006/main">
              <a:ext uri="{FF2B5EF4-FFF2-40B4-BE49-F238E27FC236}">
                <a16:creationId xmlns:a16="http://schemas.microsoft.com/office/drawing/2014/main" id="{8BB33F5C-D958-4318-BD98-1AB40171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950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12" name="acct-t-0">
            <a:extLst xmlns:a="http://schemas.openxmlformats.org/drawingml/2006/main">
              <a:ext uri="{FF2B5EF4-FFF2-40B4-BE49-F238E27FC236}">
                <a16:creationId xmlns:a16="http://schemas.microsoft.com/office/drawing/2014/main" id="{1F18CDAC-2E77-4EEC-BCC7-2F87C76B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A2E"/>
                </a:solidFill>
              </a:defRPr>
            </a:pPr>
            <a:r>
              <a:rPr sz="1200">
                <a:solidFill>
                  <a:srgbClr val="132A2E"/>
                </a:solidFill>
              </a:rPr>
              <a:t>sistema de whatsapp para escritório contábil</a:t>
            </a:r>
          </a:p>
        </p:txBody>
      </p:sp>
      <p:sp>
        <p:nvSpPr>
          <p:cNvPr id="13" name="acct-s-0">
            <a:extLst xmlns:a="http://schemas.openxmlformats.org/drawingml/2006/main">
              <a:ext uri="{FF2B5EF4-FFF2-40B4-BE49-F238E27FC236}">
                <a16:creationId xmlns:a16="http://schemas.microsoft.com/office/drawing/2014/main" id="{31757516-2E14-4C56-8D86-9993A69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670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28/30</a:t>
            </a:r>
          </a:p>
        </p:txBody>
      </p:sp>
      <p:sp>
        <p:nvSpPr>
          <p:cNvPr id="14" name="acct-v-0">
            <a:extLst xmlns:a="http://schemas.openxmlformats.org/drawingml/2006/main">
              <a:ext uri="{FF2B5EF4-FFF2-40B4-BE49-F238E27FC236}">
                <a16:creationId xmlns:a16="http://schemas.microsoft.com/office/drawing/2014/main" id="{DCF63DA6-0DBB-4A53-B82C-D05C2B9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A2E"/>
                </a:solidFill>
              </a:defRPr>
            </a:pPr>
            <a:r>
              <a:rPr sz="1275" b="1">
                <a:solidFill>
                  <a:srgbClr val="132A2E"/>
                </a:solidFill>
              </a:rPr>
              <a:t>~600/mês</a:t>
            </a:r>
          </a:p>
        </p:txBody>
      </p:sp>
      <p:sp>
        <p:nvSpPr>
          <p:cNvPr id="15" name="acct-c-0">
            <a:extLst xmlns:a="http://schemas.openxmlformats.org/drawingml/2006/main">
              <a:ext uri="{FF2B5EF4-FFF2-40B4-BE49-F238E27FC236}">
                <a16:creationId xmlns:a16="http://schemas.microsoft.com/office/drawing/2014/main" id="{DF074EE9-D7CC-4D5D-AB73-78A265BD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R$ 0,69</a:t>
            </a:r>
          </a:p>
        </p:txBody>
      </p:sp>
      <p:sp>
        <p:nvSpPr>
          <p:cNvPr id="16" name="acct-tr-0">
            <a:extLst xmlns:a="http://schemas.openxmlformats.org/drawingml/2006/main">
              <a:ext uri="{FF2B5EF4-FFF2-40B4-BE49-F238E27FC236}">
                <a16:creationId xmlns:a16="http://schemas.microsoft.com/office/drawing/2014/main" id="{AC506C00-FEC3-4F87-B965-D822FA6A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670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D"/>
                </a:solidFill>
              </a:defRPr>
            </a:pPr>
            <a:r>
              <a:rPr sz="1200" b="1">
                <a:solidFill>
                  <a:srgbClr val="5D6A6D"/>
                </a:solidFill>
              </a:rPr>
              <a:t>Stable</a:t>
            </a:r>
          </a:p>
        </p:txBody>
      </p:sp>
      <p:sp>
        <p:nvSpPr>
          <p:cNvPr id="17" name="acct-t-1">
            <a:extLst xmlns:a="http://schemas.openxmlformats.org/drawingml/2006/main">
              <a:ext uri="{FF2B5EF4-FFF2-40B4-BE49-F238E27FC236}">
                <a16:creationId xmlns:a16="http://schemas.microsoft.com/office/drawing/2014/main" id="{C27CE9BD-6026-4FAF-ABB0-6C510658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A2E"/>
                </a:solidFill>
              </a:defRPr>
            </a:pPr>
            <a:r>
              <a:rPr sz="1200">
                <a:solidFill>
                  <a:srgbClr val="132A2E"/>
                </a:solidFill>
              </a:rPr>
              <a:t>atendimento whatsapp escritório contábil</a:t>
            </a:r>
          </a:p>
        </p:txBody>
      </p:sp>
      <p:sp>
        <p:nvSpPr>
          <p:cNvPr id="18" name="acct-s-1">
            <a:extLst xmlns:a="http://schemas.openxmlformats.org/drawingml/2006/main">
              <a:ext uri="{FF2B5EF4-FFF2-40B4-BE49-F238E27FC236}">
                <a16:creationId xmlns:a16="http://schemas.microsoft.com/office/drawing/2014/main" id="{E7745FAE-CC11-483A-9A97-CA072BE9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27/30</a:t>
            </a:r>
          </a:p>
        </p:txBody>
      </p:sp>
      <p:sp>
        <p:nvSpPr>
          <p:cNvPr id="19" name="acct-v-1">
            <a:extLst xmlns:a="http://schemas.openxmlformats.org/drawingml/2006/main">
              <a:ext uri="{FF2B5EF4-FFF2-40B4-BE49-F238E27FC236}">
                <a16:creationId xmlns:a16="http://schemas.microsoft.com/office/drawing/2014/main" id="{F124A78E-50B3-4663-820E-32269890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A2E"/>
                </a:solidFill>
              </a:defRPr>
            </a:pPr>
            <a:r>
              <a:rPr sz="1275" b="1">
                <a:solidFill>
                  <a:srgbClr val="132A2E"/>
                </a:solidFill>
              </a:rPr>
              <a:t>~700/mês</a:t>
            </a:r>
          </a:p>
        </p:txBody>
      </p:sp>
      <p:sp>
        <p:nvSpPr>
          <p:cNvPr id="20" name="acct-c-1">
            <a:extLst xmlns:a="http://schemas.openxmlformats.org/drawingml/2006/main">
              <a:ext uri="{FF2B5EF4-FFF2-40B4-BE49-F238E27FC236}">
                <a16:creationId xmlns:a16="http://schemas.microsoft.com/office/drawing/2014/main" id="{5A988F8C-2575-41DF-BD98-26F6CC4B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R$ 2,01</a:t>
            </a:r>
          </a:p>
        </p:txBody>
      </p:sp>
      <p:sp>
        <p:nvSpPr>
          <p:cNvPr id="21" name="acct-tr-1">
            <a:extLst xmlns:a="http://schemas.openxmlformats.org/drawingml/2006/main">
              <a:ext uri="{FF2B5EF4-FFF2-40B4-BE49-F238E27FC236}">
                <a16:creationId xmlns:a16="http://schemas.microsoft.com/office/drawing/2014/main" id="{ADBC2596-879A-4B80-A1F3-32CE768E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D"/>
                </a:solidFill>
              </a:defRPr>
            </a:pPr>
            <a:r>
              <a:rPr sz="1200" b="1">
                <a:solidFill>
                  <a:srgbClr val="5D6A6D"/>
                </a:solidFill>
              </a:rPr>
              <a:t>Stable</a:t>
            </a:r>
          </a:p>
        </p:txBody>
      </p:sp>
      <p:sp>
        <p:nvSpPr>
          <p:cNvPr id="22" name="acct-t-2">
            <a:extLst xmlns:a="http://schemas.openxmlformats.org/drawingml/2006/main">
              <a:ext uri="{FF2B5EF4-FFF2-40B4-BE49-F238E27FC236}">
                <a16:creationId xmlns:a16="http://schemas.microsoft.com/office/drawing/2014/main" id="{2369F2EC-530A-4EB3-8D64-98820311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A2E"/>
                </a:solidFill>
              </a:defRPr>
            </a:pPr>
            <a:r>
              <a:rPr sz="1200">
                <a:solidFill>
                  <a:srgbClr val="132A2E"/>
                </a:solidFill>
              </a:rPr>
              <a:t>whatsapp para escritórios contábeis</a:t>
            </a:r>
          </a:p>
        </p:txBody>
      </p:sp>
      <p:sp>
        <p:nvSpPr>
          <p:cNvPr id="23" name="acct-s-2">
            <a:extLst xmlns:a="http://schemas.openxmlformats.org/drawingml/2006/main">
              <a:ext uri="{FF2B5EF4-FFF2-40B4-BE49-F238E27FC236}">
                <a16:creationId xmlns:a16="http://schemas.microsoft.com/office/drawing/2014/main" id="{C0C6742A-EF55-4D00-85A3-AC1F3A33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26/30</a:t>
            </a:r>
          </a:p>
        </p:txBody>
      </p:sp>
      <p:sp>
        <p:nvSpPr>
          <p:cNvPr id="24" name="acct-v-2">
            <a:extLst xmlns:a="http://schemas.openxmlformats.org/drawingml/2006/main">
              <a:ext uri="{FF2B5EF4-FFF2-40B4-BE49-F238E27FC236}">
                <a16:creationId xmlns:a16="http://schemas.microsoft.com/office/drawing/2014/main" id="{7842BF62-A1B6-4B9C-80CC-26259B29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A2E"/>
                </a:solidFill>
              </a:defRPr>
            </a:pPr>
            <a:r>
              <a:rPr sz="1275" b="1">
                <a:solidFill>
                  <a:srgbClr val="132A2E"/>
                </a:solidFill>
              </a:rPr>
              <a:t>~700/mês</a:t>
            </a:r>
          </a:p>
        </p:txBody>
      </p:sp>
      <p:sp>
        <p:nvSpPr>
          <p:cNvPr id="25" name="acct-c-2">
            <a:extLst xmlns:a="http://schemas.openxmlformats.org/drawingml/2006/main">
              <a:ext uri="{FF2B5EF4-FFF2-40B4-BE49-F238E27FC236}">
                <a16:creationId xmlns:a16="http://schemas.microsoft.com/office/drawing/2014/main" id="{CBAF0F1E-86BB-483D-B80C-939E19D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R$ 2,01</a:t>
            </a:r>
          </a:p>
        </p:txBody>
      </p:sp>
      <p:sp>
        <p:nvSpPr>
          <p:cNvPr id="26" name="acct-tr-2">
            <a:extLst xmlns:a="http://schemas.openxmlformats.org/drawingml/2006/main">
              <a:ext uri="{FF2B5EF4-FFF2-40B4-BE49-F238E27FC236}">
                <a16:creationId xmlns:a16="http://schemas.microsoft.com/office/drawing/2014/main" id="{729312F4-3AB8-4026-809B-1231F959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814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D"/>
                </a:solidFill>
              </a:defRPr>
            </a:pPr>
            <a:r>
              <a:rPr sz="1200" b="1">
                <a:solidFill>
                  <a:srgbClr val="5D6A6D"/>
                </a:solidFill>
              </a:rPr>
              <a:t>Stable</a:t>
            </a:r>
          </a:p>
        </p:txBody>
      </p:sp>
      <p:sp>
        <p:nvSpPr>
          <p:cNvPr id="27" name="acct-t-3">
            <a:extLst xmlns:a="http://schemas.openxmlformats.org/drawingml/2006/main">
              <a:ext uri="{FF2B5EF4-FFF2-40B4-BE49-F238E27FC236}">
                <a16:creationId xmlns:a16="http://schemas.microsoft.com/office/drawing/2014/main" id="{C0FD551B-8ED2-4DF4-8EFC-077493C1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A2E"/>
                </a:solidFill>
              </a:defRPr>
            </a:pPr>
            <a:r>
              <a:rPr sz="1200">
                <a:solidFill>
                  <a:srgbClr val="132A2E"/>
                </a:solidFill>
              </a:rPr>
              <a:t>sistema de whatsapp para contabilidade</a:t>
            </a:r>
          </a:p>
        </p:txBody>
      </p:sp>
      <p:sp>
        <p:nvSpPr>
          <p:cNvPr id="28" name="acct-s-3">
            <a:extLst xmlns:a="http://schemas.openxmlformats.org/drawingml/2006/main">
              <a:ext uri="{FF2B5EF4-FFF2-40B4-BE49-F238E27FC236}">
                <a16:creationId xmlns:a16="http://schemas.microsoft.com/office/drawing/2014/main" id="{56637927-18E8-422D-902B-DCB6480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386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26/30</a:t>
            </a:r>
          </a:p>
        </p:txBody>
      </p:sp>
      <p:sp>
        <p:nvSpPr>
          <p:cNvPr id="29" name="acct-v-3">
            <a:extLst xmlns:a="http://schemas.openxmlformats.org/drawingml/2006/main">
              <a:ext uri="{FF2B5EF4-FFF2-40B4-BE49-F238E27FC236}">
                <a16:creationId xmlns:a16="http://schemas.microsoft.com/office/drawing/2014/main" id="{7DD4D929-595C-43A6-A8D0-7C1B4985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A2E"/>
                </a:solidFill>
              </a:defRPr>
            </a:pPr>
            <a:r>
              <a:rPr sz="1275" b="1">
                <a:solidFill>
                  <a:srgbClr val="132A2E"/>
                </a:solidFill>
              </a:rPr>
              <a:t>100/mês</a:t>
            </a:r>
          </a:p>
        </p:txBody>
      </p:sp>
      <p:sp>
        <p:nvSpPr>
          <p:cNvPr id="30" name="acct-c-3">
            <a:extLst xmlns:a="http://schemas.openxmlformats.org/drawingml/2006/main">
              <a:ext uri="{FF2B5EF4-FFF2-40B4-BE49-F238E27FC236}">
                <a16:creationId xmlns:a16="http://schemas.microsoft.com/office/drawing/2014/main" id="{0A3690C9-6DCA-490E-8343-C062F714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386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R$ 0,81</a:t>
            </a:r>
          </a:p>
        </p:txBody>
      </p:sp>
      <p:sp>
        <p:nvSpPr>
          <p:cNvPr id="31" name="acct-tr-3">
            <a:extLst xmlns:a="http://schemas.openxmlformats.org/drawingml/2006/main">
              <a:ext uri="{FF2B5EF4-FFF2-40B4-BE49-F238E27FC236}">
                <a16:creationId xmlns:a16="http://schemas.microsoft.com/office/drawing/2014/main" id="{2800E4C1-EBA2-4111-A1CF-551FB812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386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D"/>
                </a:solidFill>
              </a:defRPr>
            </a:pPr>
            <a:r>
              <a:rPr sz="1200" b="1">
                <a:solidFill>
                  <a:srgbClr val="5D6A6D"/>
                </a:solidFill>
              </a:rPr>
              <a:t>Stable</a:t>
            </a:r>
          </a:p>
        </p:txBody>
      </p:sp>
      <p:sp>
        <p:nvSpPr>
          <p:cNvPr id="32" name="acct-rule-bot">
            <a:extLst xmlns:a="http://schemas.openxmlformats.org/drawingml/2006/main">
              <a:ext uri="{FF2B5EF4-FFF2-40B4-BE49-F238E27FC236}">
                <a16:creationId xmlns:a16="http://schemas.microsoft.com/office/drawing/2014/main" id="{4EC52C56-BCF3-4812-A160-E0C9846B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950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33" name="acct-note">
            <a:extLst xmlns:a="http://schemas.openxmlformats.org/drawingml/2006/main">
              <a:ext uri="{FF2B5EF4-FFF2-40B4-BE49-F238E27FC236}">
                <a16:creationId xmlns:a16="http://schemas.microsoft.com/office/drawing/2014/main" id="{81956072-B47D-453E-816E-F45D919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800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i="1">
                <a:solidFill>
                  <a:srgbClr val="5D6A6D"/>
                </a:solidFill>
              </a:defRPr>
            </a:pPr>
            <a:r>
              <a:rPr sz="975" i="1">
                <a:solidFill>
                  <a:srgbClr val="5D6A6D"/>
                </a:solidFill>
              </a:rPr>
              <a:t>~ = volume vem de variante PT-BR mais próxima (autocomplete Apify). Match exato em #4. Keyword Planner como próxima fonte oficial.</a:t>
            </a:r>
          </a:p>
        </p:txBody>
      </p:sp>
      <p:sp>
        <p:nvSpPr>
          <p:cNvPr id="34" name="acct-comp-label">
            <a:extLst xmlns:a="http://schemas.openxmlformats.org/drawingml/2006/main">
              <a:ext uri="{FF2B5EF4-FFF2-40B4-BE49-F238E27FC236}">
                <a16:creationId xmlns:a16="http://schemas.microsoft.com/office/drawing/2014/main" id="{D37E875C-ED1D-42A5-9FE5-4BDA9A4A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05050"/>
            <a:ext cx="6800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Concorrentes nichados na SERP</a:t>
            </a:r>
          </a:p>
        </p:txBody>
      </p:sp>
      <p:sp>
        <p:nvSpPr>
          <p:cNvPr id="35" name="acct-comp-panel">
            <a:extLst xmlns:a="http://schemas.openxmlformats.org/drawingml/2006/main">
              <a:ext uri="{FF2B5EF4-FFF2-40B4-BE49-F238E27FC236}">
                <a16:creationId xmlns:a16="http://schemas.microsoft.com/office/drawing/2014/main" id="{4B201B7C-C50D-41CE-A333-54756378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350" y="2621280"/>
            <a:ext cx="6794500" cy="19240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bullet-dot-zap-cont-bil-0">
            <a:extLst xmlns:a="http://schemas.openxmlformats.org/drawingml/2006/main">
              <a:ext uri="{FF2B5EF4-FFF2-40B4-BE49-F238E27FC236}">
                <a16:creationId xmlns:a16="http://schemas.microsoft.com/office/drawing/2014/main" id="{07D94B4C-8542-4C63-A57E-3CCDC0C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838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37" name="bullet-text-zap-cont-bil-0">
            <a:extLst xmlns:a="http://schemas.openxmlformats.org/drawingml/2006/main">
              <a:ext uri="{FF2B5EF4-FFF2-40B4-BE49-F238E27FC236}">
                <a16:creationId xmlns:a16="http://schemas.microsoft.com/office/drawing/2014/main" id="{34030AEE-243E-4070-8FD3-C8BCA18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38450"/>
            <a:ext cx="607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Zap Contábil</a:t>
            </a:r>
          </a:p>
        </p:txBody>
      </p:sp>
      <p:sp>
        <p:nvSpPr>
          <p:cNvPr id="38" name="bullet-dot-whats-cont-bil-1">
            <a:extLst xmlns:a="http://schemas.openxmlformats.org/drawingml/2006/main">
              <a:ext uri="{FF2B5EF4-FFF2-40B4-BE49-F238E27FC236}">
                <a16:creationId xmlns:a16="http://schemas.microsoft.com/office/drawing/2014/main" id="{495BCCFD-A892-48AF-A611-9CD82B62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162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39" name="bullet-text-whats-cont-bil-1">
            <a:extLst xmlns:a="http://schemas.openxmlformats.org/drawingml/2006/main">
              <a:ext uri="{FF2B5EF4-FFF2-40B4-BE49-F238E27FC236}">
                <a16:creationId xmlns:a16="http://schemas.microsoft.com/office/drawing/2014/main" id="{648D3249-5EC9-459C-B1A8-6CE5757D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62300"/>
            <a:ext cx="607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Whats Contábil</a:t>
            </a:r>
          </a:p>
        </p:txBody>
      </p:sp>
      <p:sp>
        <p:nvSpPr>
          <p:cNvPr id="40" name="bullet-dot-zappy-cont-bil-2">
            <a:extLst xmlns:a="http://schemas.openxmlformats.org/drawingml/2006/main">
              <a:ext uri="{FF2B5EF4-FFF2-40B4-BE49-F238E27FC236}">
                <a16:creationId xmlns:a16="http://schemas.microsoft.com/office/drawing/2014/main" id="{6268313A-7978-4C69-8188-AAFD2EA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467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41" name="bullet-text-zappy-cont-bil-2">
            <a:extLst xmlns:a="http://schemas.openxmlformats.org/drawingml/2006/main">
              <a:ext uri="{FF2B5EF4-FFF2-40B4-BE49-F238E27FC236}">
                <a16:creationId xmlns:a16="http://schemas.microsoft.com/office/drawing/2014/main" id="{B6F905A8-667C-4394-A063-2534BD0E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67100"/>
            <a:ext cx="607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Zappy Contábil</a:t>
            </a:r>
          </a:p>
        </p:txBody>
      </p:sp>
      <p:sp>
        <p:nvSpPr>
          <p:cNvPr id="42" name="bullet-dot-integgri-3">
            <a:extLst xmlns:a="http://schemas.openxmlformats.org/drawingml/2006/main">
              <a:ext uri="{FF2B5EF4-FFF2-40B4-BE49-F238E27FC236}">
                <a16:creationId xmlns:a16="http://schemas.microsoft.com/office/drawing/2014/main" id="{DA115A70-6F30-4E02-B8FB-447483EB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790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43" name="bullet-text-integgri-3">
            <a:extLst xmlns:a="http://schemas.openxmlformats.org/drawingml/2006/main">
              <a:ext uri="{FF2B5EF4-FFF2-40B4-BE49-F238E27FC236}">
                <a16:creationId xmlns:a16="http://schemas.microsoft.com/office/drawing/2014/main" id="{0B1488D6-9270-48FB-B6A5-F7DE3706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90950"/>
            <a:ext cx="607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Integgri</a:t>
            </a:r>
          </a:p>
        </p:txBody>
      </p:sp>
      <p:sp>
        <p:nvSpPr>
          <p:cNvPr id="44" name="bullet-dot-nibo-conte-do--4">
            <a:extLst xmlns:a="http://schemas.openxmlformats.org/drawingml/2006/main">
              <a:ext uri="{FF2B5EF4-FFF2-40B4-BE49-F238E27FC236}">
                <a16:creationId xmlns:a16="http://schemas.microsoft.com/office/drawing/2014/main" id="{0ACFBB41-E8C9-424B-A3E8-C33BA9F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14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45" name="bullet-text-nibo-conte-do--4">
            <a:extLst xmlns:a="http://schemas.openxmlformats.org/drawingml/2006/main">
              <a:ext uri="{FF2B5EF4-FFF2-40B4-BE49-F238E27FC236}">
                <a16:creationId xmlns:a16="http://schemas.microsoft.com/office/drawing/2014/main" id="{2CA67D00-8EC9-49C1-AE29-CBDEA64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14800"/>
            <a:ext cx="607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Nibo (conteúdo)</a:t>
            </a:r>
          </a:p>
        </p:txBody>
      </p:sp>
      <p:sp>
        <p:nvSpPr>
          <p:cNvPr id="46" name="acct-victor">
            <a:extLst xmlns:a="http://schemas.openxmlformats.org/drawingml/2006/main">
              <a:ext uri="{FF2B5EF4-FFF2-40B4-BE49-F238E27FC236}">
                <a16:creationId xmlns:a16="http://schemas.microsoft.com/office/drawing/2014/main" id="{609BBA00-46B6-4BA3-8147-3E8D5379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350" y="4697730"/>
            <a:ext cx="6794500" cy="64008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AE3B3"/>
          </a:solidFill>
        </p:spPr>
      </p:sp>
      <p:sp>
        <p:nvSpPr>
          <p:cNvPr id="47" name="acct-victor-label">
            <a:extLst xmlns:a="http://schemas.openxmlformats.org/drawingml/2006/main">
              <a:ext uri="{FF2B5EF4-FFF2-40B4-BE49-F238E27FC236}">
                <a16:creationId xmlns:a16="http://schemas.microsoft.com/office/drawing/2014/main" id="{1DD34BB8-24FC-497D-9266-9273A581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857750"/>
            <a:ext cx="6381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5B3F"/>
                </a:solidFill>
              </a:defRPr>
            </a:pPr>
            <a:r>
              <a:rPr sz="825" b="1">
                <a:solidFill>
                  <a:srgbClr val="B85B3F"/>
                </a:solidFill>
              </a:rPr>
              <a:t>CITADO POR VICTOR</a:t>
            </a:r>
          </a:p>
        </p:txBody>
      </p:sp>
      <p:sp>
        <p:nvSpPr>
          <p:cNvPr id="48" name="acct-victor-text">
            <a:extLst xmlns:a="http://schemas.openxmlformats.org/drawingml/2006/main">
              <a:ext uri="{FF2B5EF4-FFF2-40B4-BE49-F238E27FC236}">
                <a16:creationId xmlns:a16="http://schemas.microsoft.com/office/drawing/2014/main" id="{38202BA3-F87A-431C-9948-A246E20D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010150"/>
            <a:ext cx="6381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DigiSac · formulário comercial segmentado para contabilidade</a:t>
            </a:r>
          </a:p>
        </p:txBody>
      </p:sp>
      <p:sp>
        <p:nvSpPr>
          <p:cNvPr id="49" name="acct-claim">
            <a:extLst xmlns:a="http://schemas.openxmlformats.org/drawingml/2006/main">
              <a:ext uri="{FF2B5EF4-FFF2-40B4-BE49-F238E27FC236}">
                <a16:creationId xmlns:a16="http://schemas.microsoft.com/office/drawing/2014/main" id="{154A1F3A-7D73-4CB6-98F2-96CA4157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801100"/>
            <a:ext cx="15278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4B4A"/>
                </a:solidFill>
              </a:defRPr>
            </a:pPr>
            <a:r>
              <a:rPr sz="1650" b="1">
                <a:solidFill>
                  <a:srgbClr val="064B4A"/>
                </a:solidFill>
              </a:rPr>
              <a:t>SERP nichada confirma demanda. CPC R$ 0,69-2,01 em volumes 100-700/mês confirma intenção comercial. Base atual confirma fit. Três sinais alinhados — não é só preferência.</a:t>
            </a:r>
          </a:p>
        </p:txBody>
      </p:sp>
      <p:sp>
        <p:nvSpPr>
          <p:cNvPr id="50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D16ECD51-800E-4412-B9B5-D8F75F16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51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4C9E7390-336F-4304-A59A-00CC3E9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21136063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4430BF8-DCF2-4495-AD91-1F3C9DC6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evid-ncia-cluster-2">
            <a:extLst xmlns:a="http://schemas.openxmlformats.org/drawingml/2006/main">
              <a:ext uri="{FF2B5EF4-FFF2-40B4-BE49-F238E27FC236}">
                <a16:creationId xmlns:a16="http://schemas.microsoft.com/office/drawing/2014/main" id="{F488D870-ED19-474A-AF1B-075F9A3A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EVIDÊNCIA · CLUSTER #2</a:t>
            </a:r>
          </a:p>
        </p:txBody>
      </p:sp>
      <p:sp>
        <p:nvSpPr>
          <p:cNvPr id="3" name="slide-title-evid-ncia-cluster-2">
            <a:extLst xmlns:a="http://schemas.openxmlformats.org/drawingml/2006/main">
              <a:ext uri="{FF2B5EF4-FFF2-40B4-BE49-F238E27FC236}">
                <a16:creationId xmlns:a16="http://schemas.microsoft.com/office/drawing/2014/main" id="{F60999F5-3E9C-4BA3-8687-DC5A541F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Imobiliárias entra agora; clínicas e odontologia ficam para depois.</a:t>
            </a:r>
          </a:p>
        </p:txBody>
      </p:sp>
      <p:sp>
        <p:nvSpPr>
          <p:cNvPr id="4" name="slide-subtitle-evid-ncia-cluster-2">
            <a:extLst xmlns:a="http://schemas.openxmlformats.org/drawingml/2006/main">
              <a:ext uri="{FF2B5EF4-FFF2-40B4-BE49-F238E27FC236}">
                <a16:creationId xmlns:a16="http://schemas.microsoft.com/office/drawing/2014/main" id="{4B0AD066-4B52-403D-B0BF-7BC587E9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Coletamos SERP de 30 termos × 4 nichos prioridade A para evitar conclusão forçada.</a:t>
            </a:r>
          </a:p>
        </p:txBody>
      </p:sp>
      <p:sp>
        <p:nvSpPr>
          <p:cNvPr id="5" name="imo-cmp-label">
            <a:extLst xmlns:a="http://schemas.openxmlformats.org/drawingml/2006/main">
              <a:ext uri="{FF2B5EF4-FFF2-40B4-BE49-F238E27FC236}">
                <a16:creationId xmlns:a16="http://schemas.microsoft.com/office/drawing/2014/main" id="{63F5AB40-D0EE-444D-A565-F0BADC0E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922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Comparativo SERP · 4 nichos prioridade A</a:t>
            </a:r>
          </a:p>
        </p:txBody>
      </p:sp>
      <p:sp>
        <p:nvSpPr>
          <p:cNvPr id="6" name="cell-imo-cmp-h-0">
            <a:extLst xmlns:a="http://schemas.openxmlformats.org/drawingml/2006/main">
              <a:ext uri="{FF2B5EF4-FFF2-40B4-BE49-F238E27FC236}">
                <a16:creationId xmlns:a16="http://schemas.microsoft.com/office/drawing/2014/main" id="{A37418E7-D55F-4FC1-B0C3-FDDB3D70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Nicho</a:t>
            </a:r>
          </a:p>
        </p:txBody>
      </p:sp>
      <p:sp>
        <p:nvSpPr>
          <p:cNvPr id="7" name="cell-imo-cmp-h-1">
            <a:extLst xmlns:a="http://schemas.openxmlformats.org/drawingml/2006/main">
              <a:ext uri="{FF2B5EF4-FFF2-40B4-BE49-F238E27FC236}">
                <a16:creationId xmlns:a16="http://schemas.microsoft.com/office/drawing/2014/main" id="{45C52C41-52BA-40CD-9DFE-E16B4F90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2415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Termos</a:t>
            </a:r>
          </a:p>
        </p:txBody>
      </p:sp>
      <p:sp>
        <p:nvSpPr>
          <p:cNvPr id="8" name="cell-imo-cmp-h-2">
            <a:extLst xmlns:a="http://schemas.openxmlformats.org/drawingml/2006/main">
              <a:ext uri="{FF2B5EF4-FFF2-40B4-BE49-F238E27FC236}">
                <a16:creationId xmlns:a16="http://schemas.microsoft.com/office/drawing/2014/main" id="{25935225-E394-4D1D-961A-D180D91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Resultados</a:t>
            </a:r>
          </a:p>
        </p:txBody>
      </p:sp>
      <p:sp>
        <p:nvSpPr>
          <p:cNvPr id="9" name="cell-imo-cmp-h-3">
            <a:extLst xmlns:a="http://schemas.openxmlformats.org/drawingml/2006/main">
              <a:ext uri="{FF2B5EF4-FFF2-40B4-BE49-F238E27FC236}">
                <a16:creationId xmlns:a16="http://schemas.microsoft.com/office/drawing/2014/main" id="{8B4236B4-2683-456A-BDA9-D79410D0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2415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Sinal</a:t>
            </a:r>
          </a:p>
        </p:txBody>
      </p:sp>
      <p:sp>
        <p:nvSpPr>
          <p:cNvPr id="10" name="cell-imo-cmp-h-4">
            <a:extLst xmlns:a="http://schemas.openxmlformats.org/drawingml/2006/main">
              <a:ext uri="{FF2B5EF4-FFF2-40B4-BE49-F238E27FC236}">
                <a16:creationId xmlns:a16="http://schemas.microsoft.com/office/drawing/2014/main" id="{949F7A01-9FC8-4E80-A50B-BBFC17D1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Ruído</a:t>
            </a:r>
          </a:p>
        </p:txBody>
      </p:sp>
      <p:sp>
        <p:nvSpPr>
          <p:cNvPr id="11" name="cell-imo-cmp-h-5">
            <a:extLst xmlns:a="http://schemas.openxmlformats.org/drawingml/2006/main">
              <a:ext uri="{FF2B5EF4-FFF2-40B4-BE49-F238E27FC236}">
                <a16:creationId xmlns:a16="http://schemas.microsoft.com/office/drawing/2014/main" id="{F47F7F93-D399-42F2-9870-DB66EAD2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Decisão</a:t>
            </a:r>
          </a:p>
        </p:txBody>
      </p:sp>
      <p:sp>
        <p:nvSpPr>
          <p:cNvPr id="12" name="imo-cmp-rule-0">
            <a:extLst xmlns:a="http://schemas.openxmlformats.org/drawingml/2006/main">
              <a:ext uri="{FF2B5EF4-FFF2-40B4-BE49-F238E27FC236}">
                <a16:creationId xmlns:a16="http://schemas.microsoft.com/office/drawing/2014/main" id="{9B62CEB2-D38C-4F9B-875B-700EF8B9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922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13" name="cell-imo-cmp-r1-0">
            <a:extLst xmlns:a="http://schemas.openxmlformats.org/drawingml/2006/main">
              <a:ext uri="{FF2B5EF4-FFF2-40B4-BE49-F238E27FC236}">
                <a16:creationId xmlns:a16="http://schemas.microsoft.com/office/drawing/2014/main" id="{2A46BF2E-D908-44F6-BD39-154E3DE0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A2E"/>
                </a:solidFill>
              </a:defRPr>
            </a:pPr>
            <a:r>
              <a:rPr sz="1500" b="1">
                <a:solidFill>
                  <a:srgbClr val="132A2E"/>
                </a:solidFill>
              </a:rPr>
              <a:t>Contabilidade</a:t>
            </a:r>
          </a:p>
        </p:txBody>
      </p:sp>
      <p:sp>
        <p:nvSpPr>
          <p:cNvPr id="14" name="cell-imo-cmp-r1-1">
            <a:extLst xmlns:a="http://schemas.openxmlformats.org/drawingml/2006/main">
              <a:ext uri="{FF2B5EF4-FFF2-40B4-BE49-F238E27FC236}">
                <a16:creationId xmlns:a16="http://schemas.microsoft.com/office/drawing/2014/main" id="{60F2FDA8-EBC3-4E98-92FE-1868D78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</a:t>
            </a:r>
          </a:p>
        </p:txBody>
      </p:sp>
      <p:sp>
        <p:nvSpPr>
          <p:cNvPr id="15" name="cell-imo-cmp-r1-2">
            <a:extLst xmlns:a="http://schemas.openxmlformats.org/drawingml/2006/main">
              <a:ext uri="{FF2B5EF4-FFF2-40B4-BE49-F238E27FC236}">
                <a16:creationId xmlns:a16="http://schemas.microsoft.com/office/drawing/2014/main" id="{C37DD2F1-715B-4ECC-AFDE-D9B9E6D0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575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25</a:t>
            </a:r>
          </a:p>
        </p:txBody>
      </p:sp>
      <p:sp>
        <p:nvSpPr>
          <p:cNvPr id="16" name="cell-imo-cmp-r1-3">
            <a:extLst xmlns:a="http://schemas.openxmlformats.org/drawingml/2006/main">
              <a:ext uri="{FF2B5EF4-FFF2-40B4-BE49-F238E27FC236}">
                <a16:creationId xmlns:a16="http://schemas.microsoft.com/office/drawing/2014/main" id="{9710A742-86EA-45C7-85A1-FFF8A8F3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575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DA66F"/>
                </a:solidFill>
              </a:defRPr>
            </a:pPr>
            <a:r>
              <a:rPr sz="1500" b="0">
                <a:solidFill>
                  <a:srgbClr val="2DA66F"/>
                </a:solidFill>
              </a:rPr>
              <a:t>96%</a:t>
            </a:r>
          </a:p>
        </p:txBody>
      </p:sp>
      <p:sp>
        <p:nvSpPr>
          <p:cNvPr id="17" name="cell-imo-cmp-r1-4">
            <a:extLst xmlns:a="http://schemas.openxmlformats.org/drawingml/2006/main">
              <a:ext uri="{FF2B5EF4-FFF2-40B4-BE49-F238E27FC236}">
                <a16:creationId xmlns:a16="http://schemas.microsoft.com/office/drawing/2014/main" id="{1AE9AA49-923E-4E2D-BB51-71BEBB59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A6D"/>
                </a:solidFill>
              </a:defRPr>
            </a:pPr>
            <a:r>
              <a:rPr sz="1500" b="0">
                <a:solidFill>
                  <a:srgbClr val="5D6A6D"/>
                </a:solidFill>
              </a:rPr>
              <a:t>4%</a:t>
            </a:r>
          </a:p>
        </p:txBody>
      </p:sp>
      <p:sp>
        <p:nvSpPr>
          <p:cNvPr id="18" name="cell-imo-cmp-r1-5">
            <a:extLst xmlns:a="http://schemas.openxmlformats.org/drawingml/2006/main">
              <a:ext uri="{FF2B5EF4-FFF2-40B4-BE49-F238E27FC236}">
                <a16:creationId xmlns:a16="http://schemas.microsoft.com/office/drawing/2014/main" id="{A4051439-8AF9-4C32-884F-2EA2EAFF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289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64B4A"/>
                </a:solidFill>
              </a:defRPr>
            </a:pPr>
            <a:r>
              <a:rPr sz="1500" b="0">
                <a:solidFill>
                  <a:srgbClr val="064B4A"/>
                </a:solidFill>
              </a:rPr>
              <a:t>Cluster #1</a:t>
            </a:r>
          </a:p>
        </p:txBody>
      </p:sp>
      <p:sp>
        <p:nvSpPr>
          <p:cNvPr id="19" name="cell-imo-cmp-r2-0">
            <a:extLst xmlns:a="http://schemas.openxmlformats.org/drawingml/2006/main">
              <a:ext uri="{FF2B5EF4-FFF2-40B4-BE49-F238E27FC236}">
                <a16:creationId xmlns:a16="http://schemas.microsoft.com/office/drawing/2014/main" id="{D7BE9AFF-33C1-4E32-B649-C4B69EC3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A2E"/>
                </a:solidFill>
              </a:defRPr>
            </a:pPr>
            <a:r>
              <a:rPr sz="1500" b="1">
                <a:solidFill>
                  <a:srgbClr val="132A2E"/>
                </a:solidFill>
              </a:rPr>
              <a:t>Imobiliárias</a:t>
            </a:r>
          </a:p>
        </p:txBody>
      </p:sp>
      <p:sp>
        <p:nvSpPr>
          <p:cNvPr id="20" name="cell-imo-cmp-r2-1">
            <a:extLst xmlns:a="http://schemas.openxmlformats.org/drawingml/2006/main">
              <a:ext uri="{FF2B5EF4-FFF2-40B4-BE49-F238E27FC236}">
                <a16:creationId xmlns:a16="http://schemas.microsoft.com/office/drawing/2014/main" id="{9337A276-E6B9-4AB7-8591-0C078C98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909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10</a:t>
            </a:r>
          </a:p>
        </p:txBody>
      </p:sp>
      <p:sp>
        <p:nvSpPr>
          <p:cNvPr id="21" name="cell-imo-cmp-r2-2">
            <a:extLst xmlns:a="http://schemas.openxmlformats.org/drawingml/2006/main">
              <a:ext uri="{FF2B5EF4-FFF2-40B4-BE49-F238E27FC236}">
                <a16:creationId xmlns:a16="http://schemas.microsoft.com/office/drawing/2014/main" id="{3E1831C7-A419-4EFD-9FF1-C759292F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50</a:t>
            </a:r>
          </a:p>
        </p:txBody>
      </p:sp>
      <p:sp>
        <p:nvSpPr>
          <p:cNvPr id="22" name="cell-imo-cmp-r2-3">
            <a:extLst xmlns:a="http://schemas.openxmlformats.org/drawingml/2006/main">
              <a:ext uri="{FF2B5EF4-FFF2-40B4-BE49-F238E27FC236}">
                <a16:creationId xmlns:a16="http://schemas.microsoft.com/office/drawing/2014/main" id="{5C089BFD-8F59-4512-8967-E0913334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909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DA66F"/>
                </a:solidFill>
              </a:defRPr>
            </a:pPr>
            <a:r>
              <a:rPr sz="1500" b="0">
                <a:solidFill>
                  <a:srgbClr val="2DA66F"/>
                </a:solidFill>
              </a:rPr>
              <a:t>100%</a:t>
            </a:r>
          </a:p>
        </p:txBody>
      </p:sp>
      <p:sp>
        <p:nvSpPr>
          <p:cNvPr id="23" name="cell-imo-cmp-r2-4">
            <a:extLst xmlns:a="http://schemas.openxmlformats.org/drawingml/2006/main">
              <a:ext uri="{FF2B5EF4-FFF2-40B4-BE49-F238E27FC236}">
                <a16:creationId xmlns:a16="http://schemas.microsoft.com/office/drawing/2014/main" id="{F4C81DF8-EA53-4805-BC2C-D7C90203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A6D"/>
                </a:solidFill>
              </a:defRPr>
            </a:pPr>
            <a:r>
              <a:rPr sz="1500" b="0">
                <a:solidFill>
                  <a:srgbClr val="5D6A6D"/>
                </a:solidFill>
              </a:rPr>
              <a:t>40%</a:t>
            </a:r>
          </a:p>
        </p:txBody>
      </p:sp>
      <p:sp>
        <p:nvSpPr>
          <p:cNvPr id="24" name="cell-imo-cmp-r2-5">
            <a:extLst xmlns:a="http://schemas.openxmlformats.org/drawingml/2006/main">
              <a:ext uri="{FF2B5EF4-FFF2-40B4-BE49-F238E27FC236}">
                <a16:creationId xmlns:a16="http://schemas.microsoft.com/office/drawing/2014/main" id="{8CAF16F3-73B2-4BE1-9C1A-DFC48D70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289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7A62F"/>
                </a:solidFill>
              </a:defRPr>
            </a:pPr>
            <a:r>
              <a:rPr sz="1500" b="0">
                <a:solidFill>
                  <a:srgbClr val="E7A62F"/>
                </a:solidFill>
              </a:rPr>
              <a:t>Cluster #2 — entra agora</a:t>
            </a:r>
          </a:p>
        </p:txBody>
      </p:sp>
      <p:sp>
        <p:nvSpPr>
          <p:cNvPr id="25" name="cell-imo-cmp-r3-0">
            <a:extLst xmlns:a="http://schemas.openxmlformats.org/drawingml/2006/main">
              <a:ext uri="{FF2B5EF4-FFF2-40B4-BE49-F238E27FC236}">
                <a16:creationId xmlns:a16="http://schemas.microsoft.com/office/drawing/2014/main" id="{1BE31500-92F0-4B85-9B17-7FF3304F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A2E"/>
                </a:solidFill>
              </a:defRPr>
            </a:pPr>
            <a:r>
              <a:rPr sz="1500" b="1">
                <a:solidFill>
                  <a:srgbClr val="132A2E"/>
                </a:solidFill>
              </a:rPr>
              <a:t>Clínicas</a:t>
            </a:r>
          </a:p>
        </p:txBody>
      </p:sp>
      <p:sp>
        <p:nvSpPr>
          <p:cNvPr id="26" name="cell-imo-cmp-r3-1">
            <a:extLst xmlns:a="http://schemas.openxmlformats.org/drawingml/2006/main">
              <a:ext uri="{FF2B5EF4-FFF2-40B4-BE49-F238E27FC236}">
                <a16:creationId xmlns:a16="http://schemas.microsoft.com/office/drawing/2014/main" id="{8CDDDBB4-74AC-4110-A8D5-236EDBCB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10</a:t>
            </a:r>
          </a:p>
        </p:txBody>
      </p:sp>
      <p:sp>
        <p:nvSpPr>
          <p:cNvPr id="27" name="cell-imo-cmp-r3-2">
            <a:extLst xmlns:a="http://schemas.openxmlformats.org/drawingml/2006/main">
              <a:ext uri="{FF2B5EF4-FFF2-40B4-BE49-F238E27FC236}">
                <a16:creationId xmlns:a16="http://schemas.microsoft.com/office/drawing/2014/main" id="{FDF7AB05-E52E-41B5-8A0C-1313ABCF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243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50</a:t>
            </a:r>
          </a:p>
        </p:txBody>
      </p:sp>
      <p:sp>
        <p:nvSpPr>
          <p:cNvPr id="28" name="cell-imo-cmp-r3-3">
            <a:extLst xmlns:a="http://schemas.openxmlformats.org/drawingml/2006/main">
              <a:ext uri="{FF2B5EF4-FFF2-40B4-BE49-F238E27FC236}">
                <a16:creationId xmlns:a16="http://schemas.microsoft.com/office/drawing/2014/main" id="{30865CE9-4829-457C-A66E-0C6E4FFC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A6D"/>
                </a:solidFill>
              </a:defRPr>
            </a:pPr>
            <a:r>
              <a:rPr sz="1500" b="0">
                <a:solidFill>
                  <a:srgbClr val="5D6A6D"/>
                </a:solidFill>
              </a:rPr>
              <a:t>94%</a:t>
            </a:r>
          </a:p>
        </p:txBody>
      </p:sp>
      <p:sp>
        <p:nvSpPr>
          <p:cNvPr id="29" name="cell-imo-cmp-r3-4">
            <a:extLst xmlns:a="http://schemas.openxmlformats.org/drawingml/2006/main">
              <a:ext uri="{FF2B5EF4-FFF2-40B4-BE49-F238E27FC236}">
                <a16:creationId xmlns:a16="http://schemas.microsoft.com/office/drawing/2014/main" id="{D78003AB-9623-49A6-B5C3-00CCB69B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5B3F"/>
                </a:solidFill>
              </a:defRPr>
            </a:pPr>
            <a:r>
              <a:rPr sz="1500" b="0">
                <a:solidFill>
                  <a:srgbClr val="B85B3F"/>
                </a:solidFill>
              </a:rPr>
              <a:t>42%</a:t>
            </a:r>
          </a:p>
        </p:txBody>
      </p:sp>
      <p:sp>
        <p:nvSpPr>
          <p:cNvPr id="30" name="cell-imo-cmp-r3-5">
            <a:extLst xmlns:a="http://schemas.openxmlformats.org/drawingml/2006/main">
              <a:ext uri="{FF2B5EF4-FFF2-40B4-BE49-F238E27FC236}">
                <a16:creationId xmlns:a16="http://schemas.microsoft.com/office/drawing/2014/main" id="{44436930-8247-4B05-BEC8-B63D8468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24350"/>
            <a:ext cx="289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A6D"/>
                </a:solidFill>
              </a:defRPr>
            </a:pPr>
            <a:r>
              <a:rPr sz="1500" b="0">
                <a:solidFill>
                  <a:srgbClr val="5D6A6D"/>
                </a:solidFill>
              </a:rPr>
              <a:t>Adiar — agenda + software médico</a:t>
            </a:r>
          </a:p>
        </p:txBody>
      </p:sp>
      <p:sp>
        <p:nvSpPr>
          <p:cNvPr id="31" name="cell-imo-cmp-r4-0">
            <a:extLst xmlns:a="http://schemas.openxmlformats.org/drawingml/2006/main">
              <a:ext uri="{FF2B5EF4-FFF2-40B4-BE49-F238E27FC236}">
                <a16:creationId xmlns:a16="http://schemas.microsoft.com/office/drawing/2014/main" id="{358A679A-F679-4996-AF5B-F3FEF58F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A2E"/>
                </a:solidFill>
              </a:defRPr>
            </a:pPr>
            <a:r>
              <a:rPr sz="1500" b="1">
                <a:solidFill>
                  <a:srgbClr val="132A2E"/>
                </a:solidFill>
              </a:rPr>
              <a:t>Odontologia</a:t>
            </a:r>
          </a:p>
        </p:txBody>
      </p:sp>
      <p:sp>
        <p:nvSpPr>
          <p:cNvPr id="32" name="cell-imo-cmp-r4-1">
            <a:extLst xmlns:a="http://schemas.openxmlformats.org/drawingml/2006/main">
              <a:ext uri="{FF2B5EF4-FFF2-40B4-BE49-F238E27FC236}">
                <a16:creationId xmlns:a16="http://schemas.microsoft.com/office/drawing/2014/main" id="{DB42679E-08FF-4BE9-9FD7-2CE53499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10</a:t>
            </a:r>
          </a:p>
        </p:txBody>
      </p:sp>
      <p:sp>
        <p:nvSpPr>
          <p:cNvPr id="33" name="cell-imo-cmp-r4-2">
            <a:extLst xmlns:a="http://schemas.openxmlformats.org/drawingml/2006/main">
              <a:ext uri="{FF2B5EF4-FFF2-40B4-BE49-F238E27FC236}">
                <a16:creationId xmlns:a16="http://schemas.microsoft.com/office/drawing/2014/main" id="{078F6C64-9F83-47C5-8AA1-E0FCFDA9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50</a:t>
            </a:r>
          </a:p>
        </p:txBody>
      </p:sp>
      <p:sp>
        <p:nvSpPr>
          <p:cNvPr id="34" name="cell-imo-cmp-r4-3">
            <a:extLst xmlns:a="http://schemas.openxmlformats.org/drawingml/2006/main">
              <a:ext uri="{FF2B5EF4-FFF2-40B4-BE49-F238E27FC236}">
                <a16:creationId xmlns:a16="http://schemas.microsoft.com/office/drawing/2014/main" id="{C529C5C5-B291-45C7-AAAA-E213705E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577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A6D"/>
                </a:solidFill>
              </a:defRPr>
            </a:pPr>
            <a:r>
              <a:rPr sz="1500" b="0">
                <a:solidFill>
                  <a:srgbClr val="5D6A6D"/>
                </a:solidFill>
              </a:rPr>
              <a:t>86%</a:t>
            </a:r>
          </a:p>
        </p:txBody>
      </p:sp>
      <p:sp>
        <p:nvSpPr>
          <p:cNvPr id="35" name="cell-imo-cmp-r4-4">
            <a:extLst xmlns:a="http://schemas.openxmlformats.org/drawingml/2006/main">
              <a:ext uri="{FF2B5EF4-FFF2-40B4-BE49-F238E27FC236}">
                <a16:creationId xmlns:a16="http://schemas.microsoft.com/office/drawing/2014/main" id="{1591AD34-7125-467C-815A-799880D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5B3F"/>
                </a:solidFill>
              </a:defRPr>
            </a:pPr>
            <a:r>
              <a:rPr sz="1500" b="0">
                <a:solidFill>
                  <a:srgbClr val="B85B3F"/>
                </a:solidFill>
              </a:rPr>
              <a:t>50%</a:t>
            </a:r>
          </a:p>
        </p:txBody>
      </p:sp>
      <p:sp>
        <p:nvSpPr>
          <p:cNvPr id="36" name="cell-imo-cmp-r4-5">
            <a:extLst xmlns:a="http://schemas.openxmlformats.org/drawingml/2006/main">
              <a:ext uri="{FF2B5EF4-FFF2-40B4-BE49-F238E27FC236}">
                <a16:creationId xmlns:a16="http://schemas.microsoft.com/office/drawing/2014/main" id="{7737969D-763C-4C49-9420-5F715C05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289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A6D"/>
                </a:solidFill>
              </a:defRPr>
            </a:pPr>
            <a:r>
              <a:rPr sz="1500" b="0">
                <a:solidFill>
                  <a:srgbClr val="5D6A6D"/>
                </a:solidFill>
              </a:rPr>
              <a:t>Adiar — software odonto + IA</a:t>
            </a:r>
          </a:p>
        </p:txBody>
      </p:sp>
      <p:sp>
        <p:nvSpPr>
          <p:cNvPr id="37" name="imo-cmp-rule-1">
            <a:extLst xmlns:a="http://schemas.openxmlformats.org/drawingml/2006/main">
              <a:ext uri="{FF2B5EF4-FFF2-40B4-BE49-F238E27FC236}">
                <a16:creationId xmlns:a16="http://schemas.microsoft.com/office/drawing/2014/main" id="{4D94CEBF-E493-4335-A81F-6B17900B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922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38" name="imo-vol-label">
            <a:extLst xmlns:a="http://schemas.openxmlformats.org/drawingml/2006/main">
              <a:ext uri="{FF2B5EF4-FFF2-40B4-BE49-F238E27FC236}">
                <a16:creationId xmlns:a16="http://schemas.microsoft.com/office/drawing/2014/main" id="{A8D05FEB-A503-4D9E-9F50-7441D1BE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05050"/>
            <a:ext cx="7086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Volume · Termos imobiliários (Apify PT-BR)</a:t>
            </a:r>
          </a:p>
        </p:txBody>
      </p:sp>
      <p:sp>
        <p:nvSpPr>
          <p:cNvPr id="39" name="imo-vol-panel">
            <a:extLst xmlns:a="http://schemas.openxmlformats.org/drawingml/2006/main">
              <a:ext uri="{FF2B5EF4-FFF2-40B4-BE49-F238E27FC236}">
                <a16:creationId xmlns:a16="http://schemas.microsoft.com/office/drawing/2014/main" id="{AFF42AAA-56DA-4EDB-88B9-F0ABB3EB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937" y="2602230"/>
            <a:ext cx="7089913" cy="1579245"/>
          </a:xfrm>
          <a:prstGeom xmlns:a="http://schemas.openxmlformats.org/drawingml/2006/main" prst="roundRect">
            <a:avLst>
              <a:gd name="adj" fmla="val 84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imo-vol-5-t">
            <a:extLst xmlns:a="http://schemas.openxmlformats.org/drawingml/2006/main">
              <a:ext uri="{FF2B5EF4-FFF2-40B4-BE49-F238E27FC236}">
                <a16:creationId xmlns:a16="http://schemas.microsoft.com/office/drawing/2014/main" id="{C9C5600B-4726-480A-BAD4-9FA9A65A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81300"/>
            <a:ext cx="662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atendimento whatsapp para imobiliárias</a:t>
            </a:r>
          </a:p>
        </p:txBody>
      </p:sp>
      <p:sp>
        <p:nvSpPr>
          <p:cNvPr id="41" name="imo-vol-5-v">
            <a:extLst xmlns:a="http://schemas.openxmlformats.org/drawingml/2006/main">
              <a:ext uri="{FF2B5EF4-FFF2-40B4-BE49-F238E27FC236}">
                <a16:creationId xmlns:a16="http://schemas.microsoft.com/office/drawing/2014/main" id="{034C8DAC-884E-45D2-9E0D-60692830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0099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A62F"/>
                </a:solidFill>
              </a:defRPr>
            </a:pPr>
            <a:r>
              <a:rPr sz="1650" b="1">
                <a:solidFill>
                  <a:srgbClr val="E7A62F"/>
                </a:solidFill>
              </a:rPr>
              <a:t>~1,6k/mês</a:t>
            </a:r>
          </a:p>
        </p:txBody>
      </p:sp>
      <p:sp>
        <p:nvSpPr>
          <p:cNvPr id="42" name="imo-vol-5-c">
            <a:extLst xmlns:a="http://schemas.openxmlformats.org/drawingml/2006/main">
              <a:ext uri="{FF2B5EF4-FFF2-40B4-BE49-F238E27FC236}">
                <a16:creationId xmlns:a16="http://schemas.microsoft.com/office/drawing/2014/main" id="{981B46AE-E875-4348-B982-5E72A3CC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0099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CPC R$ 4,65</a:t>
            </a:r>
          </a:p>
        </p:txBody>
      </p:sp>
      <p:sp>
        <p:nvSpPr>
          <p:cNvPr id="43" name="imo-vol-5-tr">
            <a:extLst xmlns:a="http://schemas.openxmlformats.org/drawingml/2006/main">
              <a:ext uri="{FF2B5EF4-FFF2-40B4-BE49-F238E27FC236}">
                <a16:creationId xmlns:a16="http://schemas.microsoft.com/office/drawing/2014/main" id="{FCFC5D59-5824-496F-855F-343F837C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00990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6A6D"/>
                </a:solidFill>
              </a:defRPr>
            </a:pPr>
            <a:r>
              <a:rPr sz="1050" b="1">
                <a:solidFill>
                  <a:srgbClr val="5D6A6D"/>
                </a:solidFill>
              </a:rPr>
              <a:t>Stable</a:t>
            </a:r>
          </a:p>
        </p:txBody>
      </p:sp>
      <p:sp>
        <p:nvSpPr>
          <p:cNvPr id="44" name="imo-vol-sep">
            <a:extLst xmlns:a="http://schemas.openxmlformats.org/drawingml/2006/main">
              <a:ext uri="{FF2B5EF4-FFF2-40B4-BE49-F238E27FC236}">
                <a16:creationId xmlns:a16="http://schemas.microsoft.com/office/drawing/2014/main" id="{A0F28A47-5607-4C17-8E37-25741B66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39090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45" name="imo-vol-6-t">
            <a:extLst xmlns:a="http://schemas.openxmlformats.org/drawingml/2006/main">
              <a:ext uri="{FF2B5EF4-FFF2-40B4-BE49-F238E27FC236}">
                <a16:creationId xmlns:a16="http://schemas.microsoft.com/office/drawing/2014/main" id="{9B92DEE5-6DFD-46D1-8FE9-3F3EEEE6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524250"/>
            <a:ext cx="662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automação whatsapp para imobiliárias</a:t>
            </a:r>
          </a:p>
        </p:txBody>
      </p:sp>
      <p:sp>
        <p:nvSpPr>
          <p:cNvPr id="46" name="imo-vol-6-v">
            <a:extLst xmlns:a="http://schemas.openxmlformats.org/drawingml/2006/main">
              <a:ext uri="{FF2B5EF4-FFF2-40B4-BE49-F238E27FC236}">
                <a16:creationId xmlns:a16="http://schemas.microsoft.com/office/drawing/2014/main" id="{7BE63D80-A116-45DE-A630-3323A679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528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A62F"/>
                </a:solidFill>
              </a:defRPr>
            </a:pPr>
            <a:r>
              <a:rPr sz="1650" b="1">
                <a:solidFill>
                  <a:srgbClr val="E7A62F"/>
                </a:solidFill>
              </a:rPr>
              <a:t>~2,3k/mês</a:t>
            </a:r>
          </a:p>
        </p:txBody>
      </p:sp>
      <p:sp>
        <p:nvSpPr>
          <p:cNvPr id="47" name="imo-vol-6-c">
            <a:extLst xmlns:a="http://schemas.openxmlformats.org/drawingml/2006/main">
              <a:ext uri="{FF2B5EF4-FFF2-40B4-BE49-F238E27FC236}">
                <a16:creationId xmlns:a16="http://schemas.microsoft.com/office/drawing/2014/main" id="{573161E1-DD17-44B8-AEA8-59B88558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7528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CPC R$ 1,36</a:t>
            </a:r>
          </a:p>
        </p:txBody>
      </p:sp>
      <p:sp>
        <p:nvSpPr>
          <p:cNvPr id="48" name="imo-vol-6-tr">
            <a:extLst xmlns:a="http://schemas.openxmlformats.org/drawingml/2006/main">
              <a:ext uri="{FF2B5EF4-FFF2-40B4-BE49-F238E27FC236}">
                <a16:creationId xmlns:a16="http://schemas.microsoft.com/office/drawing/2014/main" id="{CFD6AAD8-61BD-45FE-AD46-15A9A92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75285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6A6D"/>
                </a:solidFill>
              </a:defRPr>
            </a:pPr>
            <a:r>
              <a:rPr sz="1050" b="1">
                <a:solidFill>
                  <a:srgbClr val="5D6A6D"/>
                </a:solidFill>
              </a:rPr>
              <a:t>Stable</a:t>
            </a:r>
          </a:p>
        </p:txBody>
      </p:sp>
      <p:sp>
        <p:nvSpPr>
          <p:cNvPr id="49" name="imo-ecos">
            <a:extLst xmlns:a="http://schemas.openxmlformats.org/drawingml/2006/main">
              <a:ext uri="{FF2B5EF4-FFF2-40B4-BE49-F238E27FC236}">
                <a16:creationId xmlns:a16="http://schemas.microsoft.com/office/drawing/2014/main" id="{C2DDCB51-0A9C-48B6-BC9A-6294047A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24350"/>
            <a:ext cx="7029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Ecossistema do cluster: 13 variantes &gt;1.500/mês (automação WhatsApp, plataforma atendimento, IA atendimento). Mercado real, não só termos exatos.</a:t>
            </a:r>
          </a:p>
        </p:txBody>
      </p:sp>
      <p:sp>
        <p:nvSpPr>
          <p:cNvPr id="50" name="imo-claim">
            <a:extLst xmlns:a="http://schemas.openxmlformats.org/drawingml/2006/main">
              <a:ext uri="{FF2B5EF4-FFF2-40B4-BE49-F238E27FC236}">
                <a16:creationId xmlns:a16="http://schemas.microsoft.com/office/drawing/2014/main" id="{0D2C8943-9CAD-453C-8414-BC3AEA80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801100"/>
            <a:ext cx="15106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4B4A"/>
                </a:solidFill>
              </a:defRPr>
            </a:pPr>
            <a:r>
              <a:rPr sz="1650" b="1">
                <a:solidFill>
                  <a:srgbClr val="064B4A"/>
                </a:solidFill>
              </a:rPr>
              <a:t>Imobiliárias entra agora porque a SERP conversa diretamente com atendimento, lead e automação. Clínicas e odontologia entram em rodada posterior, com termos refinados.</a:t>
            </a:r>
          </a:p>
        </p:txBody>
      </p:sp>
      <p:sp>
        <p:nvSpPr>
          <p:cNvPr id="51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9A0379A2-050A-4C09-BD39-76DAD60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52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EA17E2A0-3A23-4587-B31A-072B050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7300208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3A49FEC-5215-4FCA-9A62-A7164F6F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sistema-estrat-gia">
            <a:extLst xmlns:a="http://schemas.openxmlformats.org/drawingml/2006/main">
              <a:ext uri="{FF2B5EF4-FFF2-40B4-BE49-F238E27FC236}">
                <a16:creationId xmlns:a16="http://schemas.microsoft.com/office/drawing/2014/main" id="{BCE2DE52-8224-4D4F-B3C6-77A57E25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SISTEMA × ESTRATÉGIA</a:t>
            </a:r>
          </a:p>
        </p:txBody>
      </p:sp>
      <p:sp>
        <p:nvSpPr>
          <p:cNvPr id="3" name="slide-title-sistema-estrat-gia">
            <a:extLst xmlns:a="http://schemas.openxmlformats.org/drawingml/2006/main">
              <a:ext uri="{FF2B5EF4-FFF2-40B4-BE49-F238E27FC236}">
                <a16:creationId xmlns:a16="http://schemas.microsoft.com/office/drawing/2014/main" id="{33D01EB7-ECC7-4062-8C65-2026405F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A estratégia entra como input. O sistema faz o resto.</a:t>
            </a:r>
          </a:p>
        </p:txBody>
      </p:sp>
      <p:sp>
        <p:nvSpPr>
          <p:cNvPr id="4" name="slide-subtitle-sistema-estrat-gia">
            <a:extLst xmlns:a="http://schemas.openxmlformats.org/drawingml/2006/main">
              <a:ext uri="{FF2B5EF4-FFF2-40B4-BE49-F238E27FC236}">
                <a16:creationId xmlns:a16="http://schemas.microsoft.com/office/drawing/2014/main" id="{53601F3E-0EEC-4474-8035-35548E3F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Sete passos automatizados, do termo até a página vencedora servindo o tráfego.</a:t>
            </a:r>
          </a:p>
        </p:txBody>
      </p:sp>
      <p:sp>
        <p:nvSpPr>
          <p:cNvPr id="5" name="pipe-01">
            <a:extLst xmlns:a="http://schemas.openxmlformats.org/drawingml/2006/main">
              <a:ext uri="{FF2B5EF4-FFF2-40B4-BE49-F238E27FC236}">
                <a16:creationId xmlns:a16="http://schemas.microsoft.com/office/drawing/2014/main" id="{1F566B30-42C9-444D-9E30-25DDBF9E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8860"/>
            <a:ext cx="8210550" cy="1580198"/>
          </a:xfrm>
          <a:prstGeom xmlns:a="http://schemas.openxmlformats.org/drawingml/2006/main" prst="roundRect">
            <a:avLst>
              <a:gd name="adj" fmla="val 84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pipe-num-bg-01">
            <a:extLst xmlns:a="http://schemas.openxmlformats.org/drawingml/2006/main">
              <a:ext uri="{FF2B5EF4-FFF2-40B4-BE49-F238E27FC236}">
                <a16:creationId xmlns:a16="http://schemas.microsoft.com/office/drawing/2014/main" id="{1A19C2A2-623C-4DC2-916F-5D2DA38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80310"/>
            <a:ext cx="533400" cy="47244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7" name="pipe-num-01">
            <a:extLst xmlns:a="http://schemas.openxmlformats.org/drawingml/2006/main">
              <a:ext uri="{FF2B5EF4-FFF2-40B4-BE49-F238E27FC236}">
                <a16:creationId xmlns:a16="http://schemas.microsoft.com/office/drawing/2014/main" id="{E1A9F5C9-1CCA-4E37-BE9B-E10801A7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pipe-title-01">
            <a:extLst xmlns:a="http://schemas.openxmlformats.org/drawingml/2006/main">
              <a:ext uri="{FF2B5EF4-FFF2-40B4-BE49-F238E27FC236}">
                <a16:creationId xmlns:a16="http://schemas.microsoft.com/office/drawing/2014/main" id="{C9241154-A02D-450F-B05A-B173F649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7650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Pesquisa SERP automatizada com IA</a:t>
            </a:r>
          </a:p>
        </p:txBody>
      </p:sp>
      <p:sp>
        <p:nvSpPr>
          <p:cNvPr id="9" name="pipe-desc-01">
            <a:extLst xmlns:a="http://schemas.openxmlformats.org/drawingml/2006/main">
              <a:ext uri="{FF2B5EF4-FFF2-40B4-BE49-F238E27FC236}">
                <a16:creationId xmlns:a16="http://schemas.microsoft.com/office/drawing/2014/main" id="{573D9C68-FAF2-4721-B72E-04A6BC41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6225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Coleta autocomplete, top 10 do Google, scraping de concorrentes e tendências por termo.</a:t>
            </a:r>
          </a:p>
        </p:txBody>
      </p:sp>
      <p:sp>
        <p:nvSpPr>
          <p:cNvPr id="10" name="pipe-02">
            <a:extLst xmlns:a="http://schemas.openxmlformats.org/drawingml/2006/main">
              <a:ext uri="{FF2B5EF4-FFF2-40B4-BE49-F238E27FC236}">
                <a16:creationId xmlns:a16="http://schemas.microsoft.com/office/drawing/2014/main" id="{5FBAEEC0-E75B-44DC-9469-FE7EB93E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8860"/>
            <a:ext cx="8210550" cy="1580198"/>
          </a:xfrm>
          <a:prstGeom xmlns:a="http://schemas.openxmlformats.org/drawingml/2006/main" prst="roundRect">
            <a:avLst>
              <a:gd name="adj" fmla="val 84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ipe-num-bg-02">
            <a:extLst xmlns:a="http://schemas.openxmlformats.org/drawingml/2006/main">
              <a:ext uri="{FF2B5EF4-FFF2-40B4-BE49-F238E27FC236}">
                <a16:creationId xmlns:a16="http://schemas.microsoft.com/office/drawing/2014/main" id="{6597865C-B616-4087-ABF2-76AA8D25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80310"/>
            <a:ext cx="533400" cy="47244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2" name="pipe-num-02">
            <a:extLst xmlns:a="http://schemas.openxmlformats.org/drawingml/2006/main">
              <a:ext uri="{FF2B5EF4-FFF2-40B4-BE49-F238E27FC236}">
                <a16:creationId xmlns:a16="http://schemas.microsoft.com/office/drawing/2014/main" id="{4B12B78E-133B-4A3B-987D-392AE81D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336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pipe-title-02">
            <a:extLst xmlns:a="http://schemas.openxmlformats.org/drawingml/2006/main">
              <a:ext uri="{FF2B5EF4-FFF2-40B4-BE49-F238E27FC236}">
                <a16:creationId xmlns:a16="http://schemas.microsoft.com/office/drawing/2014/main" id="{18E45EFC-8CAE-40ED-93C5-C624D6F9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7650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Briefing técnico por termo</a:t>
            </a:r>
          </a:p>
        </p:txBody>
      </p:sp>
      <p:sp>
        <p:nvSpPr>
          <p:cNvPr id="14" name="pipe-desc-02">
            <a:extLst xmlns:a="http://schemas.openxmlformats.org/drawingml/2006/main">
              <a:ext uri="{FF2B5EF4-FFF2-40B4-BE49-F238E27FC236}">
                <a16:creationId xmlns:a16="http://schemas.microsoft.com/office/drawing/2014/main" id="{D1EBBB46-2804-4777-92D1-46EAAC2B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225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Estrutura SEO, headings, FAQ, ângulo de information gain e concorrentes a rebater.</a:t>
            </a:r>
          </a:p>
        </p:txBody>
      </p:sp>
      <p:sp>
        <p:nvSpPr>
          <p:cNvPr id="15" name="pipe-03">
            <a:extLst xmlns:a="http://schemas.openxmlformats.org/drawingml/2006/main">
              <a:ext uri="{FF2B5EF4-FFF2-40B4-BE49-F238E27FC236}">
                <a16:creationId xmlns:a16="http://schemas.microsoft.com/office/drawing/2014/main" id="{6B480DC7-50EC-40CC-822A-9C0AA7DF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3357"/>
            <a:ext cx="8210550" cy="1580198"/>
          </a:xfrm>
          <a:prstGeom xmlns:a="http://schemas.openxmlformats.org/drawingml/2006/main" prst="roundRect">
            <a:avLst>
              <a:gd name="adj" fmla="val 84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pipe-num-bg-03">
            <a:extLst xmlns:a="http://schemas.openxmlformats.org/drawingml/2006/main">
              <a:ext uri="{FF2B5EF4-FFF2-40B4-BE49-F238E27FC236}">
                <a16:creationId xmlns:a16="http://schemas.microsoft.com/office/drawing/2014/main" id="{D36E34CC-0A01-4568-AF1C-DA4C7CFB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4807"/>
            <a:ext cx="533400" cy="47244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17" name="pipe-num-03">
            <a:extLst xmlns:a="http://schemas.openxmlformats.org/drawingml/2006/main">
              <a:ext uri="{FF2B5EF4-FFF2-40B4-BE49-F238E27FC236}">
                <a16:creationId xmlns:a16="http://schemas.microsoft.com/office/drawing/2014/main" id="{82D19051-FCEF-43E5-AC6A-EBB4DE05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pipe-title-03">
            <a:extLst xmlns:a="http://schemas.openxmlformats.org/drawingml/2006/main">
              <a:ext uri="{FF2B5EF4-FFF2-40B4-BE49-F238E27FC236}">
                <a16:creationId xmlns:a16="http://schemas.microsoft.com/office/drawing/2014/main" id="{1CC1A5A1-E98C-4CFC-B648-D007897A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7195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Geração simultânea por 3 IAs</a:t>
            </a:r>
          </a:p>
        </p:txBody>
      </p:sp>
      <p:sp>
        <p:nvSpPr>
          <p:cNvPr id="19" name="pipe-desc-03">
            <a:extLst xmlns:a="http://schemas.openxmlformats.org/drawingml/2006/main">
              <a:ext uri="{FF2B5EF4-FFF2-40B4-BE49-F238E27FC236}">
                <a16:creationId xmlns:a16="http://schemas.microsoft.com/office/drawing/2014/main" id="{9D50FE6E-5E9C-4D2C-AB71-CBB11D2F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5770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Claude, GPT e Gemini geram a mesma página em paralelo, cada um com seu estilo.</a:t>
            </a:r>
          </a:p>
        </p:txBody>
      </p:sp>
      <p:sp>
        <p:nvSpPr>
          <p:cNvPr id="20" name="pipe-04">
            <a:extLst xmlns:a="http://schemas.openxmlformats.org/drawingml/2006/main">
              <a:ext uri="{FF2B5EF4-FFF2-40B4-BE49-F238E27FC236}">
                <a16:creationId xmlns:a16="http://schemas.microsoft.com/office/drawing/2014/main" id="{BC28F044-C5D3-44D7-AFFF-3C16821F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3357"/>
            <a:ext cx="8210550" cy="1580198"/>
          </a:xfrm>
          <a:prstGeom xmlns:a="http://schemas.openxmlformats.org/drawingml/2006/main" prst="roundRect">
            <a:avLst>
              <a:gd name="adj" fmla="val 84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pipe-num-bg-04">
            <a:extLst xmlns:a="http://schemas.openxmlformats.org/drawingml/2006/main">
              <a:ext uri="{FF2B5EF4-FFF2-40B4-BE49-F238E27FC236}">
                <a16:creationId xmlns:a16="http://schemas.microsoft.com/office/drawing/2014/main" id="{EA8A1A36-6C3E-4952-B52E-AD3FBC7F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74807"/>
            <a:ext cx="533400" cy="47244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22" name="pipe-num-04">
            <a:extLst xmlns:a="http://schemas.openxmlformats.org/drawingml/2006/main">
              <a:ext uri="{FF2B5EF4-FFF2-40B4-BE49-F238E27FC236}">
                <a16:creationId xmlns:a16="http://schemas.microsoft.com/office/drawing/2014/main" id="{5681393E-64FD-4434-8F6F-D717981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291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pipe-title-04">
            <a:extLst xmlns:a="http://schemas.openxmlformats.org/drawingml/2006/main">
              <a:ext uri="{FF2B5EF4-FFF2-40B4-BE49-F238E27FC236}">
                <a16:creationId xmlns:a16="http://schemas.microsoft.com/office/drawing/2014/main" id="{B6BBD517-B489-47F4-B852-DCFAB6CA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7195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Filtro de qualidade automático</a:t>
            </a:r>
          </a:p>
        </p:txBody>
      </p:sp>
      <p:sp>
        <p:nvSpPr>
          <p:cNvPr id="24" name="pipe-desc-04">
            <a:extLst xmlns:a="http://schemas.openxmlformats.org/drawingml/2006/main">
              <a:ext uri="{FF2B5EF4-FFF2-40B4-BE49-F238E27FC236}">
                <a16:creationId xmlns:a16="http://schemas.microsoft.com/office/drawing/2014/main" id="{9641D14E-2E10-4C79-806F-8E92160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5770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Barra fato inventado, conteúdo raso, lorem ipsum e quebra de regras de produto.</a:t>
            </a:r>
          </a:p>
        </p:txBody>
      </p:sp>
      <p:sp>
        <p:nvSpPr>
          <p:cNvPr id="25" name="pipe-05">
            <a:extLst xmlns:a="http://schemas.openxmlformats.org/drawingml/2006/main">
              <a:ext uri="{FF2B5EF4-FFF2-40B4-BE49-F238E27FC236}">
                <a16:creationId xmlns:a16="http://schemas.microsoft.com/office/drawing/2014/main" id="{BC125CD0-DB4D-40F1-B4CE-FD543195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7855"/>
            <a:ext cx="8210550" cy="1580198"/>
          </a:xfrm>
          <a:prstGeom xmlns:a="http://schemas.openxmlformats.org/drawingml/2006/main" prst="roundRect">
            <a:avLst>
              <a:gd name="adj" fmla="val 84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pipe-num-bg-05">
            <a:extLst xmlns:a="http://schemas.openxmlformats.org/drawingml/2006/main">
              <a:ext uri="{FF2B5EF4-FFF2-40B4-BE49-F238E27FC236}">
                <a16:creationId xmlns:a16="http://schemas.microsoft.com/office/drawing/2014/main" id="{E47F71AF-A6EE-4072-925A-8648FF6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9305"/>
            <a:ext cx="533400" cy="47244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168C9"/>
          </a:solidFill>
        </p:spPr>
      </p:sp>
      <p:sp>
        <p:nvSpPr>
          <p:cNvPr id="27" name="pipe-num-05">
            <a:extLst xmlns:a="http://schemas.openxmlformats.org/drawingml/2006/main">
              <a:ext uri="{FF2B5EF4-FFF2-40B4-BE49-F238E27FC236}">
                <a16:creationId xmlns:a16="http://schemas.microsoft.com/office/drawing/2014/main" id="{1BC998C8-2207-4DAE-B6DD-0EF7EC4E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pipe-title-05">
            <a:extLst xmlns:a="http://schemas.openxmlformats.org/drawingml/2006/main">
              <a:ext uri="{FF2B5EF4-FFF2-40B4-BE49-F238E27FC236}">
                <a16:creationId xmlns:a16="http://schemas.microsoft.com/office/drawing/2014/main" id="{E664B0F7-B117-4497-9FFE-ABFAC9A0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6740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Publicação em A/B nativo</a:t>
            </a:r>
          </a:p>
        </p:txBody>
      </p:sp>
      <p:sp>
        <p:nvSpPr>
          <p:cNvPr id="29" name="pipe-desc-05">
            <a:extLst xmlns:a="http://schemas.openxmlformats.org/drawingml/2006/main">
              <a:ext uri="{FF2B5EF4-FFF2-40B4-BE49-F238E27FC236}">
                <a16:creationId xmlns:a16="http://schemas.microsoft.com/office/drawing/2014/main" id="{E930BA4D-A65D-4C53-B498-CD39BF24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15315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As 3 versões aprovadas vão ao ar na mesma URL. Sistema distribui visitantes deterministicamente.</a:t>
            </a:r>
          </a:p>
        </p:txBody>
      </p:sp>
      <p:sp>
        <p:nvSpPr>
          <p:cNvPr id="30" name="pipe-06">
            <a:extLst xmlns:a="http://schemas.openxmlformats.org/drawingml/2006/main">
              <a:ext uri="{FF2B5EF4-FFF2-40B4-BE49-F238E27FC236}">
                <a16:creationId xmlns:a16="http://schemas.microsoft.com/office/drawing/2014/main" id="{FF77DC1A-F520-4FB7-BC57-48055C2C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7855"/>
            <a:ext cx="8210550" cy="1580198"/>
          </a:xfrm>
          <a:prstGeom xmlns:a="http://schemas.openxmlformats.org/drawingml/2006/main" prst="roundRect">
            <a:avLst>
              <a:gd name="adj" fmla="val 84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pipe-num-bg-06">
            <a:extLst xmlns:a="http://schemas.openxmlformats.org/drawingml/2006/main">
              <a:ext uri="{FF2B5EF4-FFF2-40B4-BE49-F238E27FC236}">
                <a16:creationId xmlns:a16="http://schemas.microsoft.com/office/drawing/2014/main" id="{C68BE2D3-757D-4F54-81CE-EE396BA6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69305"/>
            <a:ext cx="533400" cy="47244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168C9"/>
          </a:solidFill>
        </p:spPr>
      </p:sp>
      <p:sp>
        <p:nvSpPr>
          <p:cNvPr id="32" name="pipe-num-06">
            <a:extLst xmlns:a="http://schemas.openxmlformats.org/drawingml/2006/main">
              <a:ext uri="{FF2B5EF4-FFF2-40B4-BE49-F238E27FC236}">
                <a16:creationId xmlns:a16="http://schemas.microsoft.com/office/drawing/2014/main" id="{9AF7E6B3-4936-4681-AC11-CCE54A45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9245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pipe-title-06">
            <a:extLst xmlns:a="http://schemas.openxmlformats.org/drawingml/2006/main">
              <a:ext uri="{FF2B5EF4-FFF2-40B4-BE49-F238E27FC236}">
                <a16:creationId xmlns:a16="http://schemas.microsoft.com/office/drawing/2014/main" id="{4011AC80-D5C7-4BB9-8744-DC5DE051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Vencedor por significância estatística</a:t>
            </a:r>
          </a:p>
        </p:txBody>
      </p:sp>
      <p:sp>
        <p:nvSpPr>
          <p:cNvPr id="34" name="pipe-desc-06">
            <a:extLst xmlns:a="http://schemas.openxmlformats.org/drawingml/2006/main">
              <a:ext uri="{FF2B5EF4-FFF2-40B4-BE49-F238E27FC236}">
                <a16:creationId xmlns:a16="http://schemas.microsoft.com/office/drawing/2014/main" id="{AA0DE5FB-6C46-4306-B763-2EEB2CCC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5315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Quando o volume permite, o sistema declara a versão vencedora e serve só ela ao tráfego.</a:t>
            </a:r>
          </a:p>
        </p:txBody>
      </p:sp>
      <p:sp>
        <p:nvSpPr>
          <p:cNvPr id="35" name="pipe-07">
            <a:extLst xmlns:a="http://schemas.openxmlformats.org/drawingml/2006/main">
              <a:ext uri="{FF2B5EF4-FFF2-40B4-BE49-F238E27FC236}">
                <a16:creationId xmlns:a16="http://schemas.microsoft.com/office/drawing/2014/main" id="{7ADEFA79-8F61-4158-8BEB-C4C8F510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2353"/>
            <a:ext cx="8210550" cy="1907858"/>
          </a:xfrm>
          <a:prstGeom xmlns:a="http://schemas.openxmlformats.org/drawingml/2006/main" prst="roundRect">
            <a:avLst>
              <a:gd name="adj" fmla="val 699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pipe-num-bg-07">
            <a:extLst xmlns:a="http://schemas.openxmlformats.org/drawingml/2006/main">
              <a:ext uri="{FF2B5EF4-FFF2-40B4-BE49-F238E27FC236}">
                <a16:creationId xmlns:a16="http://schemas.microsoft.com/office/drawing/2014/main" id="{7FA279F3-BF34-4557-87BC-743C07E8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63803"/>
            <a:ext cx="533400" cy="47244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8694E"/>
          </a:solidFill>
        </p:spPr>
      </p:sp>
      <p:sp>
        <p:nvSpPr>
          <p:cNvPr id="37" name="pipe-num-07">
            <a:extLst xmlns:a="http://schemas.openxmlformats.org/drawingml/2006/main">
              <a:ext uri="{FF2B5EF4-FFF2-40B4-BE49-F238E27FC236}">
                <a16:creationId xmlns:a16="http://schemas.microsoft.com/office/drawing/2014/main" id="{0708CCDC-298E-444C-A3DB-FDCB44A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pipe-title-07">
            <a:extLst xmlns:a="http://schemas.openxmlformats.org/drawingml/2006/main">
              <a:ext uri="{FF2B5EF4-FFF2-40B4-BE49-F238E27FC236}">
                <a16:creationId xmlns:a16="http://schemas.microsoft.com/office/drawing/2014/main" id="{0BE54600-8469-4254-9288-4A6AFB9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562850"/>
            <a:ext cx="701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Reescrita automática se perder ranking</a:t>
            </a:r>
          </a:p>
        </p:txBody>
      </p:sp>
      <p:sp>
        <p:nvSpPr>
          <p:cNvPr id="39" name="pipe-desc-07">
            <a:extLst xmlns:a="http://schemas.openxmlformats.org/drawingml/2006/main">
              <a:ext uri="{FF2B5EF4-FFF2-40B4-BE49-F238E27FC236}">
                <a16:creationId xmlns:a16="http://schemas.microsoft.com/office/drawing/2014/main" id="{BEA7438D-117D-44E5-AB38-B769885F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84860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Sistema detecta queda no Search Console, refaz a pesquisa SERP e regera com 10% de tráfego no controle.</a:t>
            </a:r>
          </a:p>
        </p:txBody>
      </p:sp>
      <p:sp>
        <p:nvSpPr>
          <p:cNvPr id="40" name="pipe-summary">
            <a:extLst xmlns:a="http://schemas.openxmlformats.org/drawingml/2006/main">
              <a:ext uri="{FF2B5EF4-FFF2-40B4-BE49-F238E27FC236}">
                <a16:creationId xmlns:a16="http://schemas.microsoft.com/office/drawing/2014/main" id="{AECE0AB5-1E67-42A2-A30C-9D48422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392353"/>
            <a:ext cx="8210550" cy="1907858"/>
          </a:xfrm>
          <a:prstGeom xmlns:a="http://schemas.openxmlformats.org/drawingml/2006/main" prst="roundRect">
            <a:avLst>
              <a:gd name="adj" fmla="val 6990"/>
            </a:avLst>
          </a:prstGeom>
          <a:solidFill xmlns:a="http://schemas.openxmlformats.org/drawingml/2006/main">
            <a:srgbClr val="064B4A"/>
          </a:solidFill>
        </p:spPr>
      </p:sp>
      <p:sp>
        <p:nvSpPr>
          <p:cNvPr id="41" name="pipe-summary-label">
            <a:extLst xmlns:a="http://schemas.openxmlformats.org/drawingml/2006/main">
              <a:ext uri="{FF2B5EF4-FFF2-40B4-BE49-F238E27FC236}">
                <a16:creationId xmlns:a16="http://schemas.microsoft.com/office/drawing/2014/main" id="{77112551-AF3F-44F9-93EF-2ECF19A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00950"/>
            <a:ext cx="7677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4F8EE"/>
                </a:solidFill>
              </a:defRPr>
            </a:pPr>
            <a:r>
              <a:rPr sz="900" b="1">
                <a:solidFill>
                  <a:srgbClr val="D4F8EE"/>
                </a:solidFill>
              </a:rPr>
              <a:t>RESULTADO OPERACIONAL</a:t>
            </a:r>
          </a:p>
        </p:txBody>
      </p:sp>
      <p:sp>
        <p:nvSpPr>
          <p:cNvPr id="42" name="pipe-summary-1">
            <a:extLst xmlns:a="http://schemas.openxmlformats.org/drawingml/2006/main">
              <a:ext uri="{FF2B5EF4-FFF2-40B4-BE49-F238E27FC236}">
                <a16:creationId xmlns:a16="http://schemas.microsoft.com/office/drawing/2014/main" id="{093CD35B-766A-44DB-9499-9680AF21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8105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Junior atua como curador estratégico — não como operador.</a:t>
            </a:r>
          </a:p>
        </p:txBody>
      </p:sp>
      <p:sp>
        <p:nvSpPr>
          <p:cNvPr id="43" name="pipe-summary-2">
            <a:extLst xmlns:a="http://schemas.openxmlformats.org/drawingml/2006/main">
              <a:ext uri="{FF2B5EF4-FFF2-40B4-BE49-F238E27FC236}">
                <a16:creationId xmlns:a16="http://schemas.microsoft.com/office/drawing/2014/main" id="{AC463CB3-C640-4722-A03A-F31C6A26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13435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4F8EE"/>
                </a:solidFill>
              </a:defRPr>
            </a:pPr>
            <a:r>
              <a:rPr sz="1200">
                <a:solidFill>
                  <a:srgbClr val="D4F8EE"/>
                </a:solidFill>
              </a:rPr>
              <a:t>O sistema cuida da execução do dia a dia: pesquisa, geração, teste, medição e ajuste.</a:t>
            </a:r>
          </a:p>
        </p:txBody>
      </p:sp>
      <p:sp>
        <p:nvSpPr>
          <p:cNvPr id="44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0268A697-06DD-481E-BB3E-CB36C06C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45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E1CFB682-9AF8-4755-9BC4-D55988C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6339307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D4DE9F5-9BAF-48E6-A509-33A13624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primeiro-lote">
            <a:extLst xmlns:a="http://schemas.openxmlformats.org/drawingml/2006/main">
              <a:ext uri="{FF2B5EF4-FFF2-40B4-BE49-F238E27FC236}">
                <a16:creationId xmlns:a16="http://schemas.microsoft.com/office/drawing/2014/main" id="{B37E16B6-11F2-4C67-9B76-D100F00F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PRIMEIRO LOTE</a:t>
            </a:r>
          </a:p>
        </p:txBody>
      </p:sp>
      <p:sp>
        <p:nvSpPr>
          <p:cNvPr id="3" name="slide-title-primeiro-lote">
            <a:extLst xmlns:a="http://schemas.openxmlformats.org/drawingml/2006/main">
              <a:ext uri="{FF2B5EF4-FFF2-40B4-BE49-F238E27FC236}">
                <a16:creationId xmlns:a16="http://schemas.microsoft.com/office/drawing/2014/main" id="{B5D54437-DC6C-424B-8532-BF4000B4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10 LPs publicadas em bloco como entrega do MVP.</a:t>
            </a:r>
          </a:p>
        </p:txBody>
      </p:sp>
      <p:sp>
        <p:nvSpPr>
          <p:cNvPr id="4" name="slide-subtitle-primeiro-lote">
            <a:extLst xmlns:a="http://schemas.openxmlformats.org/drawingml/2006/main">
              <a:ext uri="{FF2B5EF4-FFF2-40B4-BE49-F238E27FC236}">
                <a16:creationId xmlns:a16="http://schemas.microsoft.com/office/drawing/2014/main" id="{0A254DE2-FB11-401C-B153-50D8C32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Sem cronograma semanal artificial — todas vão ao ar de uma vez. Cadência semanal começa depois, guiada pelo Search Console.</a:t>
            </a:r>
          </a:p>
        </p:txBody>
      </p:sp>
      <p:sp>
        <p:nvSpPr>
          <p:cNvPr id="5" name="chip-contabilidade-cluster-1">
            <a:extLst xmlns:a="http://schemas.openxmlformats.org/drawingml/2006/main">
              <a:ext uri="{FF2B5EF4-FFF2-40B4-BE49-F238E27FC236}">
                <a16:creationId xmlns:a16="http://schemas.microsoft.com/office/drawing/2014/main" id="{D0D22F79-9391-4FCE-A92B-A09D1C48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8860"/>
            <a:ext cx="34861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6" name="chip-text-contabilidade-cluster-1">
            <a:extLst xmlns:a="http://schemas.openxmlformats.org/drawingml/2006/main">
              <a:ext uri="{FF2B5EF4-FFF2-40B4-BE49-F238E27FC236}">
                <a16:creationId xmlns:a16="http://schemas.microsoft.com/office/drawing/2014/main" id="{29C2DCCE-D6D3-4B07-8BF9-FDC3CB07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3067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CONTABILIDADE · CLUSTER #1</a:t>
            </a:r>
          </a:p>
        </p:txBody>
      </p:sp>
      <p:sp>
        <p:nvSpPr>
          <p:cNvPr id="7" name="th-l-0">
            <a:extLst xmlns:a="http://schemas.openxmlformats.org/drawingml/2006/main">
              <a:ext uri="{FF2B5EF4-FFF2-40B4-BE49-F238E27FC236}">
                <a16:creationId xmlns:a16="http://schemas.microsoft.com/office/drawing/2014/main" id="{847C3AC8-6B2D-4E42-B072-FF2F75E5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81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th-l-1">
            <a:extLst xmlns:a="http://schemas.openxmlformats.org/drawingml/2006/main">
              <a:ext uri="{FF2B5EF4-FFF2-40B4-BE49-F238E27FC236}">
                <a16:creationId xmlns:a16="http://schemas.microsoft.com/office/drawing/2014/main" id="{740EC4AA-1087-4C31-B4B6-84E76E7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5048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64B4A"/>
                </a:solidFill>
              </a:defRPr>
            </a:pPr>
            <a:r>
              <a:rPr sz="825" b="1">
                <a:solidFill>
                  <a:srgbClr val="064B4A"/>
                </a:solidFill>
              </a:rPr>
              <a:t>PÁGINA</a:t>
            </a:r>
          </a:p>
        </p:txBody>
      </p:sp>
      <p:sp>
        <p:nvSpPr>
          <p:cNvPr id="9" name="th-l-2">
            <a:extLst xmlns:a="http://schemas.openxmlformats.org/drawingml/2006/main">
              <a:ext uri="{FF2B5EF4-FFF2-40B4-BE49-F238E27FC236}">
                <a16:creationId xmlns:a16="http://schemas.microsoft.com/office/drawing/2014/main" id="{3B20F4CD-C64E-490F-B332-C3CD345C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047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64B4A"/>
                </a:solidFill>
              </a:defRPr>
            </a:pPr>
            <a:r>
              <a:rPr sz="825" b="1">
                <a:solidFill>
                  <a:srgbClr val="064B4A"/>
                </a:solidFill>
              </a:rPr>
              <a:t>SCORE</a:t>
            </a:r>
          </a:p>
        </p:txBody>
      </p:sp>
      <p:sp>
        <p:nvSpPr>
          <p:cNvPr id="10" name="th-l-3">
            <a:extLst xmlns:a="http://schemas.openxmlformats.org/drawingml/2006/main">
              <a:ext uri="{FF2B5EF4-FFF2-40B4-BE49-F238E27FC236}">
                <a16:creationId xmlns:a16="http://schemas.microsoft.com/office/drawing/2014/main" id="{4C7D7EA4-CC1A-45C3-8092-4B76975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1333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64B4A"/>
                </a:solidFill>
              </a:defRPr>
            </a:pPr>
            <a:r>
              <a:rPr sz="825" b="1">
                <a:solidFill>
                  <a:srgbClr val="064B4A"/>
                </a:solidFill>
              </a:rPr>
              <a:t>VOLUME/MÊS</a:t>
            </a:r>
          </a:p>
        </p:txBody>
      </p:sp>
      <p:sp>
        <p:nvSpPr>
          <p:cNvPr id="11" name="pg-n-1-sistema-de-whatsapp-para-escrit-rio-co">
            <a:extLst xmlns:a="http://schemas.openxmlformats.org/drawingml/2006/main">
              <a:ext uri="{FF2B5EF4-FFF2-40B4-BE49-F238E27FC236}">
                <a16:creationId xmlns:a16="http://schemas.microsoft.com/office/drawing/2014/main" id="{B49CBFB2-ABBF-440F-93DC-CAC7CF4E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1.</a:t>
            </a:r>
          </a:p>
        </p:txBody>
      </p:sp>
      <p:sp>
        <p:nvSpPr>
          <p:cNvPr id="12" name="pg-t-1-sistema-de-whatsapp-para-escrit-rio-co">
            <a:extLst xmlns:a="http://schemas.openxmlformats.org/drawingml/2006/main">
              <a:ext uri="{FF2B5EF4-FFF2-40B4-BE49-F238E27FC236}">
                <a16:creationId xmlns:a16="http://schemas.microsoft.com/office/drawing/2014/main" id="{D7019BC6-C26C-43B5-B72C-30EC0411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Sistema de WhatsApp para Escritório Contábil</a:t>
            </a:r>
          </a:p>
        </p:txBody>
      </p:sp>
      <p:sp>
        <p:nvSpPr>
          <p:cNvPr id="13" name="pg-s-1-sistema-de-whatsapp-para-escrit-rio-co">
            <a:extLst xmlns:a="http://schemas.openxmlformats.org/drawingml/2006/main">
              <a:ext uri="{FF2B5EF4-FFF2-40B4-BE49-F238E27FC236}">
                <a16:creationId xmlns:a16="http://schemas.microsoft.com/office/drawing/2014/main" id="{4625BD56-0B3A-40BB-9ACD-AB1B92A7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4B4A"/>
                </a:solidFill>
              </a:defRPr>
            </a:pPr>
            <a:r>
              <a:rPr sz="1200" b="1">
                <a:solidFill>
                  <a:srgbClr val="064B4A"/>
                </a:solidFill>
              </a:rPr>
              <a:t>28/30</a:t>
            </a:r>
          </a:p>
        </p:txBody>
      </p:sp>
      <p:sp>
        <p:nvSpPr>
          <p:cNvPr id="14" name="pg-v-1-sistema-de-whatsapp-para-escrit-rio-co">
            <a:extLst xmlns:a="http://schemas.openxmlformats.org/drawingml/2006/main">
              <a:ext uri="{FF2B5EF4-FFF2-40B4-BE49-F238E27FC236}">
                <a16:creationId xmlns:a16="http://schemas.microsoft.com/office/drawing/2014/main" id="{EB2B678C-6C14-4952-B4FB-1C643227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623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~600/mês</a:t>
            </a:r>
          </a:p>
        </p:txBody>
      </p:sp>
      <p:sp>
        <p:nvSpPr>
          <p:cNvPr id="15" name="pg-n-2-atendimento-whatsapp-para-escrit-rio-c">
            <a:extLst xmlns:a="http://schemas.openxmlformats.org/drawingml/2006/main">
              <a:ext uri="{FF2B5EF4-FFF2-40B4-BE49-F238E27FC236}">
                <a16:creationId xmlns:a16="http://schemas.microsoft.com/office/drawing/2014/main" id="{E33973A8-BC9E-4B23-88D2-DBBABD5B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2.</a:t>
            </a:r>
          </a:p>
        </p:txBody>
      </p:sp>
      <p:sp>
        <p:nvSpPr>
          <p:cNvPr id="16" name="pg-t-2-atendimento-whatsapp-para-escrit-rio-c">
            <a:extLst xmlns:a="http://schemas.openxmlformats.org/drawingml/2006/main">
              <a:ext uri="{FF2B5EF4-FFF2-40B4-BE49-F238E27FC236}">
                <a16:creationId xmlns:a16="http://schemas.microsoft.com/office/drawing/2014/main" id="{CCF38C32-5142-4F78-96BF-2535298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Atendimento WhatsApp para Escritório Contábil</a:t>
            </a:r>
          </a:p>
        </p:txBody>
      </p:sp>
      <p:sp>
        <p:nvSpPr>
          <p:cNvPr id="17" name="pg-s-2-atendimento-whatsapp-para-escrit-rio-c">
            <a:extLst xmlns:a="http://schemas.openxmlformats.org/drawingml/2006/main">
              <a:ext uri="{FF2B5EF4-FFF2-40B4-BE49-F238E27FC236}">
                <a16:creationId xmlns:a16="http://schemas.microsoft.com/office/drawing/2014/main" id="{DF10059C-E5FC-46E3-9BB3-195D2EFA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4B4A"/>
                </a:solidFill>
              </a:defRPr>
            </a:pPr>
            <a:r>
              <a:rPr sz="1200" b="1">
                <a:solidFill>
                  <a:srgbClr val="064B4A"/>
                </a:solidFill>
              </a:rPr>
              <a:t>27/30</a:t>
            </a:r>
          </a:p>
        </p:txBody>
      </p:sp>
      <p:sp>
        <p:nvSpPr>
          <p:cNvPr id="18" name="pg-v-2-atendimento-whatsapp-para-escrit-rio-c">
            <a:extLst xmlns:a="http://schemas.openxmlformats.org/drawingml/2006/main">
              <a:ext uri="{FF2B5EF4-FFF2-40B4-BE49-F238E27FC236}">
                <a16:creationId xmlns:a16="http://schemas.microsoft.com/office/drawing/2014/main" id="{0BB4391D-FACB-4F4C-89C2-9FCA1DD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433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~700/mês</a:t>
            </a:r>
          </a:p>
        </p:txBody>
      </p:sp>
      <p:sp>
        <p:nvSpPr>
          <p:cNvPr id="19" name="pg-n-3-whatsapp-para-escrit-rios-cont-beis">
            <a:extLst xmlns:a="http://schemas.openxmlformats.org/drawingml/2006/main">
              <a:ext uri="{FF2B5EF4-FFF2-40B4-BE49-F238E27FC236}">
                <a16:creationId xmlns:a16="http://schemas.microsoft.com/office/drawing/2014/main" id="{E94A6F70-76F4-42A7-BB4D-C01F393A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3.</a:t>
            </a:r>
          </a:p>
        </p:txBody>
      </p:sp>
      <p:sp>
        <p:nvSpPr>
          <p:cNvPr id="20" name="pg-t-3-whatsapp-para-escrit-rios-cont-beis">
            <a:extLst xmlns:a="http://schemas.openxmlformats.org/drawingml/2006/main">
              <a:ext uri="{FF2B5EF4-FFF2-40B4-BE49-F238E27FC236}">
                <a16:creationId xmlns:a16="http://schemas.microsoft.com/office/drawing/2014/main" id="{C5311C55-B188-4D32-9BD4-48CF049E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WhatsApp para Escritórios Contábeis</a:t>
            </a:r>
          </a:p>
        </p:txBody>
      </p:sp>
      <p:sp>
        <p:nvSpPr>
          <p:cNvPr id="21" name="pg-s-3-whatsapp-para-escrit-rios-cont-beis">
            <a:extLst xmlns:a="http://schemas.openxmlformats.org/drawingml/2006/main">
              <a:ext uri="{FF2B5EF4-FFF2-40B4-BE49-F238E27FC236}">
                <a16:creationId xmlns:a16="http://schemas.microsoft.com/office/drawing/2014/main" id="{489DA317-A05F-4A18-BBE9-E1A807C6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4B4A"/>
                </a:solidFill>
              </a:defRPr>
            </a:pPr>
            <a:r>
              <a:rPr sz="1200" b="1">
                <a:solidFill>
                  <a:srgbClr val="064B4A"/>
                </a:solidFill>
              </a:rPr>
              <a:t>26/30</a:t>
            </a:r>
          </a:p>
        </p:txBody>
      </p:sp>
      <p:sp>
        <p:nvSpPr>
          <p:cNvPr id="22" name="pg-v-3-whatsapp-para-escrit-rios-cont-beis">
            <a:extLst xmlns:a="http://schemas.openxmlformats.org/drawingml/2006/main">
              <a:ext uri="{FF2B5EF4-FFF2-40B4-BE49-F238E27FC236}">
                <a16:creationId xmlns:a16="http://schemas.microsoft.com/office/drawing/2014/main" id="{B4E20A86-CBA6-4D28-B985-3D4B167B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433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~700/mês</a:t>
            </a:r>
          </a:p>
        </p:txBody>
      </p:sp>
      <p:sp>
        <p:nvSpPr>
          <p:cNvPr id="23" name="pg-n-4-sistema-de-whatsapp-para-contabilidade">
            <a:extLst xmlns:a="http://schemas.openxmlformats.org/drawingml/2006/main">
              <a:ext uri="{FF2B5EF4-FFF2-40B4-BE49-F238E27FC236}">
                <a16:creationId xmlns:a16="http://schemas.microsoft.com/office/drawing/2014/main" id="{0BEC3778-CE2F-4095-9AEB-786AA88C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4.</a:t>
            </a:r>
          </a:p>
        </p:txBody>
      </p:sp>
      <p:sp>
        <p:nvSpPr>
          <p:cNvPr id="24" name="pg-t-4-sistema-de-whatsapp-para-contabilidade">
            <a:extLst xmlns:a="http://schemas.openxmlformats.org/drawingml/2006/main">
              <a:ext uri="{FF2B5EF4-FFF2-40B4-BE49-F238E27FC236}">
                <a16:creationId xmlns:a16="http://schemas.microsoft.com/office/drawing/2014/main" id="{13A66E8D-9755-4DE2-B91A-8C9AE432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4340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Sistema de WhatsApp para Contabilidade</a:t>
            </a:r>
          </a:p>
        </p:txBody>
      </p:sp>
      <p:sp>
        <p:nvSpPr>
          <p:cNvPr id="25" name="pg-s-4-sistema-de-whatsapp-para-contabilidade">
            <a:extLst xmlns:a="http://schemas.openxmlformats.org/drawingml/2006/main">
              <a:ext uri="{FF2B5EF4-FFF2-40B4-BE49-F238E27FC236}">
                <a16:creationId xmlns:a16="http://schemas.microsoft.com/office/drawing/2014/main" id="{71DEFCFE-BEEC-433B-A173-62953336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4B4A"/>
                </a:solidFill>
              </a:defRPr>
            </a:pPr>
            <a:r>
              <a:rPr sz="1200" b="1">
                <a:solidFill>
                  <a:srgbClr val="064B4A"/>
                </a:solidFill>
              </a:rPr>
              <a:t>26/30</a:t>
            </a:r>
          </a:p>
        </p:txBody>
      </p:sp>
      <p:sp>
        <p:nvSpPr>
          <p:cNvPr id="26" name="pg-v-4-sistema-de-whatsapp-para-contabilidade">
            <a:extLst xmlns:a="http://schemas.openxmlformats.org/drawingml/2006/main">
              <a:ext uri="{FF2B5EF4-FFF2-40B4-BE49-F238E27FC236}">
                <a16:creationId xmlns:a16="http://schemas.microsoft.com/office/drawing/2014/main" id="{A46558B0-DEB1-42BE-A074-D9747A0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434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100/mês</a:t>
            </a:r>
          </a:p>
        </p:txBody>
      </p:sp>
      <p:sp>
        <p:nvSpPr>
          <p:cNvPr id="27" name="chip-imobili-rias-cluster-2">
            <a:extLst xmlns:a="http://schemas.openxmlformats.org/drawingml/2006/main">
              <a:ext uri="{FF2B5EF4-FFF2-40B4-BE49-F238E27FC236}">
                <a16:creationId xmlns:a16="http://schemas.microsoft.com/office/drawing/2014/main" id="{4DF36E57-5D19-4579-A126-CD1FCD1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1540"/>
            <a:ext cx="33718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28" name="chip-text-imobili-rias-cluster-2">
            <a:extLst xmlns:a="http://schemas.openxmlformats.org/drawingml/2006/main">
              <a:ext uri="{FF2B5EF4-FFF2-40B4-BE49-F238E27FC236}">
                <a16:creationId xmlns:a16="http://schemas.microsoft.com/office/drawing/2014/main" id="{2DBD9396-F7E6-49AD-93B3-EA0CE507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2952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A2E"/>
                </a:solidFill>
              </a:defRPr>
            </a:pPr>
            <a:r>
              <a:rPr sz="1350" b="1">
                <a:solidFill>
                  <a:srgbClr val="132A2E"/>
                </a:solidFill>
              </a:rPr>
              <a:t>IMOBILIÁRIAS · CLUSTER #2</a:t>
            </a:r>
          </a:p>
        </p:txBody>
      </p:sp>
      <p:sp>
        <p:nvSpPr>
          <p:cNvPr id="29" name="pg-n-5-atendimento-whatsapp-para-imobili-rias">
            <a:extLst xmlns:a="http://schemas.openxmlformats.org/drawingml/2006/main">
              <a:ext uri="{FF2B5EF4-FFF2-40B4-BE49-F238E27FC236}">
                <a16:creationId xmlns:a16="http://schemas.microsoft.com/office/drawing/2014/main" id="{C3866ACC-17E8-427F-A06E-324F00E0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A62F"/>
                </a:solidFill>
              </a:defRPr>
            </a:pPr>
            <a:r>
              <a:rPr sz="1350" b="1">
                <a:solidFill>
                  <a:srgbClr val="E7A62F"/>
                </a:solidFill>
              </a:rPr>
              <a:t>5.</a:t>
            </a:r>
          </a:p>
        </p:txBody>
      </p:sp>
      <p:sp>
        <p:nvSpPr>
          <p:cNvPr id="30" name="pg-t-5-atendimento-whatsapp-para-imobili-rias">
            <a:extLst xmlns:a="http://schemas.openxmlformats.org/drawingml/2006/main">
              <a:ext uri="{FF2B5EF4-FFF2-40B4-BE49-F238E27FC236}">
                <a16:creationId xmlns:a16="http://schemas.microsoft.com/office/drawing/2014/main" id="{AB864B47-9AEA-4C10-A316-396D9CFF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Atendimento WhatsApp para Imobiliárias</a:t>
            </a:r>
          </a:p>
        </p:txBody>
      </p:sp>
      <p:sp>
        <p:nvSpPr>
          <p:cNvPr id="31" name="pg-s-5-atendimento-whatsapp-para-imobili-rias">
            <a:extLst xmlns:a="http://schemas.openxmlformats.org/drawingml/2006/main">
              <a:ext uri="{FF2B5EF4-FFF2-40B4-BE49-F238E27FC236}">
                <a16:creationId xmlns:a16="http://schemas.microsoft.com/office/drawing/2014/main" id="{73C8A97D-9F3F-429E-9BE8-15E700D3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768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D"/>
                </a:solidFill>
              </a:defRPr>
            </a:pPr>
            <a:r>
              <a:rPr sz="1200" b="1">
                <a:solidFill>
                  <a:srgbClr val="5D6A6D"/>
                </a:solidFill>
              </a:rPr>
              <a:t>qualitativo</a:t>
            </a:r>
          </a:p>
        </p:txBody>
      </p:sp>
      <p:sp>
        <p:nvSpPr>
          <p:cNvPr id="32" name="pg-v-5-atendimento-whatsapp-para-imobili-rias">
            <a:extLst xmlns:a="http://schemas.openxmlformats.org/drawingml/2006/main">
              <a:ext uri="{FF2B5EF4-FFF2-40B4-BE49-F238E27FC236}">
                <a16:creationId xmlns:a16="http://schemas.microsoft.com/office/drawing/2014/main" id="{236DD2B4-220E-44A4-9DD1-E6229DF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768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~1,6k/mês</a:t>
            </a:r>
          </a:p>
        </p:txBody>
      </p:sp>
      <p:sp>
        <p:nvSpPr>
          <p:cNvPr id="33" name="pg-n-6-automa-o-whatsapp-para-imobili-rias">
            <a:extLst xmlns:a="http://schemas.openxmlformats.org/drawingml/2006/main">
              <a:ext uri="{FF2B5EF4-FFF2-40B4-BE49-F238E27FC236}">
                <a16:creationId xmlns:a16="http://schemas.microsoft.com/office/drawing/2014/main" id="{1FCBB99A-4746-42FE-8149-87A7CC53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A62F"/>
                </a:solidFill>
              </a:defRPr>
            </a:pPr>
            <a:r>
              <a:rPr sz="1350" b="1">
                <a:solidFill>
                  <a:srgbClr val="E7A62F"/>
                </a:solidFill>
              </a:rPr>
              <a:t>6.</a:t>
            </a:r>
          </a:p>
        </p:txBody>
      </p:sp>
      <p:sp>
        <p:nvSpPr>
          <p:cNvPr id="34" name="pg-t-6-automa-o-whatsapp-para-imobili-rias">
            <a:extLst xmlns:a="http://schemas.openxmlformats.org/drawingml/2006/main">
              <a:ext uri="{FF2B5EF4-FFF2-40B4-BE49-F238E27FC236}">
                <a16:creationId xmlns:a16="http://schemas.microsoft.com/office/drawing/2014/main" id="{923AA308-1E20-436E-82AA-183F4CD4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5785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Automação WhatsApp para Imobiliárias</a:t>
            </a:r>
          </a:p>
        </p:txBody>
      </p:sp>
      <p:sp>
        <p:nvSpPr>
          <p:cNvPr id="35" name="pg-s-6-automa-o-whatsapp-para-imobili-rias">
            <a:extLst xmlns:a="http://schemas.openxmlformats.org/drawingml/2006/main">
              <a:ext uri="{FF2B5EF4-FFF2-40B4-BE49-F238E27FC236}">
                <a16:creationId xmlns:a16="http://schemas.microsoft.com/office/drawing/2014/main" id="{9814947D-71D5-4C95-BF85-EF225BDE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578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D"/>
                </a:solidFill>
              </a:defRPr>
            </a:pPr>
            <a:r>
              <a:rPr sz="1200" b="1">
                <a:solidFill>
                  <a:srgbClr val="5D6A6D"/>
                </a:solidFill>
              </a:rPr>
              <a:t>qualitativo</a:t>
            </a:r>
          </a:p>
        </p:txBody>
      </p:sp>
      <p:sp>
        <p:nvSpPr>
          <p:cNvPr id="36" name="pg-v-6-automa-o-whatsapp-para-imobili-rias">
            <a:extLst xmlns:a="http://schemas.openxmlformats.org/drawingml/2006/main">
              <a:ext uri="{FF2B5EF4-FFF2-40B4-BE49-F238E27FC236}">
                <a16:creationId xmlns:a16="http://schemas.microsoft.com/office/drawing/2014/main" id="{AA8298CC-7B85-437F-87AF-C103B8E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578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~2,3k/mês</a:t>
            </a:r>
          </a:p>
        </p:txBody>
      </p:sp>
      <p:sp>
        <p:nvSpPr>
          <p:cNvPr id="37" name="chip-horizontais-dor-4-lps">
            <a:extLst xmlns:a="http://schemas.openxmlformats.org/drawingml/2006/main">
              <a:ext uri="{FF2B5EF4-FFF2-40B4-BE49-F238E27FC236}">
                <a16:creationId xmlns:a16="http://schemas.microsoft.com/office/drawing/2014/main" id="{99EBC74C-4ADE-4D43-8807-84DE84D0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8860"/>
            <a:ext cx="33718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3168C9"/>
          </a:solidFill>
        </p:spPr>
      </p:sp>
      <p:sp>
        <p:nvSpPr>
          <p:cNvPr id="38" name="chip-text-horizontais-dor-4-lps">
            <a:extLst xmlns:a="http://schemas.openxmlformats.org/drawingml/2006/main">
              <a:ext uri="{FF2B5EF4-FFF2-40B4-BE49-F238E27FC236}">
                <a16:creationId xmlns:a16="http://schemas.microsoft.com/office/drawing/2014/main" id="{E9CE62FC-0A84-4115-BBC3-0FBFC7D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19350"/>
            <a:ext cx="2952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HORIZONTAIS + DOR · 4 LPs</a:t>
            </a:r>
          </a:p>
        </p:txBody>
      </p:sp>
      <p:sp>
        <p:nvSpPr>
          <p:cNvPr id="39" name="th-r-0">
            <a:extLst xmlns:a="http://schemas.openxmlformats.org/drawingml/2006/main">
              <a:ext uri="{FF2B5EF4-FFF2-40B4-BE49-F238E27FC236}">
                <a16:creationId xmlns:a16="http://schemas.microsoft.com/office/drawing/2014/main" id="{BB24246D-34B4-41DF-8301-36A45B35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381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th-r-1">
            <a:extLst xmlns:a="http://schemas.openxmlformats.org/drawingml/2006/main">
              <a:ext uri="{FF2B5EF4-FFF2-40B4-BE49-F238E27FC236}">
                <a16:creationId xmlns:a16="http://schemas.microsoft.com/office/drawing/2014/main" id="{5939C286-50B0-42AB-943C-DD7C3519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5048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64B4A"/>
                </a:solidFill>
              </a:defRPr>
            </a:pPr>
            <a:r>
              <a:rPr sz="825" b="1">
                <a:solidFill>
                  <a:srgbClr val="064B4A"/>
                </a:solidFill>
              </a:rPr>
              <a:t>PÁGINA</a:t>
            </a:r>
          </a:p>
        </p:txBody>
      </p:sp>
      <p:sp>
        <p:nvSpPr>
          <p:cNvPr id="41" name="th-r-2">
            <a:extLst xmlns:a="http://schemas.openxmlformats.org/drawingml/2006/main">
              <a:ext uri="{FF2B5EF4-FFF2-40B4-BE49-F238E27FC236}">
                <a16:creationId xmlns:a16="http://schemas.microsoft.com/office/drawing/2014/main" id="{FC099755-9F69-4710-8A44-6739D5B9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2857500"/>
            <a:ext cx="1047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64B4A"/>
                </a:solidFill>
              </a:defRPr>
            </a:pPr>
            <a:r>
              <a:rPr sz="825" b="1">
                <a:solidFill>
                  <a:srgbClr val="064B4A"/>
                </a:solidFill>
              </a:rPr>
              <a:t>SCORE</a:t>
            </a:r>
          </a:p>
        </p:txBody>
      </p:sp>
      <p:sp>
        <p:nvSpPr>
          <p:cNvPr id="42" name="th-r-3">
            <a:extLst xmlns:a="http://schemas.openxmlformats.org/drawingml/2006/main">
              <a:ext uri="{FF2B5EF4-FFF2-40B4-BE49-F238E27FC236}">
                <a16:creationId xmlns:a16="http://schemas.microsoft.com/office/drawing/2014/main" id="{B5E95CD9-5DB2-4E11-9357-3074CF46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2857500"/>
            <a:ext cx="1333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64B4A"/>
                </a:solidFill>
              </a:defRPr>
            </a:pPr>
            <a:r>
              <a:rPr sz="825" b="1">
                <a:solidFill>
                  <a:srgbClr val="064B4A"/>
                </a:solidFill>
              </a:rPr>
              <a:t>VOLUME/MÊS</a:t>
            </a:r>
          </a:p>
        </p:txBody>
      </p:sp>
      <p:sp>
        <p:nvSpPr>
          <p:cNvPr id="43" name="pg-n-7-sistema-de-atendimento-whatsapp">
            <a:extLst xmlns:a="http://schemas.openxmlformats.org/drawingml/2006/main">
              <a:ext uri="{FF2B5EF4-FFF2-40B4-BE49-F238E27FC236}">
                <a16:creationId xmlns:a16="http://schemas.microsoft.com/office/drawing/2014/main" id="{CAAAD8DB-277B-443C-9037-16362048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68C9"/>
                </a:solidFill>
              </a:defRPr>
            </a:pPr>
            <a:r>
              <a:rPr sz="1350" b="1">
                <a:solidFill>
                  <a:srgbClr val="3168C9"/>
                </a:solidFill>
              </a:rPr>
              <a:t>7.</a:t>
            </a:r>
          </a:p>
        </p:txBody>
      </p:sp>
      <p:sp>
        <p:nvSpPr>
          <p:cNvPr id="44" name="pg-t-7-sistema-de-atendimento-whatsapp">
            <a:extLst xmlns:a="http://schemas.openxmlformats.org/drawingml/2006/main">
              <a:ext uri="{FF2B5EF4-FFF2-40B4-BE49-F238E27FC236}">
                <a16:creationId xmlns:a16="http://schemas.microsoft.com/office/drawing/2014/main" id="{4D8B8A46-DB05-420C-98A0-F4D2DC29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6230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Sistema de Atendimento WhatsApp</a:t>
            </a:r>
          </a:p>
        </p:txBody>
      </p:sp>
      <p:sp>
        <p:nvSpPr>
          <p:cNvPr id="45" name="pg-s-7-sistema-de-atendimento-whatsapp">
            <a:extLst xmlns:a="http://schemas.openxmlformats.org/drawingml/2006/main">
              <a:ext uri="{FF2B5EF4-FFF2-40B4-BE49-F238E27FC236}">
                <a16:creationId xmlns:a16="http://schemas.microsoft.com/office/drawing/2014/main" id="{A8AB93A2-FE80-4E72-B6DF-F6AE20B8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31623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4B4A"/>
                </a:solidFill>
              </a:defRPr>
            </a:pPr>
            <a:r>
              <a:rPr sz="1200" b="1">
                <a:solidFill>
                  <a:srgbClr val="064B4A"/>
                </a:solidFill>
              </a:rPr>
              <a:t>23/30</a:t>
            </a:r>
          </a:p>
        </p:txBody>
      </p:sp>
      <p:sp>
        <p:nvSpPr>
          <p:cNvPr id="46" name="pg-v-7-sistema-de-atendimento-whatsapp">
            <a:extLst xmlns:a="http://schemas.openxmlformats.org/drawingml/2006/main">
              <a:ext uri="{FF2B5EF4-FFF2-40B4-BE49-F238E27FC236}">
                <a16:creationId xmlns:a16="http://schemas.microsoft.com/office/drawing/2014/main" id="{DEB7E73C-0C03-42F2-A99B-25ECDD4E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31623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1k/mês</a:t>
            </a:r>
          </a:p>
        </p:txBody>
      </p:sp>
      <p:sp>
        <p:nvSpPr>
          <p:cNvPr id="47" name="pg-n-8-whatsapp-com-m-ltiplos-atendentes">
            <a:extLst xmlns:a="http://schemas.openxmlformats.org/drawingml/2006/main">
              <a:ext uri="{FF2B5EF4-FFF2-40B4-BE49-F238E27FC236}">
                <a16:creationId xmlns:a16="http://schemas.microsoft.com/office/drawing/2014/main" id="{03620D2E-543D-4366-9FFA-08500988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433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68C9"/>
                </a:solidFill>
              </a:defRPr>
            </a:pPr>
            <a:r>
              <a:rPr sz="1350" b="1">
                <a:solidFill>
                  <a:srgbClr val="3168C9"/>
                </a:solidFill>
              </a:rPr>
              <a:t>8.</a:t>
            </a:r>
          </a:p>
        </p:txBody>
      </p:sp>
      <p:sp>
        <p:nvSpPr>
          <p:cNvPr id="48" name="pg-t-8-whatsapp-com-m-ltiplos-atendentes">
            <a:extLst xmlns:a="http://schemas.openxmlformats.org/drawingml/2006/main">
              <a:ext uri="{FF2B5EF4-FFF2-40B4-BE49-F238E27FC236}">
                <a16:creationId xmlns:a16="http://schemas.microsoft.com/office/drawing/2014/main" id="{722BC90C-74AE-4FC2-B134-BB1FADC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4330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WhatsApp com Múltiplos Atendentes</a:t>
            </a:r>
          </a:p>
        </p:txBody>
      </p:sp>
      <p:sp>
        <p:nvSpPr>
          <p:cNvPr id="49" name="pg-s-8-whatsapp-com-m-ltiplos-atendentes">
            <a:extLst xmlns:a="http://schemas.openxmlformats.org/drawingml/2006/main">
              <a:ext uri="{FF2B5EF4-FFF2-40B4-BE49-F238E27FC236}">
                <a16:creationId xmlns:a16="http://schemas.microsoft.com/office/drawing/2014/main" id="{A11312EB-5952-460F-8AF0-28ACB720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35433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4B4A"/>
                </a:solidFill>
              </a:defRPr>
            </a:pPr>
            <a:r>
              <a:rPr sz="1200" b="1">
                <a:solidFill>
                  <a:srgbClr val="064B4A"/>
                </a:solidFill>
              </a:rPr>
              <a:t>25/30</a:t>
            </a:r>
          </a:p>
        </p:txBody>
      </p:sp>
      <p:sp>
        <p:nvSpPr>
          <p:cNvPr id="50" name="pg-v-8-whatsapp-com-m-ltiplos-atendentes">
            <a:extLst xmlns:a="http://schemas.openxmlformats.org/drawingml/2006/main">
              <a:ext uri="{FF2B5EF4-FFF2-40B4-BE49-F238E27FC236}">
                <a16:creationId xmlns:a16="http://schemas.microsoft.com/office/drawing/2014/main" id="{DCB3585A-F02A-4A28-A46A-4B77324C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35433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~2,2k/mês</a:t>
            </a:r>
          </a:p>
        </p:txBody>
      </p:sp>
      <p:sp>
        <p:nvSpPr>
          <p:cNvPr id="51" name="pg-n-9-como-organizar-atendimento-pelo-whatsa">
            <a:extLst xmlns:a="http://schemas.openxmlformats.org/drawingml/2006/main">
              <a:ext uri="{FF2B5EF4-FFF2-40B4-BE49-F238E27FC236}">
                <a16:creationId xmlns:a16="http://schemas.microsoft.com/office/drawing/2014/main" id="{EA43E14D-F398-40FC-BF1E-E920083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68C9"/>
                </a:solidFill>
              </a:defRPr>
            </a:pPr>
            <a:r>
              <a:rPr sz="1350" b="1">
                <a:solidFill>
                  <a:srgbClr val="3168C9"/>
                </a:solidFill>
              </a:rPr>
              <a:t>9.</a:t>
            </a:r>
          </a:p>
        </p:txBody>
      </p:sp>
      <p:sp>
        <p:nvSpPr>
          <p:cNvPr id="52" name="pg-t-9-como-organizar-atendimento-pelo-whatsa">
            <a:extLst xmlns:a="http://schemas.openxmlformats.org/drawingml/2006/main">
              <a:ext uri="{FF2B5EF4-FFF2-40B4-BE49-F238E27FC236}">
                <a16:creationId xmlns:a16="http://schemas.microsoft.com/office/drawing/2014/main" id="{34CAF5A2-57A5-4A6E-8F0A-4F41177D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Como Organizar Atendimento pelo WhatsApp</a:t>
            </a:r>
          </a:p>
        </p:txBody>
      </p:sp>
      <p:sp>
        <p:nvSpPr>
          <p:cNvPr id="53" name="pg-s-9-como-organizar-atendimento-pelo-whatsa">
            <a:extLst xmlns:a="http://schemas.openxmlformats.org/drawingml/2006/main">
              <a:ext uri="{FF2B5EF4-FFF2-40B4-BE49-F238E27FC236}">
                <a16:creationId xmlns:a16="http://schemas.microsoft.com/office/drawing/2014/main" id="{B1A45C1E-4273-4FDF-A531-848BACB6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4B4A"/>
                </a:solidFill>
              </a:defRPr>
            </a:pPr>
            <a:r>
              <a:rPr sz="1200" b="1">
                <a:solidFill>
                  <a:srgbClr val="064B4A"/>
                </a:solidFill>
              </a:rPr>
              <a:t>25/30</a:t>
            </a:r>
          </a:p>
        </p:txBody>
      </p:sp>
      <p:sp>
        <p:nvSpPr>
          <p:cNvPr id="54" name="pg-v-9-como-organizar-atendimento-pelo-whatsa">
            <a:extLst xmlns:a="http://schemas.openxmlformats.org/drawingml/2006/main">
              <a:ext uri="{FF2B5EF4-FFF2-40B4-BE49-F238E27FC236}">
                <a16:creationId xmlns:a16="http://schemas.microsoft.com/office/drawing/2014/main" id="{FCCAC4E7-9946-4A7F-AA09-ABCEE983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39433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1,9k/mês</a:t>
            </a:r>
          </a:p>
        </p:txBody>
      </p:sp>
      <p:sp>
        <p:nvSpPr>
          <p:cNvPr id="55" name="pg-n-10-como-centralizar-atendimento-no-whats">
            <a:extLst xmlns:a="http://schemas.openxmlformats.org/drawingml/2006/main">
              <a:ext uri="{FF2B5EF4-FFF2-40B4-BE49-F238E27FC236}">
                <a16:creationId xmlns:a16="http://schemas.microsoft.com/office/drawing/2014/main" id="{B0B4FE5A-327F-4A32-9DC6-BEEF0A4D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434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68C9"/>
                </a:solidFill>
              </a:defRPr>
            </a:pPr>
            <a:r>
              <a:rPr sz="1350" b="1">
                <a:solidFill>
                  <a:srgbClr val="3168C9"/>
                </a:solidFill>
              </a:rPr>
              <a:t>10.</a:t>
            </a:r>
          </a:p>
        </p:txBody>
      </p:sp>
      <p:sp>
        <p:nvSpPr>
          <p:cNvPr id="56" name="pg-t-10-como-centralizar-atendimento-no-whats">
            <a:extLst xmlns:a="http://schemas.openxmlformats.org/drawingml/2006/main">
              <a:ext uri="{FF2B5EF4-FFF2-40B4-BE49-F238E27FC236}">
                <a16:creationId xmlns:a16="http://schemas.microsoft.com/office/drawing/2014/main" id="{2E8CB267-15DD-43BA-A96A-893390EC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A2E"/>
                </a:solidFill>
              </a:defRPr>
            </a:pPr>
            <a:r>
              <a:rPr sz="1275">
                <a:solidFill>
                  <a:srgbClr val="132A2E"/>
                </a:solidFill>
              </a:rPr>
              <a:t>Como Centralizar Atendimento no WhatsApp</a:t>
            </a:r>
          </a:p>
        </p:txBody>
      </p:sp>
      <p:sp>
        <p:nvSpPr>
          <p:cNvPr id="57" name="pg-s-10-como-centralizar-atendimento-no-whats">
            <a:extLst xmlns:a="http://schemas.openxmlformats.org/drawingml/2006/main">
              <a:ext uri="{FF2B5EF4-FFF2-40B4-BE49-F238E27FC236}">
                <a16:creationId xmlns:a16="http://schemas.microsoft.com/office/drawing/2014/main" id="{2235ACE2-5923-4092-9D51-19B85A83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43434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4B4A"/>
                </a:solidFill>
              </a:defRPr>
            </a:pPr>
            <a:r>
              <a:rPr sz="1200" b="1">
                <a:solidFill>
                  <a:srgbClr val="064B4A"/>
                </a:solidFill>
              </a:rPr>
              <a:t>25/30</a:t>
            </a:r>
          </a:p>
        </p:txBody>
      </p:sp>
      <p:sp>
        <p:nvSpPr>
          <p:cNvPr id="58" name="pg-v-10-como-centralizar-atendimento-no-whats">
            <a:extLst xmlns:a="http://schemas.openxmlformats.org/drawingml/2006/main">
              <a:ext uri="{FF2B5EF4-FFF2-40B4-BE49-F238E27FC236}">
                <a16:creationId xmlns:a16="http://schemas.microsoft.com/office/drawing/2014/main" id="{CE2B71FF-252A-400A-A54E-D6970772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43434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A2E"/>
                </a:solidFill>
              </a:defRPr>
            </a:pPr>
            <a:r>
              <a:rPr sz="1200" b="1">
                <a:solidFill>
                  <a:srgbClr val="132A2E"/>
                </a:solidFill>
              </a:rPr>
              <a:t>1,6k/mês</a:t>
            </a:r>
          </a:p>
        </p:txBody>
      </p:sp>
      <p:sp>
        <p:nvSpPr>
          <p:cNvPr id="59" name="top10-blog-note">
            <a:extLst xmlns:a="http://schemas.openxmlformats.org/drawingml/2006/main">
              <a:ext uri="{FF2B5EF4-FFF2-40B4-BE49-F238E27FC236}">
                <a16:creationId xmlns:a16="http://schemas.microsoft.com/office/drawing/2014/main" id="{FEAE62E8-FC1F-460E-ABC0-66402EF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01540"/>
            <a:ext cx="8153400" cy="788670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AE3B3"/>
          </a:solidFill>
        </p:spPr>
      </p:sp>
      <p:sp>
        <p:nvSpPr>
          <p:cNvPr id="60" name="blog-note-label">
            <a:extLst xmlns:a="http://schemas.openxmlformats.org/drawingml/2006/main">
              <a:ext uri="{FF2B5EF4-FFF2-40B4-BE49-F238E27FC236}">
                <a16:creationId xmlns:a16="http://schemas.microsoft.com/office/drawing/2014/main" id="{79700D13-CACE-4D25-9CE4-8AA8636C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57750"/>
            <a:ext cx="7734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5B3F"/>
                </a:solidFill>
              </a:defRPr>
            </a:pPr>
            <a:r>
              <a:rPr sz="825" b="1">
                <a:solidFill>
                  <a:srgbClr val="B85B3F"/>
                </a:solidFill>
              </a:rPr>
              <a:t>BLOG · PÓS-MVP</a:t>
            </a:r>
          </a:p>
        </p:txBody>
      </p:sp>
      <p:sp>
        <p:nvSpPr>
          <p:cNvPr id="61" name="blog-note-text">
            <a:extLst xmlns:a="http://schemas.openxmlformats.org/drawingml/2006/main">
              <a:ext uri="{FF2B5EF4-FFF2-40B4-BE49-F238E27FC236}">
                <a16:creationId xmlns:a16="http://schemas.microsoft.com/office/drawing/2014/main" id="{8E20E88C-6EA8-4AEE-A939-F858D50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A2E"/>
                </a:solidFill>
              </a:defRPr>
            </a:pPr>
            <a:r>
              <a:rPr sz="1050">
                <a:solidFill>
                  <a:srgbClr val="132A2E"/>
                </a:solidFill>
              </a:rPr>
              <a:t>Blog automatizado pelo sistema reforça as 10 LPs por linkagem interna e cobertura de dor antes da intenção comercial — não entra no lote inicial.</a:t>
            </a:r>
          </a:p>
        </p:txBody>
      </p:sp>
      <p:sp>
        <p:nvSpPr>
          <p:cNvPr id="62" name="top10-summary">
            <a:extLst xmlns:a="http://schemas.openxmlformats.org/drawingml/2006/main">
              <a:ext uri="{FF2B5EF4-FFF2-40B4-BE49-F238E27FC236}">
                <a16:creationId xmlns:a16="http://schemas.microsoft.com/office/drawing/2014/main" id="{C0C16576-06E0-4B85-883D-1905F2B2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0"/>
            <a:ext cx="882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i="1">
                <a:solidFill>
                  <a:srgbClr val="5D6A6D"/>
                </a:solidFill>
              </a:defRPr>
            </a:pPr>
            <a:r>
              <a:rPr sz="1125" i="1">
                <a:solidFill>
                  <a:srgbClr val="5D6A6D"/>
                </a:solidFill>
              </a:rPr>
              <a:t>Volume total estimado do lote: ~12.700 buscas/mês · CPC médio R$ 2,40 · 100% Stable. Match exato em 5/10; demais via variantes PT-BR mais próximas.</a:t>
            </a:r>
          </a:p>
        </p:txBody>
      </p:sp>
      <p:sp>
        <p:nvSpPr>
          <p:cNvPr id="63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C99F732C-7CCF-4980-8268-3ED54685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64" name="footer-right-9">
            <a:extLst xmlns:a="http://schemas.openxmlformats.org/drawingml/2006/main">
              <a:ext uri="{FF2B5EF4-FFF2-40B4-BE49-F238E27FC236}">
                <a16:creationId xmlns:a16="http://schemas.microsoft.com/office/drawing/2014/main" id="{D60A2521-B8DD-4FD3-B590-61345BFD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20557767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B4189E4-0C3E-4D9D-9B19-E3779A3C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copy">
            <a:extLst xmlns:a="http://schemas.openxmlformats.org/drawingml/2006/main">
              <a:ext uri="{FF2B5EF4-FFF2-40B4-BE49-F238E27FC236}">
                <a16:creationId xmlns:a16="http://schemas.microsoft.com/office/drawing/2014/main" id="{174DB5DA-A345-40A2-98EA-EDFE95EA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COPY</a:t>
            </a:r>
          </a:p>
        </p:txBody>
      </p:sp>
      <p:sp>
        <p:nvSpPr>
          <p:cNvPr id="3" name="slide-title-copy">
            <a:extLst xmlns:a="http://schemas.openxmlformats.org/drawingml/2006/main">
              <a:ext uri="{FF2B5EF4-FFF2-40B4-BE49-F238E27FC236}">
                <a16:creationId xmlns:a16="http://schemas.microsoft.com/office/drawing/2014/main" id="{C8F2AD6F-B06E-4EA6-B651-AA71973B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Posicionamos como gestor da operação de atendimento — não como mais um WhatsApp.</a:t>
            </a:r>
          </a:p>
        </p:txBody>
      </p:sp>
      <p:sp>
        <p:nvSpPr>
          <p:cNvPr id="4" name="slide-subtitle-copy">
            <a:extLst xmlns:a="http://schemas.openxmlformats.org/drawingml/2006/main">
              <a:ext uri="{FF2B5EF4-FFF2-40B4-BE49-F238E27FC236}">
                <a16:creationId xmlns:a16="http://schemas.microsoft.com/office/drawing/2014/main" id="{5E9CD02C-86D8-4225-8CF2-A0B9833D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Toda LP do lote carrega três pilares. O filtro de qualidade do sistema garante que o copy não invente nada fora dos fatos do produto.</a:t>
            </a:r>
          </a:p>
        </p:txBody>
      </p:sp>
      <p:sp>
        <p:nvSpPr>
          <p:cNvPr id="5" name="pillar-01">
            <a:extLst xmlns:a="http://schemas.openxmlformats.org/drawingml/2006/main">
              <a:ext uri="{FF2B5EF4-FFF2-40B4-BE49-F238E27FC236}">
                <a16:creationId xmlns:a16="http://schemas.microsoft.com/office/drawing/2014/main" id="{13A3AF4A-5A81-484D-BE21-F07C4656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0360"/>
            <a:ext cx="5397500" cy="49339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pillar-num-01">
            <a:extLst xmlns:a="http://schemas.openxmlformats.org/drawingml/2006/main">
              <a:ext uri="{FF2B5EF4-FFF2-40B4-BE49-F238E27FC236}">
                <a16:creationId xmlns:a16="http://schemas.microsoft.com/office/drawing/2014/main" id="{58BFD679-15F5-4FF3-9A07-30F8A06F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4819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56F"/>
                </a:solidFill>
              </a:defRPr>
            </a:pPr>
            <a:r>
              <a:rPr sz="3600" b="1">
                <a:solidFill>
                  <a:srgbClr val="08756F"/>
                </a:solidFill>
              </a:rPr>
              <a:t>01</a:t>
            </a:r>
          </a:p>
        </p:txBody>
      </p:sp>
      <p:sp>
        <p:nvSpPr>
          <p:cNvPr id="7" name="pillar-rule-01">
            <a:extLst xmlns:a="http://schemas.openxmlformats.org/drawingml/2006/main">
              <a:ext uri="{FF2B5EF4-FFF2-40B4-BE49-F238E27FC236}">
                <a16:creationId xmlns:a16="http://schemas.microsoft.com/office/drawing/2014/main" id="{5363CAF8-8BD1-41B3-822E-106D2A1B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8756F"/>
            </a:solidFill>
            <a:prstDash val="solid"/>
          </a:ln>
        </p:spPr>
      </p:sp>
      <p:sp>
        <p:nvSpPr>
          <p:cNvPr id="8" name="pillar-title-01">
            <a:extLst xmlns:a="http://schemas.openxmlformats.org/drawingml/2006/main">
              <a:ext uri="{FF2B5EF4-FFF2-40B4-BE49-F238E27FC236}">
                <a16:creationId xmlns:a16="http://schemas.microsoft.com/office/drawing/2014/main" id="{1B030FDF-64B7-48B9-9DE2-05EA1C7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A2E"/>
                </a:solidFill>
              </a:defRPr>
            </a:pPr>
            <a:r>
              <a:rPr sz="2100" b="1">
                <a:solidFill>
                  <a:srgbClr val="132A2E"/>
                </a:solidFill>
              </a:rPr>
              <a:t>Controle operacional</a:t>
            </a:r>
          </a:p>
        </p:txBody>
      </p:sp>
      <p:sp>
        <p:nvSpPr>
          <p:cNvPr id="9" name="pillar-body-01">
            <a:extLst xmlns:a="http://schemas.openxmlformats.org/drawingml/2006/main">
              <a:ext uri="{FF2B5EF4-FFF2-40B4-BE49-F238E27FC236}">
                <a16:creationId xmlns:a16="http://schemas.microsoft.com/office/drawing/2014/main" id="{30C25143-9A7B-4A01-90B8-DAA68A4C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4819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Centralização das conversas, departamentos por setor, tags inteligentes, histórico unificado, redução do telefone tradicional.</a:t>
            </a:r>
          </a:p>
        </p:txBody>
      </p:sp>
      <p:sp>
        <p:nvSpPr>
          <p:cNvPr id="10" name="pillar-02">
            <a:extLst xmlns:a="http://schemas.openxmlformats.org/drawingml/2006/main">
              <a:ext uri="{FF2B5EF4-FFF2-40B4-BE49-F238E27FC236}">
                <a16:creationId xmlns:a16="http://schemas.microsoft.com/office/drawing/2014/main" id="{0DDB4888-1276-42D3-88ED-7F06028E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880360"/>
            <a:ext cx="5397500" cy="49339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illar-num-02">
            <a:extLst xmlns:a="http://schemas.openxmlformats.org/drawingml/2006/main">
              <a:ext uri="{FF2B5EF4-FFF2-40B4-BE49-F238E27FC236}">
                <a16:creationId xmlns:a16="http://schemas.microsoft.com/office/drawing/2014/main" id="{8B6B8119-0F52-43A3-B100-125F79B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62300"/>
            <a:ext cx="4819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7A62F"/>
                </a:solidFill>
              </a:defRPr>
            </a:pPr>
            <a:r>
              <a:rPr sz="3600" b="1">
                <a:solidFill>
                  <a:srgbClr val="E7A62F"/>
                </a:solidFill>
              </a:rPr>
              <a:t>02</a:t>
            </a:r>
          </a:p>
        </p:txBody>
      </p:sp>
      <p:sp>
        <p:nvSpPr>
          <p:cNvPr id="12" name="pillar-rule-02">
            <a:extLst xmlns:a="http://schemas.openxmlformats.org/drawingml/2006/main">
              <a:ext uri="{FF2B5EF4-FFF2-40B4-BE49-F238E27FC236}">
                <a16:creationId xmlns:a16="http://schemas.microsoft.com/office/drawing/2014/main" id="{E7D618D9-B3E5-40DF-A54B-85D4EDEA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62F"/>
          </a:solidFill>
          <a:ln xmlns:a="http://schemas.openxmlformats.org/drawingml/2006/main" w="0">
            <a:solidFill>
              <a:srgbClr val="E7A62F"/>
            </a:solidFill>
            <a:prstDash val="solid"/>
          </a:ln>
        </p:spPr>
      </p:sp>
      <p:sp>
        <p:nvSpPr>
          <p:cNvPr id="13" name="pillar-title-02">
            <a:extLst xmlns:a="http://schemas.openxmlformats.org/drawingml/2006/main">
              <a:ext uri="{FF2B5EF4-FFF2-40B4-BE49-F238E27FC236}">
                <a16:creationId xmlns:a16="http://schemas.microsoft.com/office/drawing/2014/main" id="{4908B374-045B-4366-A573-E995FEAA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A2E"/>
                </a:solidFill>
              </a:defRPr>
            </a:pPr>
            <a:r>
              <a:rPr sz="2100" b="1">
                <a:solidFill>
                  <a:srgbClr val="132A2E"/>
                </a:solidFill>
              </a:rPr>
              <a:t>Profissionalização</a:t>
            </a:r>
          </a:p>
        </p:txBody>
      </p:sp>
      <p:sp>
        <p:nvSpPr>
          <p:cNvPr id="14" name="pillar-body-02">
            <a:extLst xmlns:a="http://schemas.openxmlformats.org/drawingml/2006/main">
              <a:ext uri="{FF2B5EF4-FFF2-40B4-BE49-F238E27FC236}">
                <a16:creationId xmlns:a16="http://schemas.microsoft.com/office/drawing/2014/main" id="{291C6E8C-D171-4A3C-A42F-D154F2E5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33900"/>
            <a:ext cx="4819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Padronização entre setores (no contábil: fiscal, DP, financeiro, societário), atendimento unificado por equipe e SLA visível.</a:t>
            </a:r>
          </a:p>
        </p:txBody>
      </p:sp>
      <p:sp>
        <p:nvSpPr>
          <p:cNvPr id="15" name="pillar-03">
            <a:extLst xmlns:a="http://schemas.openxmlformats.org/drawingml/2006/main">
              <a:ext uri="{FF2B5EF4-FFF2-40B4-BE49-F238E27FC236}">
                <a16:creationId xmlns:a16="http://schemas.microsoft.com/office/drawing/2014/main" id="{B73F26AF-28F0-43C6-9690-FA96729C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2880360"/>
            <a:ext cx="5397500" cy="49339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pillar-num-03">
            <a:extLst xmlns:a="http://schemas.openxmlformats.org/drawingml/2006/main">
              <a:ext uri="{FF2B5EF4-FFF2-40B4-BE49-F238E27FC236}">
                <a16:creationId xmlns:a16="http://schemas.microsoft.com/office/drawing/2014/main" id="{2A40F8A2-969D-49CC-9462-554EE75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162300"/>
            <a:ext cx="4819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68C9"/>
                </a:solidFill>
              </a:defRPr>
            </a:pPr>
            <a:r>
              <a:rPr sz="3600" b="1">
                <a:solidFill>
                  <a:srgbClr val="3168C9"/>
                </a:solidFill>
              </a:rPr>
              <a:t>03</a:t>
            </a:r>
          </a:p>
        </p:txBody>
      </p:sp>
      <p:sp>
        <p:nvSpPr>
          <p:cNvPr id="17" name="pillar-rule-03">
            <a:extLst xmlns:a="http://schemas.openxmlformats.org/drawingml/2006/main">
              <a:ext uri="{FF2B5EF4-FFF2-40B4-BE49-F238E27FC236}">
                <a16:creationId xmlns:a16="http://schemas.microsoft.com/office/drawing/2014/main" id="{7AC1D460-E8EA-4E83-A33E-0484E3CA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8671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8C9"/>
          </a:solidFill>
          <a:ln xmlns:a="http://schemas.openxmlformats.org/drawingml/2006/main" w="0">
            <a:solidFill>
              <a:srgbClr val="3168C9"/>
            </a:solidFill>
            <a:prstDash val="solid"/>
          </a:ln>
        </p:spPr>
      </p:sp>
      <p:sp>
        <p:nvSpPr>
          <p:cNvPr id="18" name="pillar-title-03">
            <a:extLst xmlns:a="http://schemas.openxmlformats.org/drawingml/2006/main">
              <a:ext uri="{FF2B5EF4-FFF2-40B4-BE49-F238E27FC236}">
                <a16:creationId xmlns:a16="http://schemas.microsoft.com/office/drawing/2014/main" id="{5477ADAF-87B7-4FB0-A852-CB614E00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576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A2E"/>
                </a:solidFill>
              </a:defRPr>
            </a:pPr>
            <a:r>
              <a:rPr sz="2100" b="1">
                <a:solidFill>
                  <a:srgbClr val="132A2E"/>
                </a:solidFill>
              </a:rPr>
              <a:t>Métricas</a:t>
            </a:r>
          </a:p>
        </p:txBody>
      </p:sp>
      <p:sp>
        <p:nvSpPr>
          <p:cNvPr id="19" name="pillar-body-03">
            <a:extLst xmlns:a="http://schemas.openxmlformats.org/drawingml/2006/main">
              <a:ext uri="{FF2B5EF4-FFF2-40B4-BE49-F238E27FC236}">
                <a16:creationId xmlns:a16="http://schemas.microsoft.com/office/drawing/2014/main" id="{C2BA6D86-2EDC-478F-8F93-28C64FA0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533900"/>
            <a:ext cx="4819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Visibilidade de tempo de resposta, performance da equipe, gargalos por canal e agente, automação de processos recorrentes.</a:t>
            </a:r>
          </a:p>
        </p:txBody>
      </p:sp>
      <p:sp>
        <p:nvSpPr>
          <p:cNvPr id="20" name="copy-anchor">
            <a:extLst xmlns:a="http://schemas.openxmlformats.org/drawingml/2006/main">
              <a:ext uri="{FF2B5EF4-FFF2-40B4-BE49-F238E27FC236}">
                <a16:creationId xmlns:a16="http://schemas.microsoft.com/office/drawing/2014/main" id="{D10F40A4-5263-46DF-9495-AB55304C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81010"/>
            <a:ext cx="16649700" cy="70104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064B4A"/>
          </a:solidFill>
        </p:spPr>
      </p:sp>
      <p:sp>
        <p:nvSpPr>
          <p:cNvPr id="21" name="copy-anchor-label">
            <a:extLst xmlns:a="http://schemas.openxmlformats.org/drawingml/2006/main">
              <a:ext uri="{FF2B5EF4-FFF2-40B4-BE49-F238E27FC236}">
                <a16:creationId xmlns:a16="http://schemas.microsoft.com/office/drawing/2014/main" id="{9FE7C659-D5F4-47BB-9683-2AA18D74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248650"/>
            <a:ext cx="16116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4F8EE"/>
                </a:solidFill>
              </a:defRPr>
            </a:pPr>
            <a:r>
              <a:rPr sz="825" b="1">
                <a:solidFill>
                  <a:srgbClr val="D4F8EE"/>
                </a:solidFill>
              </a:rPr>
              <a:t>ANCORADO EM FATOS VERIFICÁVEIS · QUALITY GATE BARRA INVENÇÃO</a:t>
            </a:r>
          </a:p>
        </p:txBody>
      </p:sp>
      <p:sp>
        <p:nvSpPr>
          <p:cNvPr id="22" name="copy-anchor-text">
            <a:extLst xmlns:a="http://schemas.openxmlformats.org/drawingml/2006/main">
              <a:ext uri="{FF2B5EF4-FFF2-40B4-BE49-F238E27FC236}">
                <a16:creationId xmlns:a16="http://schemas.microsoft.com/office/drawing/2014/main" id="{C322AE09-108D-4BEB-93CB-447C480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420100"/>
            <a:ext cx="1611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API Oficial Meta · 400+ clientes ativos · planos publicados · omnichannel WhatsApp + Instagram + Facebook · agente de IA nativo</a:t>
            </a:r>
          </a:p>
        </p:txBody>
      </p:sp>
      <p:sp>
        <p:nvSpPr>
          <p:cNvPr id="23" name="copy-claim">
            <a:extLst xmlns:a="http://schemas.openxmlformats.org/drawingml/2006/main">
              <a:ext uri="{FF2B5EF4-FFF2-40B4-BE49-F238E27FC236}">
                <a16:creationId xmlns:a16="http://schemas.microsoft.com/office/drawing/2014/main" id="{A2DE085E-E500-4840-BCDB-226865FA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048750"/>
            <a:ext cx="1483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4B4A"/>
                </a:solidFill>
              </a:defRPr>
            </a:pPr>
            <a:r>
              <a:rPr sz="1650" b="1">
                <a:solidFill>
                  <a:srgbClr val="064B4A"/>
                </a:solidFill>
              </a:rPr>
              <a:t>Concorrentes vendem chatbot e atendimento. Ganhamos posicionando gestão operacional como diferencial — e o sistema garante consistência entre as 3 versões geradas.</a:t>
            </a:r>
          </a:p>
        </p:txBody>
      </p:sp>
      <p:sp>
        <p:nvSpPr>
          <p:cNvPr id="24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0DF7B186-04A7-41E6-8A27-9218623C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25" name="footer-right-10">
            <a:extLst xmlns:a="http://schemas.openxmlformats.org/drawingml/2006/main">
              <a:ext uri="{FF2B5EF4-FFF2-40B4-BE49-F238E27FC236}">
                <a16:creationId xmlns:a16="http://schemas.microsoft.com/office/drawing/2014/main" id="{51148E5B-95F4-44F6-A307-B61CD116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9359295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DB64287-3533-46C4-996D-14E0432B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medi-o">
            <a:extLst xmlns:a="http://schemas.openxmlformats.org/drawingml/2006/main">
              <a:ext uri="{FF2B5EF4-FFF2-40B4-BE49-F238E27FC236}">
                <a16:creationId xmlns:a16="http://schemas.microsoft.com/office/drawing/2014/main" id="{D48BEC3E-94AD-4A2F-8DD6-AEEAD233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MEDIÇÃO</a:t>
            </a:r>
          </a:p>
        </p:txBody>
      </p:sp>
      <p:sp>
        <p:nvSpPr>
          <p:cNvPr id="3" name="slide-title-medi-o">
            <a:extLst xmlns:a="http://schemas.openxmlformats.org/drawingml/2006/main">
              <a:ext uri="{FF2B5EF4-FFF2-40B4-BE49-F238E27FC236}">
                <a16:creationId xmlns:a16="http://schemas.microsoft.com/office/drawing/2014/main" id="{735D246F-0203-4CF0-B395-A0B0CA4C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Search Console e dashboard interno arbitram a próxima rodada.</a:t>
            </a:r>
          </a:p>
        </p:txBody>
      </p:sp>
      <p:sp>
        <p:nvSpPr>
          <p:cNvPr id="4" name="slide-subtitle-medi-o">
            <a:extLst xmlns:a="http://schemas.openxmlformats.org/drawingml/2006/main">
              <a:ext uri="{FF2B5EF4-FFF2-40B4-BE49-F238E27FC236}">
                <a16:creationId xmlns:a16="http://schemas.microsoft.com/office/drawing/2014/main" id="{B2A4A0FC-95F7-4579-9ED9-A957C30D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A operação do dia a dia é do sistema. O papel humano é curadoria.</a:t>
            </a:r>
          </a:p>
        </p:txBody>
      </p:sp>
      <p:sp>
        <p:nvSpPr>
          <p:cNvPr id="5" name="measurement-kpi-label">
            <a:extLst xmlns:a="http://schemas.openxmlformats.org/drawingml/2006/main">
              <a:ext uri="{FF2B5EF4-FFF2-40B4-BE49-F238E27FC236}">
                <a16:creationId xmlns:a16="http://schemas.microsoft.com/office/drawing/2014/main" id="{BCBAF659-5507-4596-AC5A-E682FA61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815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KPIs por LP no dashboard interno</a:t>
            </a:r>
          </a:p>
        </p:txBody>
      </p:sp>
      <p:sp>
        <p:nvSpPr>
          <p:cNvPr id="6" name="measurement-kpi-panel">
            <a:extLst xmlns:a="http://schemas.openxmlformats.org/drawingml/2006/main">
              <a:ext uri="{FF2B5EF4-FFF2-40B4-BE49-F238E27FC236}">
                <a16:creationId xmlns:a16="http://schemas.microsoft.com/office/drawing/2014/main" id="{91D8FD98-886C-4CC6-81C9-ADB4E295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2230"/>
            <a:ext cx="8153400" cy="2487930"/>
          </a:xfrm>
          <a:prstGeom xmlns:a="http://schemas.openxmlformats.org/drawingml/2006/main" prst="roundRect">
            <a:avLst>
              <a:gd name="adj" fmla="val 536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bullet-dot-sess-es-e-leads-no-per-odo-0">
            <a:extLst xmlns:a="http://schemas.openxmlformats.org/drawingml/2006/main">
              <a:ext uri="{FF2B5EF4-FFF2-40B4-BE49-F238E27FC236}">
                <a16:creationId xmlns:a16="http://schemas.microsoft.com/office/drawing/2014/main" id="{4485811A-A3B9-433A-A634-7308096E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8" name="bullet-text-sess-es-e-leads-no-per-odo-0">
            <a:extLst xmlns:a="http://schemas.openxmlformats.org/drawingml/2006/main">
              <a:ext uri="{FF2B5EF4-FFF2-40B4-BE49-F238E27FC236}">
                <a16:creationId xmlns:a16="http://schemas.microsoft.com/office/drawing/2014/main" id="{952804AE-CDA6-4556-B516-8D18C73D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Sessões e leads no período</a:t>
            </a:r>
          </a:p>
        </p:txBody>
      </p:sp>
      <p:sp>
        <p:nvSpPr>
          <p:cNvPr id="9" name="bullet-dot-convers-o-por-lp-lead-sess-o--1">
            <a:extLst xmlns:a="http://schemas.openxmlformats.org/drawingml/2006/main">
              <a:ext uri="{FF2B5EF4-FFF2-40B4-BE49-F238E27FC236}">
                <a16:creationId xmlns:a16="http://schemas.microsoft.com/office/drawing/2014/main" id="{4A30C75F-C5DA-4D3D-BE2B-94B5AFA6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0" name="bullet-text-convers-o-por-lp-lead-sess-o--1">
            <a:extLst xmlns:a="http://schemas.openxmlformats.org/drawingml/2006/main">
              <a:ext uri="{FF2B5EF4-FFF2-40B4-BE49-F238E27FC236}">
                <a16:creationId xmlns:a16="http://schemas.microsoft.com/office/drawing/2014/main" id="{BCED853E-1715-4D7E-8D78-9D350CF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Conversão por LP (lead / sessão)</a:t>
            </a:r>
          </a:p>
        </p:txBody>
      </p:sp>
      <p:sp>
        <p:nvSpPr>
          <p:cNvPr id="11" name="bullet-dot-lift-por-ia-vencedora-claude-vs-gpt-vs-g-2">
            <a:extLst xmlns:a="http://schemas.openxmlformats.org/drawingml/2006/main">
              <a:ext uri="{FF2B5EF4-FFF2-40B4-BE49-F238E27FC236}">
                <a16:creationId xmlns:a16="http://schemas.microsoft.com/office/drawing/2014/main" id="{40790DF2-64C5-4D6D-BB36-103B499B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2" name="bullet-text-lift-por-ia-vencedora-claude-vs-gpt-vs-g-2">
            <a:extLst xmlns:a="http://schemas.openxmlformats.org/drawingml/2006/main">
              <a:ext uri="{FF2B5EF4-FFF2-40B4-BE49-F238E27FC236}">
                <a16:creationId xmlns:a16="http://schemas.microsoft.com/office/drawing/2014/main" id="{ED7E8536-99A1-46E4-9545-53EE1A9B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2900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Lift por IA vencedora (Claude vs GPT vs Gemini)</a:t>
            </a:r>
          </a:p>
        </p:txBody>
      </p:sp>
      <p:sp>
        <p:nvSpPr>
          <p:cNvPr id="13" name="bullet-dot-custo-por-lead-por-provider-3">
            <a:extLst xmlns:a="http://schemas.openxmlformats.org/drawingml/2006/main">
              <a:ext uri="{FF2B5EF4-FFF2-40B4-BE49-F238E27FC236}">
                <a16:creationId xmlns:a16="http://schemas.microsoft.com/office/drawing/2014/main" id="{EC092F81-0DFE-4C46-8706-32BC0A08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4" name="bullet-text-custo-por-lead-por-provider-3">
            <a:extLst xmlns:a="http://schemas.openxmlformats.org/drawingml/2006/main">
              <a:ext uri="{FF2B5EF4-FFF2-40B4-BE49-F238E27FC236}">
                <a16:creationId xmlns:a16="http://schemas.microsoft.com/office/drawing/2014/main" id="{680FA6AA-388F-447E-87BC-A969A2A2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Custo por lead por provider</a:t>
            </a:r>
          </a:p>
        </p:txBody>
      </p:sp>
      <p:sp>
        <p:nvSpPr>
          <p:cNvPr id="15" name="bullet-dot-posi-o-m-dia-no-search-console-4">
            <a:extLst xmlns:a="http://schemas.openxmlformats.org/drawingml/2006/main">
              <a:ext uri="{FF2B5EF4-FFF2-40B4-BE49-F238E27FC236}">
                <a16:creationId xmlns:a16="http://schemas.microsoft.com/office/drawing/2014/main" id="{486BCAFA-2CF5-482F-83AA-96DCA3F2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6" name="bullet-text-posi-o-m-dia-no-search-console-4">
            <a:extLst xmlns:a="http://schemas.openxmlformats.org/drawingml/2006/main">
              <a:ext uri="{FF2B5EF4-FFF2-40B4-BE49-F238E27FC236}">
                <a16:creationId xmlns:a16="http://schemas.microsoft.com/office/drawing/2014/main" id="{C7D51C2E-FB5B-4220-B4FB-8FD11B77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Posição média no Search Console</a:t>
            </a:r>
          </a:p>
        </p:txBody>
      </p:sp>
      <p:sp>
        <p:nvSpPr>
          <p:cNvPr id="17" name="bullet-dot-termos-inesperados-oportunidades-n-o-pre-5">
            <a:extLst xmlns:a="http://schemas.openxmlformats.org/drawingml/2006/main">
              <a:ext uri="{FF2B5EF4-FFF2-40B4-BE49-F238E27FC236}">
                <a16:creationId xmlns:a16="http://schemas.microsoft.com/office/drawing/2014/main" id="{12AD3B6A-8754-442A-BC75-67AA1A3C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8" name="bullet-text-termos-inesperados-oportunidades-n-o-pre-5">
            <a:extLst xmlns:a="http://schemas.openxmlformats.org/drawingml/2006/main">
              <a:ext uri="{FF2B5EF4-FFF2-40B4-BE49-F238E27FC236}">
                <a16:creationId xmlns:a16="http://schemas.microsoft.com/office/drawing/2014/main" id="{12E4D7B2-9512-4F78-AF3B-841579AA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Termos inesperados (oportunidades não previstas)</a:t>
            </a:r>
          </a:p>
        </p:txBody>
      </p:sp>
      <p:sp>
        <p:nvSpPr>
          <p:cNvPr id="19" name="bullet-dot-gatilhos-de-ajuste-refresh-a-b-autocura-6">
            <a:extLst xmlns:a="http://schemas.openxmlformats.org/drawingml/2006/main">
              <a:ext uri="{FF2B5EF4-FFF2-40B4-BE49-F238E27FC236}">
                <a16:creationId xmlns:a16="http://schemas.microsoft.com/office/drawing/2014/main" id="{D172D132-9C43-4357-A038-B5FE5B9E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20" name="bullet-text-gatilhos-de-ajuste-refresh-a-b-autocura-6">
            <a:extLst xmlns:a="http://schemas.openxmlformats.org/drawingml/2006/main">
              <a:ext uri="{FF2B5EF4-FFF2-40B4-BE49-F238E27FC236}">
                <a16:creationId xmlns:a16="http://schemas.microsoft.com/office/drawing/2014/main" id="{0938176E-723F-4745-B38C-03CCCFE5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0"/>
            <a:ext cx="744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Gatilhos de ajuste · refresh A/B · autocura</a:t>
            </a:r>
          </a:p>
        </p:txBody>
      </p:sp>
      <p:sp>
        <p:nvSpPr>
          <p:cNvPr id="21" name="measurement-loop-label">
            <a:extLst xmlns:a="http://schemas.openxmlformats.org/drawingml/2006/main">
              <a:ext uri="{FF2B5EF4-FFF2-40B4-BE49-F238E27FC236}">
                <a16:creationId xmlns:a16="http://schemas.microsoft.com/office/drawing/2014/main" id="{025D871C-BA8A-4CEC-A337-DCCC628A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815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Loop de autocura · Fase 4 do roadmap</a:t>
            </a:r>
          </a:p>
        </p:txBody>
      </p:sp>
      <p:sp>
        <p:nvSpPr>
          <p:cNvPr id="22" name="measurement-loop-panel">
            <a:extLst xmlns:a="http://schemas.openxmlformats.org/drawingml/2006/main">
              <a:ext uri="{FF2B5EF4-FFF2-40B4-BE49-F238E27FC236}">
                <a16:creationId xmlns:a16="http://schemas.microsoft.com/office/drawing/2014/main" id="{DE8DE12F-7E5D-4CB0-B8E4-AA81DADB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2230"/>
            <a:ext cx="8153400" cy="33528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064B4A"/>
          </a:solidFill>
        </p:spPr>
      </p:sp>
      <p:sp>
        <p:nvSpPr>
          <p:cNvPr id="23" name="loop-1">
            <a:extLst xmlns:a="http://schemas.openxmlformats.org/drawingml/2006/main">
              <a:ext uri="{FF2B5EF4-FFF2-40B4-BE49-F238E27FC236}">
                <a16:creationId xmlns:a16="http://schemas.microsoft.com/office/drawing/2014/main" id="{4BF0D07A-408D-478A-9ED6-732F4432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1940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A62F"/>
                </a:solidFill>
              </a:defRPr>
            </a:pPr>
            <a:r>
              <a:rPr sz="1650" b="1">
                <a:solidFill>
                  <a:srgbClr val="E7A62F"/>
                </a:solidFill>
              </a:rPr>
              <a:t>Search Console diário</a:t>
            </a:r>
          </a:p>
        </p:txBody>
      </p:sp>
      <p:sp>
        <p:nvSpPr>
          <p:cNvPr id="24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2B6C2A07-C6F8-45BB-8327-76A26A34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4F8EE"/>
                </a:solidFill>
              </a:defRPr>
            </a:pPr>
            <a:r>
              <a:rPr sz="1650">
                <a:solidFill>
                  <a:srgbClr val="D4F8EE"/>
                </a:solidFill>
              </a:rPr>
              <a:t>↓</a:t>
            </a:r>
          </a:p>
        </p:txBody>
      </p:sp>
      <p:sp>
        <p:nvSpPr>
          <p:cNvPr id="25" name="loop-2">
            <a:extLst xmlns:a="http://schemas.openxmlformats.org/drawingml/2006/main">
              <a:ext uri="{FF2B5EF4-FFF2-40B4-BE49-F238E27FC236}">
                <a16:creationId xmlns:a16="http://schemas.microsoft.com/office/drawing/2014/main" id="{A7BEB492-F76E-4584-B144-E8B7EAE0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052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Detecta queda de posição/CTR</a:t>
            </a:r>
          </a:p>
        </p:txBody>
      </p:sp>
      <p:sp>
        <p:nvSpPr>
          <p:cNvPr id="26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AA7B8F9F-87B9-4698-B544-F8567846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2905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4F8EE"/>
                </a:solidFill>
              </a:defRPr>
            </a:pPr>
            <a:r>
              <a:rPr sz="1650">
                <a:solidFill>
                  <a:srgbClr val="D4F8EE"/>
                </a:solidFill>
              </a:rPr>
              <a:t>↓</a:t>
            </a:r>
          </a:p>
        </p:txBody>
      </p:sp>
      <p:sp>
        <p:nvSpPr>
          <p:cNvPr id="27" name="loop-3">
            <a:extLst xmlns:a="http://schemas.openxmlformats.org/drawingml/2006/main">
              <a:ext uri="{FF2B5EF4-FFF2-40B4-BE49-F238E27FC236}">
                <a16:creationId xmlns:a16="http://schemas.microsoft.com/office/drawing/2014/main" id="{56C93BCC-8243-4FA4-A3E1-68E25065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Refaz SERP + briefing</a:t>
            </a:r>
          </a:p>
        </p:txBody>
      </p:sp>
      <p:sp>
        <p:nvSpPr>
          <p:cNvPr id="28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A604CB85-CA66-4D1A-95F7-9288DC48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9580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4F8EE"/>
                </a:solidFill>
              </a:defRPr>
            </a:pPr>
            <a:r>
              <a:rPr sz="1650">
                <a:solidFill>
                  <a:srgbClr val="D4F8EE"/>
                </a:solidFill>
              </a:rPr>
              <a:t>↓</a:t>
            </a:r>
          </a:p>
        </p:txBody>
      </p:sp>
      <p:sp>
        <p:nvSpPr>
          <p:cNvPr id="29" name="loop-4">
            <a:extLst xmlns:a="http://schemas.openxmlformats.org/drawingml/2006/main">
              <a:ext uri="{FF2B5EF4-FFF2-40B4-BE49-F238E27FC236}">
                <a16:creationId xmlns:a16="http://schemas.microsoft.com/office/drawing/2014/main" id="{10E51BBB-C919-46D2-9C72-3D132294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387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Regera com 3 IAs</a:t>
            </a:r>
          </a:p>
        </p:txBody>
      </p:sp>
      <p:sp>
        <p:nvSpPr>
          <p:cNvPr id="30" name="loop-arrow-4">
            <a:extLst xmlns:a="http://schemas.openxmlformats.org/drawingml/2006/main">
              <a:ext uri="{FF2B5EF4-FFF2-40B4-BE49-F238E27FC236}">
                <a16:creationId xmlns:a16="http://schemas.microsoft.com/office/drawing/2014/main" id="{A6DD1B83-26BB-43B0-AF28-58735433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6255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4F8EE"/>
                </a:solidFill>
              </a:defRPr>
            </a:pPr>
            <a:r>
              <a:rPr sz="1650">
                <a:solidFill>
                  <a:srgbClr val="D4F8EE"/>
                </a:solidFill>
              </a:rPr>
              <a:t>↓</a:t>
            </a:r>
          </a:p>
        </p:txBody>
      </p:sp>
      <p:sp>
        <p:nvSpPr>
          <p:cNvPr id="31" name="loop-5">
            <a:extLst xmlns:a="http://schemas.openxmlformats.org/drawingml/2006/main">
              <a:ext uri="{FF2B5EF4-FFF2-40B4-BE49-F238E27FC236}">
                <a16:creationId xmlns:a16="http://schemas.microsoft.com/office/drawing/2014/main" id="{303778EE-12E7-4696-8757-D2D1EA21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5245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4F8EE"/>
                </a:solidFill>
              </a:defRPr>
            </a:pPr>
            <a:r>
              <a:rPr sz="1500" b="1">
                <a:solidFill>
                  <a:srgbClr val="D4F8EE"/>
                </a:solidFill>
              </a:rPr>
              <a:t>Nova rodada A/B · 10% no controle anterior</a:t>
            </a:r>
          </a:p>
        </p:txBody>
      </p:sp>
      <p:sp>
        <p:nvSpPr>
          <p:cNvPr id="32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93E260F6-BA86-4A69-9705-BAC410D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33" name="footer-right-11">
            <a:extLst xmlns:a="http://schemas.openxmlformats.org/drawingml/2006/main">
              <a:ext uri="{FF2B5EF4-FFF2-40B4-BE49-F238E27FC236}">
                <a16:creationId xmlns:a16="http://schemas.microsoft.com/office/drawing/2014/main" id="{39D8752F-3504-4B4F-BF06-3B63F8EA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8268616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90D0D90-934C-43F0-8AFD-5BF2D04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pr-ximos-passos">
            <a:extLst xmlns:a="http://schemas.openxmlformats.org/drawingml/2006/main">
              <a:ext uri="{FF2B5EF4-FFF2-40B4-BE49-F238E27FC236}">
                <a16:creationId xmlns:a16="http://schemas.microsoft.com/office/drawing/2014/main" id="{A05769E7-5F6A-489B-A9B9-A2097F35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PRÓXIMOS PASSOS</a:t>
            </a:r>
          </a:p>
        </p:txBody>
      </p:sp>
      <p:sp>
        <p:nvSpPr>
          <p:cNvPr id="3" name="slide-title-pr-ximos-passos">
            <a:extLst xmlns:a="http://schemas.openxmlformats.org/drawingml/2006/main">
              <a:ext uri="{FF2B5EF4-FFF2-40B4-BE49-F238E27FC236}">
                <a16:creationId xmlns:a16="http://schemas.microsoft.com/office/drawing/2014/main" id="{5403F1A3-53C6-49AF-A182-541F2944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A2E"/>
                </a:solidFill>
              </a:defRPr>
            </a:pPr>
            <a:r>
              <a:rPr sz="3750" b="1">
                <a:solidFill>
                  <a:srgbClr val="132A2E"/>
                </a:solidFill>
              </a:rPr>
              <a:t>Cinco passos para destravar publicação e abrir leitura do Search Console.</a:t>
            </a:r>
          </a:p>
        </p:txBody>
      </p:sp>
      <p:sp>
        <p:nvSpPr>
          <p:cNvPr id="4" name="slide-subtitle-pr-ximos-passos">
            <a:extLst xmlns:a="http://schemas.openxmlformats.org/drawingml/2006/main">
              <a:ext uri="{FF2B5EF4-FFF2-40B4-BE49-F238E27FC236}">
                <a16:creationId xmlns:a16="http://schemas.microsoft.com/office/drawing/2014/main" id="{E3273DBA-DF2F-4399-96B7-1B4DAE9F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A6D"/>
                </a:solidFill>
              </a:defRPr>
            </a:pPr>
            <a:r>
              <a:rPr sz="1800">
                <a:solidFill>
                  <a:srgbClr val="5D6A6D"/>
                </a:solidFill>
              </a:rPr>
              <a:t>Cada passo com responsável claro. Aprovado este plano, o sistema começa a operar.</a:t>
            </a:r>
          </a:p>
        </p:txBody>
      </p:sp>
      <p:sp>
        <p:nvSpPr>
          <p:cNvPr id="5" name="next-01">
            <a:extLst xmlns:a="http://schemas.openxmlformats.org/drawingml/2006/main">
              <a:ext uri="{FF2B5EF4-FFF2-40B4-BE49-F238E27FC236}">
                <a16:creationId xmlns:a16="http://schemas.microsoft.com/office/drawing/2014/main" id="{E97679C5-AC58-469B-AA55-05C908A3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8860"/>
            <a:ext cx="16649700" cy="85344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next-num-01">
            <a:extLst xmlns:a="http://schemas.openxmlformats.org/drawingml/2006/main">
              <a:ext uri="{FF2B5EF4-FFF2-40B4-BE49-F238E27FC236}">
                <a16:creationId xmlns:a16="http://schemas.microsoft.com/office/drawing/2014/main" id="{282C41E3-4AC1-4535-8DD5-A7B3A8D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533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56F"/>
                </a:solidFill>
              </a:defRPr>
            </a:pPr>
            <a:r>
              <a:rPr sz="2700" b="1">
                <a:solidFill>
                  <a:srgbClr val="08756F"/>
                </a:solidFill>
              </a:rPr>
              <a:t>01</a:t>
            </a:r>
          </a:p>
        </p:txBody>
      </p:sp>
      <p:sp>
        <p:nvSpPr>
          <p:cNvPr id="7" name="next-title-01">
            <a:extLst xmlns:a="http://schemas.openxmlformats.org/drawingml/2006/main">
              <a:ext uri="{FF2B5EF4-FFF2-40B4-BE49-F238E27FC236}">
                <a16:creationId xmlns:a16="http://schemas.microsoft.com/office/drawing/2014/main" id="{74C22ED9-E05B-4CE1-BEB4-E77457B3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95550"/>
            <a:ext cx="1249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Rodar Fase 0 com os seeds da estratégia</a:t>
            </a:r>
          </a:p>
        </p:txBody>
      </p:sp>
      <p:sp>
        <p:nvSpPr>
          <p:cNvPr id="8" name="next-desc-01">
            <a:extLst xmlns:a="http://schemas.openxmlformats.org/drawingml/2006/main">
              <a:ext uri="{FF2B5EF4-FFF2-40B4-BE49-F238E27FC236}">
                <a16:creationId xmlns:a16="http://schemas.microsoft.com/office/drawing/2014/main" id="{15A7FFF8-D5DB-40EC-BEB0-899B31DF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81300"/>
            <a:ext cx="1249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Disparar pipeline de pesquisa para os 10 termos do lote. Resultado: 10 briefings prontos no Supabase.</a:t>
            </a:r>
          </a:p>
        </p:txBody>
      </p:sp>
      <p:sp>
        <p:nvSpPr>
          <p:cNvPr id="9" name="next-owner-label-01">
            <a:extLst xmlns:a="http://schemas.openxmlformats.org/drawingml/2006/main">
              <a:ext uri="{FF2B5EF4-FFF2-40B4-BE49-F238E27FC236}">
                <a16:creationId xmlns:a16="http://schemas.microsoft.com/office/drawing/2014/main" id="{DBFFCCF3-86FC-4CF1-98C2-7FDB5B5A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2495550"/>
            <a:ext cx="2667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A6D"/>
                </a:solidFill>
              </a:defRPr>
            </a:pPr>
            <a:r>
              <a:rPr sz="825" b="1">
                <a:solidFill>
                  <a:srgbClr val="5D6A6D"/>
                </a:solidFill>
              </a:rPr>
              <a:t>RESPONSÁVEL</a:t>
            </a:r>
          </a:p>
        </p:txBody>
      </p:sp>
      <p:sp>
        <p:nvSpPr>
          <p:cNvPr id="10" name="next-owner-val-01">
            <a:extLst xmlns:a="http://schemas.openxmlformats.org/drawingml/2006/main">
              <a:ext uri="{FF2B5EF4-FFF2-40B4-BE49-F238E27FC236}">
                <a16:creationId xmlns:a16="http://schemas.microsoft.com/office/drawing/2014/main" id="{D385658C-B4C1-4198-9DE6-15BCDB3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26479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56F"/>
                </a:solidFill>
              </a:defRPr>
            </a:pPr>
            <a:r>
              <a:rPr sz="1200" b="1">
                <a:solidFill>
                  <a:srgbClr val="08756F"/>
                </a:solidFill>
              </a:rPr>
              <a:t>Estratégia + Sistema</a:t>
            </a:r>
          </a:p>
        </p:txBody>
      </p:sp>
      <p:sp>
        <p:nvSpPr>
          <p:cNvPr id="11" name="next-02">
            <a:extLst xmlns:a="http://schemas.openxmlformats.org/drawingml/2006/main">
              <a:ext uri="{FF2B5EF4-FFF2-40B4-BE49-F238E27FC236}">
                <a16:creationId xmlns:a16="http://schemas.microsoft.com/office/drawing/2014/main" id="{D78F0F45-7EA9-43E9-AF5C-2DE49FA5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6649700" cy="85344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next-num-02">
            <a:extLst xmlns:a="http://schemas.openxmlformats.org/drawingml/2006/main">
              <a:ext uri="{FF2B5EF4-FFF2-40B4-BE49-F238E27FC236}">
                <a16:creationId xmlns:a16="http://schemas.microsoft.com/office/drawing/2014/main" id="{996302D6-A250-44F9-8311-CBA0EACA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533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56F"/>
                </a:solidFill>
              </a:defRPr>
            </a:pPr>
            <a:r>
              <a:rPr sz="2700" b="1">
                <a:solidFill>
                  <a:srgbClr val="08756F"/>
                </a:solidFill>
              </a:rPr>
              <a:t>02</a:t>
            </a:r>
          </a:p>
        </p:txBody>
      </p:sp>
      <p:sp>
        <p:nvSpPr>
          <p:cNvPr id="13" name="next-title-02">
            <a:extLst xmlns:a="http://schemas.openxmlformats.org/drawingml/2006/main">
              <a:ext uri="{FF2B5EF4-FFF2-40B4-BE49-F238E27FC236}">
                <a16:creationId xmlns:a16="http://schemas.microsoft.com/office/drawing/2014/main" id="{E8DC1C7C-63FC-4AD5-AABD-9C71BE17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67100"/>
            <a:ext cx="1249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Gerar 10 LPs com 3 IAs cada</a:t>
            </a:r>
          </a:p>
        </p:txBody>
      </p:sp>
      <p:sp>
        <p:nvSpPr>
          <p:cNvPr id="14" name="next-desc-02">
            <a:extLst xmlns:a="http://schemas.openxmlformats.org/drawingml/2006/main">
              <a:ext uri="{FF2B5EF4-FFF2-40B4-BE49-F238E27FC236}">
                <a16:creationId xmlns:a16="http://schemas.microsoft.com/office/drawing/2014/main" id="{868A57DC-0066-4853-97FB-125002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52850"/>
            <a:ext cx="1249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Disparar a geração para cada briefing. Resultado: 30 variações filtradas pelo quality gate.</a:t>
            </a:r>
          </a:p>
        </p:txBody>
      </p:sp>
      <p:sp>
        <p:nvSpPr>
          <p:cNvPr id="15" name="next-owner-label-02">
            <a:extLst xmlns:a="http://schemas.openxmlformats.org/drawingml/2006/main">
              <a:ext uri="{FF2B5EF4-FFF2-40B4-BE49-F238E27FC236}">
                <a16:creationId xmlns:a16="http://schemas.microsoft.com/office/drawing/2014/main" id="{7F1FD68E-E007-494C-91F4-10D5E43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467100"/>
            <a:ext cx="2667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A6D"/>
                </a:solidFill>
              </a:defRPr>
            </a:pPr>
            <a:r>
              <a:rPr sz="825" b="1">
                <a:solidFill>
                  <a:srgbClr val="5D6A6D"/>
                </a:solidFill>
              </a:rPr>
              <a:t>RESPONSÁVEL</a:t>
            </a:r>
          </a:p>
        </p:txBody>
      </p:sp>
      <p:sp>
        <p:nvSpPr>
          <p:cNvPr id="16" name="next-owner-val-02">
            <a:extLst xmlns:a="http://schemas.openxmlformats.org/drawingml/2006/main">
              <a:ext uri="{FF2B5EF4-FFF2-40B4-BE49-F238E27FC236}">
                <a16:creationId xmlns:a16="http://schemas.microsoft.com/office/drawing/2014/main" id="{43238A06-DE3A-4E9E-A026-95C2CB7B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6195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56F"/>
                </a:solidFill>
              </a:defRPr>
            </a:pPr>
            <a:r>
              <a:rPr sz="1200" b="1">
                <a:solidFill>
                  <a:srgbClr val="08756F"/>
                </a:solidFill>
              </a:rPr>
              <a:t>Sistema</a:t>
            </a:r>
          </a:p>
        </p:txBody>
      </p:sp>
      <p:sp>
        <p:nvSpPr>
          <p:cNvPr id="17" name="next-03">
            <a:extLst xmlns:a="http://schemas.openxmlformats.org/drawingml/2006/main">
              <a:ext uri="{FF2B5EF4-FFF2-40B4-BE49-F238E27FC236}">
                <a16:creationId xmlns:a16="http://schemas.microsoft.com/office/drawing/2014/main" id="{ACCD6A7B-8B0D-406E-AF24-1068518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4340"/>
            <a:ext cx="16649700" cy="85344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next-num-03">
            <a:extLst xmlns:a="http://schemas.openxmlformats.org/drawingml/2006/main">
              <a:ext uri="{FF2B5EF4-FFF2-40B4-BE49-F238E27FC236}">
                <a16:creationId xmlns:a16="http://schemas.microsoft.com/office/drawing/2014/main" id="{8F06ACBB-501D-49A2-933E-4D4CDF9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533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7A62F"/>
                </a:solidFill>
              </a:defRPr>
            </a:pPr>
            <a:r>
              <a:rPr sz="2700" b="1">
                <a:solidFill>
                  <a:srgbClr val="E7A62F"/>
                </a:solidFill>
              </a:rPr>
              <a:t>03</a:t>
            </a:r>
          </a:p>
        </p:txBody>
      </p:sp>
      <p:sp>
        <p:nvSpPr>
          <p:cNvPr id="19" name="next-title-03">
            <a:extLst xmlns:a="http://schemas.openxmlformats.org/drawingml/2006/main">
              <a:ext uri="{FF2B5EF4-FFF2-40B4-BE49-F238E27FC236}">
                <a16:creationId xmlns:a16="http://schemas.microsoft.com/office/drawing/2014/main" id="{AB18FDF4-CF65-4384-A3DC-7BCA4C21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38650"/>
            <a:ext cx="1249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Publicar em bloco e abrir A/B</a:t>
            </a:r>
          </a:p>
        </p:txBody>
      </p:sp>
      <p:sp>
        <p:nvSpPr>
          <p:cNvPr id="20" name="next-desc-03">
            <a:extLst xmlns:a="http://schemas.openxmlformats.org/drawingml/2006/main">
              <a:ext uri="{FF2B5EF4-FFF2-40B4-BE49-F238E27FC236}">
                <a16:creationId xmlns:a16="http://schemas.microsoft.com/office/drawing/2014/main" id="{C843DBCE-2875-47D7-9C0A-4D6A13DD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24400"/>
            <a:ext cx="1249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Subir as 10 URLs no domínio ideiamultichat.com.br/blog/ via proxy reverso. Sistema distribui visitantes.</a:t>
            </a:r>
          </a:p>
        </p:txBody>
      </p:sp>
      <p:sp>
        <p:nvSpPr>
          <p:cNvPr id="21" name="next-owner-label-03">
            <a:extLst xmlns:a="http://schemas.openxmlformats.org/drawingml/2006/main">
              <a:ext uri="{FF2B5EF4-FFF2-40B4-BE49-F238E27FC236}">
                <a16:creationId xmlns:a16="http://schemas.microsoft.com/office/drawing/2014/main" id="{F3956D91-2EC7-45EB-A034-09B10B8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4438650"/>
            <a:ext cx="2667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A6D"/>
                </a:solidFill>
              </a:defRPr>
            </a:pPr>
            <a:r>
              <a:rPr sz="825" b="1">
                <a:solidFill>
                  <a:srgbClr val="5D6A6D"/>
                </a:solidFill>
              </a:rPr>
              <a:t>RESPONSÁVEL</a:t>
            </a:r>
          </a:p>
        </p:txBody>
      </p:sp>
      <p:sp>
        <p:nvSpPr>
          <p:cNvPr id="22" name="next-owner-val-03">
            <a:extLst xmlns:a="http://schemas.openxmlformats.org/drawingml/2006/main">
              <a:ext uri="{FF2B5EF4-FFF2-40B4-BE49-F238E27FC236}">
                <a16:creationId xmlns:a16="http://schemas.microsoft.com/office/drawing/2014/main" id="{2739DDE7-4E0B-48F8-A50A-37203B1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45720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A62F"/>
                </a:solidFill>
              </a:defRPr>
            </a:pPr>
            <a:r>
              <a:rPr sz="1200" b="1">
                <a:solidFill>
                  <a:srgbClr val="E7A62F"/>
                </a:solidFill>
              </a:rPr>
              <a:t>Sistema + Produto</a:t>
            </a:r>
          </a:p>
        </p:txBody>
      </p:sp>
      <p:sp>
        <p:nvSpPr>
          <p:cNvPr id="23" name="next-04">
            <a:extLst xmlns:a="http://schemas.openxmlformats.org/drawingml/2006/main">
              <a:ext uri="{FF2B5EF4-FFF2-40B4-BE49-F238E27FC236}">
                <a16:creationId xmlns:a16="http://schemas.microsoft.com/office/drawing/2014/main" id="{B34D2CE5-800E-4026-A0E6-5DA7A81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2080"/>
            <a:ext cx="16649700" cy="85344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next-num-04">
            <a:extLst xmlns:a="http://schemas.openxmlformats.org/drawingml/2006/main">
              <a:ext uri="{FF2B5EF4-FFF2-40B4-BE49-F238E27FC236}">
                <a16:creationId xmlns:a16="http://schemas.microsoft.com/office/drawing/2014/main" id="{4E1BBF31-BD81-4FD6-B4C2-00FC5D21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10200"/>
            <a:ext cx="533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168C9"/>
                </a:solidFill>
              </a:defRPr>
            </a:pPr>
            <a:r>
              <a:rPr sz="2700" b="1">
                <a:solidFill>
                  <a:srgbClr val="3168C9"/>
                </a:solidFill>
              </a:rPr>
              <a:t>04</a:t>
            </a:r>
          </a:p>
        </p:txBody>
      </p:sp>
      <p:sp>
        <p:nvSpPr>
          <p:cNvPr id="25" name="next-title-04">
            <a:extLst xmlns:a="http://schemas.openxmlformats.org/drawingml/2006/main">
              <a:ext uri="{FF2B5EF4-FFF2-40B4-BE49-F238E27FC236}">
                <a16:creationId xmlns:a16="http://schemas.microsoft.com/office/drawing/2014/main" id="{1F8F6C01-A577-440D-B736-4C102E45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10200"/>
            <a:ext cx="1249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Abrir leitura do Search Console em 14 dias</a:t>
            </a:r>
          </a:p>
        </p:txBody>
      </p:sp>
      <p:sp>
        <p:nvSpPr>
          <p:cNvPr id="26" name="next-desc-04">
            <a:extLst xmlns:a="http://schemas.openxmlformats.org/drawingml/2006/main">
              <a:ext uri="{FF2B5EF4-FFF2-40B4-BE49-F238E27FC236}">
                <a16:creationId xmlns:a16="http://schemas.microsoft.com/office/drawing/2014/main" id="{B3E0CCC1-CC43-4851-A687-51B4083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95950"/>
            <a:ext cx="1249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Janela mínima para sinal estatístico. Dashboard mostra KPIs por LP, vencedoras por IA, candidatos a refresh.</a:t>
            </a:r>
          </a:p>
        </p:txBody>
      </p:sp>
      <p:sp>
        <p:nvSpPr>
          <p:cNvPr id="27" name="next-owner-label-04">
            <a:extLst xmlns:a="http://schemas.openxmlformats.org/drawingml/2006/main">
              <a:ext uri="{FF2B5EF4-FFF2-40B4-BE49-F238E27FC236}">
                <a16:creationId xmlns:a16="http://schemas.microsoft.com/office/drawing/2014/main" id="{CEFFF0AD-0634-46DD-AC12-2E7D7A99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5410200"/>
            <a:ext cx="2667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A6D"/>
                </a:solidFill>
              </a:defRPr>
            </a:pPr>
            <a:r>
              <a:rPr sz="825" b="1">
                <a:solidFill>
                  <a:srgbClr val="5D6A6D"/>
                </a:solidFill>
              </a:rPr>
              <a:t>RESPONSÁVEL</a:t>
            </a:r>
          </a:p>
        </p:txBody>
      </p:sp>
      <p:sp>
        <p:nvSpPr>
          <p:cNvPr id="28" name="next-owner-val-04">
            <a:extLst xmlns:a="http://schemas.openxmlformats.org/drawingml/2006/main">
              <a:ext uri="{FF2B5EF4-FFF2-40B4-BE49-F238E27FC236}">
                <a16:creationId xmlns:a16="http://schemas.microsoft.com/office/drawing/2014/main" id="{23DAB237-B615-4015-B157-91746518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55435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68C9"/>
                </a:solidFill>
              </a:defRPr>
            </a:pPr>
            <a:r>
              <a:rPr sz="1200" b="1">
                <a:solidFill>
                  <a:srgbClr val="3168C9"/>
                </a:solidFill>
              </a:rPr>
              <a:t>Estratégia</a:t>
            </a:r>
          </a:p>
        </p:txBody>
      </p:sp>
      <p:sp>
        <p:nvSpPr>
          <p:cNvPr id="29" name="next-05">
            <a:extLst xmlns:a="http://schemas.openxmlformats.org/drawingml/2006/main">
              <a:ext uri="{FF2B5EF4-FFF2-40B4-BE49-F238E27FC236}">
                <a16:creationId xmlns:a16="http://schemas.microsoft.com/office/drawing/2014/main" id="{C6216DAD-5AA0-4FEF-805B-F28814CC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9820"/>
            <a:ext cx="16649700" cy="85344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next-num-05">
            <a:extLst xmlns:a="http://schemas.openxmlformats.org/drawingml/2006/main">
              <a:ext uri="{FF2B5EF4-FFF2-40B4-BE49-F238E27FC236}">
                <a16:creationId xmlns:a16="http://schemas.microsoft.com/office/drawing/2014/main" id="{3E546B22-D8D5-42F4-9B5F-22A56BF2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362700"/>
            <a:ext cx="533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8694E"/>
                </a:solidFill>
              </a:defRPr>
            </a:pPr>
            <a:r>
              <a:rPr sz="2700" b="1">
                <a:solidFill>
                  <a:srgbClr val="D8694E"/>
                </a:solidFill>
              </a:rPr>
              <a:t>05</a:t>
            </a:r>
          </a:p>
        </p:txBody>
      </p:sp>
      <p:sp>
        <p:nvSpPr>
          <p:cNvPr id="31" name="next-title-05">
            <a:extLst xmlns:a="http://schemas.openxmlformats.org/drawingml/2006/main">
              <a:ext uri="{FF2B5EF4-FFF2-40B4-BE49-F238E27FC236}">
                <a16:creationId xmlns:a16="http://schemas.microsoft.com/office/drawing/2014/main" id="{4B02C685-E8E0-441A-913B-677481F1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362700"/>
            <a:ext cx="1249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Definir cadência semanal pós-MVP</a:t>
            </a:r>
          </a:p>
        </p:txBody>
      </p:sp>
      <p:sp>
        <p:nvSpPr>
          <p:cNvPr id="32" name="next-desc-05">
            <a:extLst xmlns:a="http://schemas.openxmlformats.org/drawingml/2006/main">
              <a:ext uri="{FF2B5EF4-FFF2-40B4-BE49-F238E27FC236}">
                <a16:creationId xmlns:a16="http://schemas.microsoft.com/office/drawing/2014/main" id="{83ADA8B4-2A53-462E-9601-929D3D65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667500"/>
            <a:ext cx="1249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A6D"/>
                </a:solidFill>
              </a:defRPr>
            </a:pPr>
            <a:r>
              <a:rPr sz="1200">
                <a:solidFill>
                  <a:srgbClr val="5D6A6D"/>
                </a:solidFill>
              </a:rPr>
              <a:t>A partir do GSC, decidir próximas rodadas (clínicas, odontologia, segundo lote contábil/imobiliárias) e blog automatizado.</a:t>
            </a:r>
          </a:p>
        </p:txBody>
      </p:sp>
      <p:sp>
        <p:nvSpPr>
          <p:cNvPr id="33" name="next-owner-label-05">
            <a:extLst xmlns:a="http://schemas.openxmlformats.org/drawingml/2006/main">
              <a:ext uri="{FF2B5EF4-FFF2-40B4-BE49-F238E27FC236}">
                <a16:creationId xmlns:a16="http://schemas.microsoft.com/office/drawing/2014/main" id="{3648C778-8C71-4337-9256-8B1362A5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6362700"/>
            <a:ext cx="2667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A6D"/>
                </a:solidFill>
              </a:defRPr>
            </a:pPr>
            <a:r>
              <a:rPr sz="825" b="1">
                <a:solidFill>
                  <a:srgbClr val="5D6A6D"/>
                </a:solidFill>
              </a:rPr>
              <a:t>RESPONSÁVEL</a:t>
            </a:r>
          </a:p>
        </p:txBody>
      </p:sp>
      <p:sp>
        <p:nvSpPr>
          <p:cNvPr id="34" name="next-owner-val-05">
            <a:extLst xmlns:a="http://schemas.openxmlformats.org/drawingml/2006/main">
              <a:ext uri="{FF2B5EF4-FFF2-40B4-BE49-F238E27FC236}">
                <a16:creationId xmlns:a16="http://schemas.microsoft.com/office/drawing/2014/main" id="{6B89F9DC-53F5-4768-8198-F8B41FB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65151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94E"/>
                </a:solidFill>
              </a:defRPr>
            </a:pPr>
            <a:r>
              <a:rPr sz="1200" b="1">
                <a:solidFill>
                  <a:srgbClr val="D8694E"/>
                </a:solidFill>
              </a:rPr>
              <a:t>Estratégia + Comercial</a:t>
            </a:r>
          </a:p>
        </p:txBody>
      </p:sp>
      <p:sp>
        <p:nvSpPr>
          <p:cNvPr id="35" name="footer-left-12">
            <a:extLst xmlns:a="http://schemas.openxmlformats.org/drawingml/2006/main">
              <a:ext uri="{FF2B5EF4-FFF2-40B4-BE49-F238E27FC236}">
                <a16:creationId xmlns:a16="http://schemas.microsoft.com/office/drawing/2014/main" id="{BCD680A5-EB18-4E83-861A-81E55694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36" name="footer-right-12">
            <a:extLst xmlns:a="http://schemas.openxmlformats.org/drawingml/2006/main">
              <a:ext uri="{FF2B5EF4-FFF2-40B4-BE49-F238E27FC236}">
                <a16:creationId xmlns:a16="http://schemas.microsoft.com/office/drawing/2014/main" id="{4C5A9A27-7A4E-46AA-876C-BAE57E27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7606836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8BBA812-C379-4E64-A141-D09B6A32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anexo-a-comparativo-de-nichos">
            <a:extLst xmlns:a="http://schemas.openxmlformats.org/drawingml/2006/main">
              <a:ext uri="{FF2B5EF4-FFF2-40B4-BE49-F238E27FC236}">
                <a16:creationId xmlns:a16="http://schemas.microsoft.com/office/drawing/2014/main" id="{3C88BC8D-E70D-40FA-A21A-132650F9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3924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ANEXO A · COMPARATIVO DE NICHOS</a:t>
            </a:r>
          </a:p>
        </p:txBody>
      </p:sp>
      <p:sp>
        <p:nvSpPr>
          <p:cNvPr id="3" name="slide-title-anexo-a-comparativo-de-nichos">
            <a:extLst xmlns:a="http://schemas.openxmlformats.org/drawingml/2006/main">
              <a:ext uri="{FF2B5EF4-FFF2-40B4-BE49-F238E27FC236}">
                <a16:creationId xmlns:a16="http://schemas.microsoft.com/office/drawing/2014/main" id="{E52B059A-50D9-4B4D-9EBB-992B7727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A2E"/>
                </a:solidFill>
              </a:defRPr>
            </a:pPr>
            <a:r>
              <a:rPr sz="2700" b="1">
                <a:solidFill>
                  <a:srgbClr val="132A2E"/>
                </a:solidFill>
              </a:rPr>
              <a:t>Detalhamento dos 4 nichos prioridade A — termos, resultados, sinal/ruído e recomendação.</a:t>
            </a:r>
          </a:p>
        </p:txBody>
      </p:sp>
      <p:sp>
        <p:nvSpPr>
          <p:cNvPr id="4" name="slide-subtitle-empty-anexo-a-comparativo-de-nichos">
            <a:extLst xmlns:a="http://schemas.openxmlformats.org/drawingml/2006/main">
              <a:ext uri="{FF2B5EF4-FFF2-40B4-BE49-F238E27FC236}">
                <a16:creationId xmlns:a16="http://schemas.microsoft.com/office/drawing/2014/main" id="{496550A1-4023-4C57-92A3-F5B84EA7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cell-app-a-head-0">
            <a:extLst xmlns:a="http://schemas.openxmlformats.org/drawingml/2006/main">
              <a:ext uri="{FF2B5EF4-FFF2-40B4-BE49-F238E27FC236}">
                <a16:creationId xmlns:a16="http://schemas.microsoft.com/office/drawing/2014/main" id="{B4C579A4-F0FA-4544-83B7-4BC893E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72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Nicho</a:t>
            </a:r>
          </a:p>
        </p:txBody>
      </p:sp>
      <p:sp>
        <p:nvSpPr>
          <p:cNvPr id="6" name="cell-app-a-head-1">
            <a:extLst xmlns:a="http://schemas.openxmlformats.org/drawingml/2006/main">
              <a:ext uri="{FF2B5EF4-FFF2-40B4-BE49-F238E27FC236}">
                <a16:creationId xmlns:a16="http://schemas.microsoft.com/office/drawing/2014/main" id="{88F3E145-A2F5-4AB1-99C2-E79D725A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002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Termos</a:t>
            </a:r>
          </a:p>
        </p:txBody>
      </p:sp>
      <p:sp>
        <p:nvSpPr>
          <p:cNvPr id="7" name="cell-app-a-head-2">
            <a:extLst xmlns:a="http://schemas.openxmlformats.org/drawingml/2006/main">
              <a:ext uri="{FF2B5EF4-FFF2-40B4-BE49-F238E27FC236}">
                <a16:creationId xmlns:a16="http://schemas.microsoft.com/office/drawing/2014/main" id="{4295BFD3-76FB-4415-8D98-6F95DD08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Resultados</a:t>
            </a:r>
          </a:p>
        </p:txBody>
      </p:sp>
      <p:sp>
        <p:nvSpPr>
          <p:cNvPr id="8" name="cell-app-a-head-3">
            <a:extLst xmlns:a="http://schemas.openxmlformats.org/drawingml/2006/main">
              <a:ext uri="{FF2B5EF4-FFF2-40B4-BE49-F238E27FC236}">
                <a16:creationId xmlns:a16="http://schemas.microsoft.com/office/drawing/2014/main" id="{75F34C6E-40C7-40B3-BF66-CD3A447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Sinal</a:t>
            </a:r>
          </a:p>
        </p:txBody>
      </p:sp>
      <p:sp>
        <p:nvSpPr>
          <p:cNvPr id="9" name="cell-app-a-head-4">
            <a:extLst xmlns:a="http://schemas.openxmlformats.org/drawingml/2006/main">
              <a:ext uri="{FF2B5EF4-FFF2-40B4-BE49-F238E27FC236}">
                <a16:creationId xmlns:a16="http://schemas.microsoft.com/office/drawing/2014/main" id="{A28C8C10-7327-4971-833B-A4BAE56D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Ruído</a:t>
            </a:r>
          </a:p>
        </p:txBody>
      </p:sp>
      <p:sp>
        <p:nvSpPr>
          <p:cNvPr id="10" name="cell-app-a-head-5">
            <a:extLst xmlns:a="http://schemas.openxmlformats.org/drawingml/2006/main">
              <a:ext uri="{FF2B5EF4-FFF2-40B4-BE49-F238E27FC236}">
                <a16:creationId xmlns:a16="http://schemas.microsoft.com/office/drawing/2014/main" id="{2DE17F9F-16BB-43C1-A829-4BC61AA4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000250"/>
            <a:ext cx="624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4B4A"/>
                </a:solidFill>
              </a:defRPr>
            </a:pPr>
            <a:r>
              <a:rPr sz="1350" b="1">
                <a:solidFill>
                  <a:srgbClr val="064B4A"/>
                </a:solidFill>
              </a:rPr>
              <a:t>Recomendação</a:t>
            </a:r>
          </a:p>
        </p:txBody>
      </p:sp>
      <p:sp>
        <p:nvSpPr>
          <p:cNvPr id="11" name="app-a-rule-0">
            <a:extLst xmlns:a="http://schemas.openxmlformats.org/drawingml/2006/main">
              <a:ext uri="{FF2B5EF4-FFF2-40B4-BE49-F238E27FC236}">
                <a16:creationId xmlns:a16="http://schemas.microsoft.com/office/drawing/2014/main" id="{6644AE61-48C3-48C7-9797-08BEC0FD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12" name="cell-app-a-1-0">
            <a:extLst xmlns:a="http://schemas.openxmlformats.org/drawingml/2006/main">
              <a:ext uri="{FF2B5EF4-FFF2-40B4-BE49-F238E27FC236}">
                <a16:creationId xmlns:a16="http://schemas.microsoft.com/office/drawing/2014/main" id="{1C19CAEF-EC5E-4C8A-AFD3-1DCFDD07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724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A2E"/>
                </a:solidFill>
              </a:defRPr>
            </a:pPr>
            <a:r>
              <a:rPr sz="1500" b="1">
                <a:solidFill>
                  <a:srgbClr val="132A2E"/>
                </a:solidFill>
              </a:rPr>
              <a:t>Contabilidade</a:t>
            </a:r>
          </a:p>
        </p:txBody>
      </p:sp>
      <p:sp>
        <p:nvSpPr>
          <p:cNvPr id="13" name="cell-app-a-1-1">
            <a:extLst xmlns:a="http://schemas.openxmlformats.org/drawingml/2006/main">
              <a:ext uri="{FF2B5EF4-FFF2-40B4-BE49-F238E27FC236}">
                <a16:creationId xmlns:a16="http://schemas.microsoft.com/office/drawing/2014/main" id="{666E3582-E25A-4E42-82C8-B0ED569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</a:t>
            </a:r>
          </a:p>
        </p:txBody>
      </p:sp>
      <p:sp>
        <p:nvSpPr>
          <p:cNvPr id="14" name="cell-app-a-1-2">
            <a:extLst xmlns:a="http://schemas.openxmlformats.org/drawingml/2006/main">
              <a:ext uri="{FF2B5EF4-FFF2-40B4-BE49-F238E27FC236}">
                <a16:creationId xmlns:a16="http://schemas.microsoft.com/office/drawing/2014/main" id="{924C2C69-17AF-419D-AED2-F77E10F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9850"/>
            <a:ext cx="194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25</a:t>
            </a:r>
          </a:p>
        </p:txBody>
      </p:sp>
      <p:sp>
        <p:nvSpPr>
          <p:cNvPr id="15" name="cell-app-a-1-3">
            <a:extLst xmlns:a="http://schemas.openxmlformats.org/drawingml/2006/main">
              <a:ext uri="{FF2B5EF4-FFF2-40B4-BE49-F238E27FC236}">
                <a16:creationId xmlns:a16="http://schemas.microsoft.com/office/drawing/2014/main" id="{E1DD2FE0-9BBD-4386-B4D8-7B9B2D3E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96%</a:t>
            </a:r>
          </a:p>
        </p:txBody>
      </p:sp>
      <p:sp>
        <p:nvSpPr>
          <p:cNvPr id="16" name="cell-app-a-1-4">
            <a:extLst xmlns:a="http://schemas.openxmlformats.org/drawingml/2006/main">
              <a:ext uri="{FF2B5EF4-FFF2-40B4-BE49-F238E27FC236}">
                <a16:creationId xmlns:a16="http://schemas.microsoft.com/office/drawing/2014/main" id="{6AE7F4DE-A001-444E-9E1F-4AE92E51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098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4%</a:t>
            </a:r>
          </a:p>
        </p:txBody>
      </p:sp>
      <p:sp>
        <p:nvSpPr>
          <p:cNvPr id="17" name="cell-app-a-1-5">
            <a:extLst xmlns:a="http://schemas.openxmlformats.org/drawingml/2006/main">
              <a:ext uri="{FF2B5EF4-FFF2-40B4-BE49-F238E27FC236}">
                <a16:creationId xmlns:a16="http://schemas.microsoft.com/office/drawing/2014/main" id="{03870287-4DF9-474B-8390-BCEE562C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609850"/>
            <a:ext cx="624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Manter como cluster #1 por fit comercial e SERP nichada</a:t>
            </a:r>
          </a:p>
        </p:txBody>
      </p:sp>
      <p:sp>
        <p:nvSpPr>
          <p:cNvPr id="18" name="cell-app-a-2-0">
            <a:extLst xmlns:a="http://schemas.openxmlformats.org/drawingml/2006/main">
              <a:ext uri="{FF2B5EF4-FFF2-40B4-BE49-F238E27FC236}">
                <a16:creationId xmlns:a16="http://schemas.microsoft.com/office/drawing/2014/main" id="{F8863827-DBD3-40D1-9639-BA9E05A5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724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A2E"/>
                </a:solidFill>
              </a:defRPr>
            </a:pPr>
            <a:r>
              <a:rPr sz="1500" b="1">
                <a:solidFill>
                  <a:srgbClr val="132A2E"/>
                </a:solidFill>
              </a:rPr>
              <a:t>Imobiliárias</a:t>
            </a:r>
          </a:p>
        </p:txBody>
      </p:sp>
      <p:sp>
        <p:nvSpPr>
          <p:cNvPr id="19" name="cell-app-a-2-1">
            <a:extLst xmlns:a="http://schemas.openxmlformats.org/drawingml/2006/main">
              <a:ext uri="{FF2B5EF4-FFF2-40B4-BE49-F238E27FC236}">
                <a16:creationId xmlns:a16="http://schemas.microsoft.com/office/drawing/2014/main" id="{BF8493C3-DF25-4407-8570-C922E285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10</a:t>
            </a:r>
          </a:p>
        </p:txBody>
      </p:sp>
      <p:sp>
        <p:nvSpPr>
          <p:cNvPr id="20" name="cell-app-a-2-2">
            <a:extLst xmlns:a="http://schemas.openxmlformats.org/drawingml/2006/main">
              <a:ext uri="{FF2B5EF4-FFF2-40B4-BE49-F238E27FC236}">
                <a16:creationId xmlns:a16="http://schemas.microsoft.com/office/drawing/2014/main" id="{4595356A-FB36-447F-937E-D20F42A0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00400"/>
            <a:ext cx="194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50</a:t>
            </a:r>
          </a:p>
        </p:txBody>
      </p:sp>
      <p:sp>
        <p:nvSpPr>
          <p:cNvPr id="21" name="cell-app-a-2-3">
            <a:extLst xmlns:a="http://schemas.openxmlformats.org/drawingml/2006/main">
              <a:ext uri="{FF2B5EF4-FFF2-40B4-BE49-F238E27FC236}">
                <a16:creationId xmlns:a16="http://schemas.microsoft.com/office/drawing/2014/main" id="{B93970AD-CBDD-467E-8DBD-E4C78260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100%</a:t>
            </a:r>
          </a:p>
        </p:txBody>
      </p:sp>
      <p:sp>
        <p:nvSpPr>
          <p:cNvPr id="22" name="cell-app-a-2-4">
            <a:extLst xmlns:a="http://schemas.openxmlformats.org/drawingml/2006/main">
              <a:ext uri="{FF2B5EF4-FFF2-40B4-BE49-F238E27FC236}">
                <a16:creationId xmlns:a16="http://schemas.microsoft.com/office/drawing/2014/main" id="{7C2A9CD2-9228-42B3-B859-7A457D9F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04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40%</a:t>
            </a:r>
          </a:p>
        </p:txBody>
      </p:sp>
      <p:sp>
        <p:nvSpPr>
          <p:cNvPr id="23" name="cell-app-a-2-5">
            <a:extLst xmlns:a="http://schemas.openxmlformats.org/drawingml/2006/main">
              <a:ext uri="{FF2B5EF4-FFF2-40B4-BE49-F238E27FC236}">
                <a16:creationId xmlns:a16="http://schemas.microsoft.com/office/drawing/2014/main" id="{5AE67FB2-EB46-4FFF-A371-C162B0B6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00400"/>
            <a:ext cx="624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Incorporar como cluster #2 (atendimento, leads, automação)</a:t>
            </a:r>
          </a:p>
        </p:txBody>
      </p:sp>
      <p:sp>
        <p:nvSpPr>
          <p:cNvPr id="24" name="cell-app-a-3-0">
            <a:extLst xmlns:a="http://schemas.openxmlformats.org/drawingml/2006/main">
              <a:ext uri="{FF2B5EF4-FFF2-40B4-BE49-F238E27FC236}">
                <a16:creationId xmlns:a16="http://schemas.microsoft.com/office/drawing/2014/main" id="{839F6D43-B802-4A65-B5FC-091C85CB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724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A2E"/>
                </a:solidFill>
              </a:defRPr>
            </a:pPr>
            <a:r>
              <a:rPr sz="1500" b="1">
                <a:solidFill>
                  <a:srgbClr val="132A2E"/>
                </a:solidFill>
              </a:rPr>
              <a:t>Clínicas</a:t>
            </a:r>
          </a:p>
        </p:txBody>
      </p:sp>
      <p:sp>
        <p:nvSpPr>
          <p:cNvPr id="25" name="cell-app-a-3-1">
            <a:extLst xmlns:a="http://schemas.openxmlformats.org/drawingml/2006/main">
              <a:ext uri="{FF2B5EF4-FFF2-40B4-BE49-F238E27FC236}">
                <a16:creationId xmlns:a16="http://schemas.microsoft.com/office/drawing/2014/main" id="{B121DD91-403F-4DA6-B247-C58465A8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909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10</a:t>
            </a:r>
          </a:p>
        </p:txBody>
      </p:sp>
      <p:sp>
        <p:nvSpPr>
          <p:cNvPr id="26" name="cell-app-a-3-2">
            <a:extLst xmlns:a="http://schemas.openxmlformats.org/drawingml/2006/main">
              <a:ext uri="{FF2B5EF4-FFF2-40B4-BE49-F238E27FC236}">
                <a16:creationId xmlns:a16="http://schemas.microsoft.com/office/drawing/2014/main" id="{F438C153-A2E0-47D2-8325-0E874108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194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50</a:t>
            </a:r>
          </a:p>
        </p:txBody>
      </p:sp>
      <p:sp>
        <p:nvSpPr>
          <p:cNvPr id="27" name="cell-app-a-3-3">
            <a:extLst xmlns:a="http://schemas.openxmlformats.org/drawingml/2006/main">
              <a:ext uri="{FF2B5EF4-FFF2-40B4-BE49-F238E27FC236}">
                <a16:creationId xmlns:a16="http://schemas.microsoft.com/office/drawing/2014/main" id="{3A14DA6B-A566-459A-BB54-9A73F644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94%</a:t>
            </a:r>
          </a:p>
        </p:txBody>
      </p:sp>
      <p:sp>
        <p:nvSpPr>
          <p:cNvPr id="28" name="cell-app-a-3-4">
            <a:extLst xmlns:a="http://schemas.openxmlformats.org/drawingml/2006/main">
              <a:ext uri="{FF2B5EF4-FFF2-40B4-BE49-F238E27FC236}">
                <a16:creationId xmlns:a16="http://schemas.microsoft.com/office/drawing/2014/main" id="{CCB0286C-4E04-4616-A0F1-42F562B2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909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42%</a:t>
            </a:r>
          </a:p>
        </p:txBody>
      </p:sp>
      <p:sp>
        <p:nvSpPr>
          <p:cNvPr id="29" name="cell-app-a-3-5">
            <a:extLst xmlns:a="http://schemas.openxmlformats.org/drawingml/2006/main">
              <a:ext uri="{FF2B5EF4-FFF2-40B4-BE49-F238E27FC236}">
                <a16:creationId xmlns:a16="http://schemas.microsoft.com/office/drawing/2014/main" id="{FF76423E-9874-4322-A6C4-0A2005B3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790950"/>
            <a:ext cx="624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Adiar — recortar termos para sair de agenda/software médico</a:t>
            </a:r>
          </a:p>
        </p:txBody>
      </p:sp>
      <p:sp>
        <p:nvSpPr>
          <p:cNvPr id="30" name="cell-app-a-4-0">
            <a:extLst xmlns:a="http://schemas.openxmlformats.org/drawingml/2006/main">
              <a:ext uri="{FF2B5EF4-FFF2-40B4-BE49-F238E27FC236}">
                <a16:creationId xmlns:a16="http://schemas.microsoft.com/office/drawing/2014/main" id="{A688F332-0B0C-43C9-8447-7083B3E4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724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A2E"/>
                </a:solidFill>
              </a:defRPr>
            </a:pPr>
            <a:r>
              <a:rPr sz="1500" b="1">
                <a:solidFill>
                  <a:srgbClr val="132A2E"/>
                </a:solidFill>
              </a:rPr>
              <a:t>Odontologia</a:t>
            </a:r>
          </a:p>
        </p:txBody>
      </p:sp>
      <p:sp>
        <p:nvSpPr>
          <p:cNvPr id="31" name="cell-app-a-4-1">
            <a:extLst xmlns:a="http://schemas.openxmlformats.org/drawingml/2006/main">
              <a:ext uri="{FF2B5EF4-FFF2-40B4-BE49-F238E27FC236}">
                <a16:creationId xmlns:a16="http://schemas.microsoft.com/office/drawing/2014/main" id="{1CEDBCA9-06C9-4025-9EF3-7AFA3BFE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815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10</a:t>
            </a:r>
          </a:p>
        </p:txBody>
      </p:sp>
      <p:sp>
        <p:nvSpPr>
          <p:cNvPr id="32" name="cell-app-a-4-2">
            <a:extLst xmlns:a="http://schemas.openxmlformats.org/drawingml/2006/main">
              <a:ext uri="{FF2B5EF4-FFF2-40B4-BE49-F238E27FC236}">
                <a16:creationId xmlns:a16="http://schemas.microsoft.com/office/drawing/2014/main" id="{5E8DD560-4E7C-4F0D-98D8-4D70D32B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194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50</a:t>
            </a:r>
          </a:p>
        </p:txBody>
      </p:sp>
      <p:sp>
        <p:nvSpPr>
          <p:cNvPr id="33" name="cell-app-a-4-3">
            <a:extLst xmlns:a="http://schemas.openxmlformats.org/drawingml/2006/main">
              <a:ext uri="{FF2B5EF4-FFF2-40B4-BE49-F238E27FC236}">
                <a16:creationId xmlns:a16="http://schemas.microsoft.com/office/drawing/2014/main" id="{DE1B83E4-D493-4603-8BC3-1922748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815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86%</a:t>
            </a:r>
          </a:p>
        </p:txBody>
      </p:sp>
      <p:sp>
        <p:nvSpPr>
          <p:cNvPr id="34" name="cell-app-a-4-4">
            <a:extLst xmlns:a="http://schemas.openxmlformats.org/drawingml/2006/main">
              <a:ext uri="{FF2B5EF4-FFF2-40B4-BE49-F238E27FC236}">
                <a16:creationId xmlns:a16="http://schemas.microsoft.com/office/drawing/2014/main" id="{911DEE93-3270-4184-BE81-BAC4F6CE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815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50%</a:t>
            </a:r>
          </a:p>
        </p:txBody>
      </p:sp>
      <p:sp>
        <p:nvSpPr>
          <p:cNvPr id="35" name="cell-app-a-4-5">
            <a:extLst xmlns:a="http://schemas.openxmlformats.org/drawingml/2006/main">
              <a:ext uri="{FF2B5EF4-FFF2-40B4-BE49-F238E27FC236}">
                <a16:creationId xmlns:a16="http://schemas.microsoft.com/office/drawing/2014/main" id="{5E9AABD5-B056-4DC9-A043-3129D88C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381500"/>
            <a:ext cx="624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A2E"/>
                </a:solidFill>
              </a:defRPr>
            </a:pPr>
            <a:r>
              <a:rPr sz="1500" b="0">
                <a:solidFill>
                  <a:srgbClr val="132A2E"/>
                </a:solidFill>
              </a:rPr>
              <a:t>Adiar — demanda fragmentada com software odonto, IA e conteúdo</a:t>
            </a:r>
          </a:p>
        </p:txBody>
      </p:sp>
      <p:sp>
        <p:nvSpPr>
          <p:cNvPr id="36" name="app-a-rule-1">
            <a:extLst xmlns:a="http://schemas.openxmlformats.org/drawingml/2006/main">
              <a:ext uri="{FF2B5EF4-FFF2-40B4-BE49-F238E27FC236}">
                <a16:creationId xmlns:a16="http://schemas.microsoft.com/office/drawing/2014/main" id="{4D87E26A-AAF0-476A-92E5-DE73DE03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37" name="app-a-dom-label">
            <a:extLst xmlns:a="http://schemas.openxmlformats.org/drawingml/2006/main">
              <a:ext uri="{FF2B5EF4-FFF2-40B4-BE49-F238E27FC236}">
                <a16:creationId xmlns:a16="http://schemas.microsoft.com/office/drawing/2014/main" id="{A3A6813A-796D-47E4-B11E-791942F6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Domínios recorrentes por nicho (top 5)</a:t>
            </a:r>
          </a:p>
        </p:txBody>
      </p:sp>
      <p:sp>
        <p:nvSpPr>
          <p:cNvPr id="38" name="app-a-dom-imo">
            <a:extLst xmlns:a="http://schemas.openxmlformats.org/drawingml/2006/main">
              <a:ext uri="{FF2B5EF4-FFF2-40B4-BE49-F238E27FC236}">
                <a16:creationId xmlns:a16="http://schemas.microsoft.com/office/drawing/2014/main" id="{E493B50B-A812-4724-B560-39B1C86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4005"/>
            <a:ext cx="5410200" cy="967740"/>
          </a:xfrm>
          <a:prstGeom xmlns:a="http://schemas.openxmlformats.org/drawingml/2006/main" prst="roundRect">
            <a:avLst>
              <a:gd name="adj" fmla="val 118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chip-imobili-rias">
            <a:extLst xmlns:a="http://schemas.openxmlformats.org/drawingml/2006/main">
              <a:ext uri="{FF2B5EF4-FFF2-40B4-BE49-F238E27FC236}">
                <a16:creationId xmlns:a16="http://schemas.microsoft.com/office/drawing/2014/main" id="{F644CC0A-98DC-40DC-A789-4E359133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6405"/>
            <a:ext cx="18859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40" name="chip-text-imobili-rias">
            <a:extLst xmlns:a="http://schemas.openxmlformats.org/drawingml/2006/main">
              <a:ext uri="{FF2B5EF4-FFF2-40B4-BE49-F238E27FC236}">
                <a16:creationId xmlns:a16="http://schemas.microsoft.com/office/drawing/2014/main" id="{F8D1B399-7481-4BAD-ACAF-909D7AFC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A2E"/>
                </a:solidFill>
              </a:defRPr>
            </a:pPr>
            <a:r>
              <a:rPr sz="1350" b="1">
                <a:solidFill>
                  <a:srgbClr val="132A2E"/>
                </a:solidFill>
              </a:rPr>
              <a:t>Imobiliárias</a:t>
            </a:r>
          </a:p>
        </p:txBody>
      </p:sp>
      <p:sp>
        <p:nvSpPr>
          <p:cNvPr id="41" name="app-a-dom-imo-text">
            <a:extLst xmlns:a="http://schemas.openxmlformats.org/drawingml/2006/main">
              <a:ext uri="{FF2B5EF4-FFF2-40B4-BE49-F238E27FC236}">
                <a16:creationId xmlns:a16="http://schemas.microsoft.com/office/drawing/2014/main" id="{242E8ABA-633E-4DFE-8F04-8E7262F0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19800"/>
            <a:ext cx="4991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Universal Software · ChatImob · Zimobi · Jetimob · Imobilead</a:t>
            </a:r>
          </a:p>
        </p:txBody>
      </p:sp>
      <p:sp>
        <p:nvSpPr>
          <p:cNvPr id="42" name="app-a-dom-cli">
            <a:extLst xmlns:a="http://schemas.openxmlformats.org/drawingml/2006/main">
              <a:ext uri="{FF2B5EF4-FFF2-40B4-BE49-F238E27FC236}">
                <a16:creationId xmlns:a16="http://schemas.microsoft.com/office/drawing/2014/main" id="{003380FF-B545-489A-A75A-458FB72F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74005"/>
            <a:ext cx="5410200" cy="967740"/>
          </a:xfrm>
          <a:prstGeom xmlns:a="http://schemas.openxmlformats.org/drawingml/2006/main" prst="roundRect">
            <a:avLst>
              <a:gd name="adj" fmla="val 118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chip-cl-nicas">
            <a:extLst xmlns:a="http://schemas.openxmlformats.org/drawingml/2006/main">
              <a:ext uri="{FF2B5EF4-FFF2-40B4-BE49-F238E27FC236}">
                <a16:creationId xmlns:a16="http://schemas.microsoft.com/office/drawing/2014/main" id="{DDE20717-A7D5-461A-AE68-56E1E5D8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26405"/>
            <a:ext cx="14287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5D6A6D"/>
          </a:solidFill>
        </p:spPr>
      </p:sp>
      <p:sp>
        <p:nvSpPr>
          <p:cNvPr id="44" name="chip-text-cl-nicas">
            <a:extLst xmlns:a="http://schemas.openxmlformats.org/drawingml/2006/main">
              <a:ext uri="{FF2B5EF4-FFF2-40B4-BE49-F238E27FC236}">
                <a16:creationId xmlns:a16="http://schemas.microsoft.com/office/drawing/2014/main" id="{F84E56B1-051B-4A6D-8D54-7580DBA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88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Clínicas</a:t>
            </a:r>
          </a:p>
        </p:txBody>
      </p:sp>
      <p:sp>
        <p:nvSpPr>
          <p:cNvPr id="45" name="app-a-dom-cli-text">
            <a:extLst xmlns:a="http://schemas.openxmlformats.org/drawingml/2006/main">
              <a:ext uri="{FF2B5EF4-FFF2-40B4-BE49-F238E27FC236}">
                <a16:creationId xmlns:a16="http://schemas.microsoft.com/office/drawing/2014/main" id="{42457E48-9B9E-4BC1-9B29-8F55B9BD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19800"/>
            <a:ext cx="4991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iClinic · Poli Digital · Amplimed · Clínica nas Nuvens · Gestão DS</a:t>
            </a:r>
          </a:p>
        </p:txBody>
      </p:sp>
      <p:sp>
        <p:nvSpPr>
          <p:cNvPr id="46" name="app-a-dom-odo">
            <a:extLst xmlns:a="http://schemas.openxmlformats.org/drawingml/2006/main">
              <a:ext uri="{FF2B5EF4-FFF2-40B4-BE49-F238E27FC236}">
                <a16:creationId xmlns:a16="http://schemas.microsoft.com/office/drawing/2014/main" id="{46E4FCE6-C08D-4F51-B4BB-583CBA3A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374005"/>
            <a:ext cx="5410200" cy="967740"/>
          </a:xfrm>
          <a:prstGeom xmlns:a="http://schemas.openxmlformats.org/drawingml/2006/main" prst="roundRect">
            <a:avLst>
              <a:gd name="adj" fmla="val 118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7" name="chip-odontologia">
            <a:extLst xmlns:a="http://schemas.openxmlformats.org/drawingml/2006/main">
              <a:ext uri="{FF2B5EF4-FFF2-40B4-BE49-F238E27FC236}">
                <a16:creationId xmlns:a16="http://schemas.microsoft.com/office/drawing/2014/main" id="{E795217A-9B96-4A14-9B2E-C5657211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526405"/>
            <a:ext cx="17716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5D6A6D"/>
          </a:solidFill>
        </p:spPr>
      </p:sp>
      <p:sp>
        <p:nvSpPr>
          <p:cNvPr id="48" name="chip-text-odontologia">
            <a:extLst xmlns:a="http://schemas.openxmlformats.org/drawingml/2006/main">
              <a:ext uri="{FF2B5EF4-FFF2-40B4-BE49-F238E27FC236}">
                <a16:creationId xmlns:a16="http://schemas.microsoft.com/office/drawing/2014/main" id="{942F8120-1F8F-437E-AE0D-EC31B568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6388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Odontologia</a:t>
            </a:r>
          </a:p>
        </p:txBody>
      </p:sp>
      <p:sp>
        <p:nvSpPr>
          <p:cNvPr id="49" name="app-a-dom-odo-text">
            <a:extLst xmlns:a="http://schemas.openxmlformats.org/drawingml/2006/main">
              <a:ext uri="{FF2B5EF4-FFF2-40B4-BE49-F238E27FC236}">
                <a16:creationId xmlns:a16="http://schemas.microsoft.com/office/drawing/2014/main" id="{E04240C5-18F2-43D3-830F-02A4C53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019800"/>
            <a:ext cx="4991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Simples Dental · Beeia · Dental Speed · ControleODONTO · CoDental</a:t>
            </a:r>
          </a:p>
        </p:txBody>
      </p:sp>
      <p:sp>
        <p:nvSpPr>
          <p:cNvPr id="50" name="footer-left-13">
            <a:extLst xmlns:a="http://schemas.openxmlformats.org/drawingml/2006/main">
              <a:ext uri="{FF2B5EF4-FFF2-40B4-BE49-F238E27FC236}">
                <a16:creationId xmlns:a16="http://schemas.microsoft.com/office/drawing/2014/main" id="{2FC1C510-8098-4E0C-BE13-A4F90F37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1035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51" name="footer-right-13">
            <a:extLst xmlns:a="http://schemas.openxmlformats.org/drawingml/2006/main">
              <a:ext uri="{FF2B5EF4-FFF2-40B4-BE49-F238E27FC236}">
                <a16:creationId xmlns:a16="http://schemas.microsoft.com/office/drawing/2014/main" id="{236DA674-4C0A-4730-AF73-65BEFB84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66103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Anexo · 1 / 4</a:t>
            </a:r>
          </a:p>
        </p:txBody>
      </p:sp>
    </p:spTree>
    <p:extLst>
      <p:ext uri="{BB962C8B-B14F-4D97-AF65-F5344CB8AC3E}">
        <p14:creationId xmlns:p14="http://schemas.microsoft.com/office/powerpoint/2010/main" val="675663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DFC6191-E73D-445D-92E8-BD503022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anexo-b-concorrentes-por-cluster">
            <a:extLst xmlns:a="http://schemas.openxmlformats.org/drawingml/2006/main">
              <a:ext uri="{FF2B5EF4-FFF2-40B4-BE49-F238E27FC236}">
                <a16:creationId xmlns:a16="http://schemas.microsoft.com/office/drawing/2014/main" id="{A61563B9-0B89-4609-B3F4-397285DA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426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ANEXO B · CONCORRENTES POR CLUSTER</a:t>
            </a:r>
          </a:p>
        </p:txBody>
      </p:sp>
      <p:sp>
        <p:nvSpPr>
          <p:cNvPr id="3" name="slide-title-anexo-b-concorrentes-por-cluster">
            <a:extLst xmlns:a="http://schemas.openxmlformats.org/drawingml/2006/main">
              <a:ext uri="{FF2B5EF4-FFF2-40B4-BE49-F238E27FC236}">
                <a16:creationId xmlns:a16="http://schemas.microsoft.com/office/drawing/2014/main" id="{45DC8D10-5685-4057-9114-D2ACFDBA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A2E"/>
                </a:solidFill>
              </a:defRPr>
            </a:pPr>
            <a:r>
              <a:rPr sz="2700" b="1">
                <a:solidFill>
                  <a:srgbClr val="132A2E"/>
                </a:solidFill>
              </a:rPr>
              <a:t>Quem o Google já considera relevante para cada cluster — e quem Victor citou pessoalmente.</a:t>
            </a:r>
          </a:p>
        </p:txBody>
      </p:sp>
      <p:sp>
        <p:nvSpPr>
          <p:cNvPr id="4" name="slide-subtitle-anexo-b-concorrentes-por-cluster">
            <a:extLst xmlns:a="http://schemas.openxmlformats.org/drawingml/2006/main">
              <a:ext uri="{FF2B5EF4-FFF2-40B4-BE49-F238E27FC236}">
                <a16:creationId xmlns:a16="http://schemas.microsoft.com/office/drawing/2014/main" id="{2472C74C-DD48-4C71-B3C8-99A5357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A6D"/>
                </a:solidFill>
              </a:defRPr>
            </a:pPr>
            <a:r>
              <a:rPr sz="1425">
                <a:solidFill>
                  <a:srgbClr val="5D6A6D"/>
                </a:solidFill>
              </a:rPr>
              <a:t>Horizontais com nº de aparições na SERP normalizada (lote principal, 100 resultados).</a:t>
            </a:r>
          </a:p>
        </p:txBody>
      </p:sp>
      <p:sp>
        <p:nvSpPr>
          <p:cNvPr id="5" name="comp-acct">
            <a:extLst xmlns:a="http://schemas.openxmlformats.org/drawingml/2006/main">
              <a:ext uri="{FF2B5EF4-FFF2-40B4-BE49-F238E27FC236}">
                <a16:creationId xmlns:a16="http://schemas.microsoft.com/office/drawing/2014/main" id="{C1173F3D-AF56-4677-BC70-8B4CF281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1690"/>
            <a:ext cx="5372100" cy="720852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hip-contabilidade-nichados">
            <a:extLst xmlns:a="http://schemas.openxmlformats.org/drawingml/2006/main">
              <a:ext uri="{FF2B5EF4-FFF2-40B4-BE49-F238E27FC236}">
                <a16:creationId xmlns:a16="http://schemas.microsoft.com/office/drawing/2014/main" id="{8B76EB59-8019-48C1-AAD3-7C97CFE7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9340"/>
            <a:ext cx="32575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7" name="chip-text-contabilidade-nichados">
            <a:extLst xmlns:a="http://schemas.openxmlformats.org/drawingml/2006/main">
              <a:ext uri="{FF2B5EF4-FFF2-40B4-BE49-F238E27FC236}">
                <a16:creationId xmlns:a16="http://schemas.microsoft.com/office/drawing/2014/main" id="{F14F3A72-23DA-41F9-B705-8FB220AC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8400"/>
            <a:ext cx="2838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CONTABILIDADE · NICHADOS</a:t>
            </a:r>
          </a:p>
        </p:txBody>
      </p:sp>
      <p:sp>
        <p:nvSpPr>
          <p:cNvPr id="8" name="bullet-dot-zap-cont-bil-0">
            <a:extLst xmlns:a="http://schemas.openxmlformats.org/drawingml/2006/main">
              <a:ext uri="{FF2B5EF4-FFF2-40B4-BE49-F238E27FC236}">
                <a16:creationId xmlns:a16="http://schemas.microsoft.com/office/drawing/2014/main" id="{40350DE3-884F-466A-90C6-5346D612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9" name="bullet-text-zap-cont-bil-0">
            <a:extLst xmlns:a="http://schemas.openxmlformats.org/drawingml/2006/main">
              <a:ext uri="{FF2B5EF4-FFF2-40B4-BE49-F238E27FC236}">
                <a16:creationId xmlns:a16="http://schemas.microsoft.com/office/drawing/2014/main" id="{A9B8C8CB-8482-418B-B9C8-C8222A4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Zap Contábil</a:t>
            </a:r>
          </a:p>
        </p:txBody>
      </p:sp>
      <p:sp>
        <p:nvSpPr>
          <p:cNvPr id="10" name="bullet-dot-whats-cont-bil-1">
            <a:extLst xmlns:a="http://schemas.openxmlformats.org/drawingml/2006/main">
              <a:ext uri="{FF2B5EF4-FFF2-40B4-BE49-F238E27FC236}">
                <a16:creationId xmlns:a16="http://schemas.microsoft.com/office/drawing/2014/main" id="{5D6480E0-F89B-4BA8-AAA1-D7141F6A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1" name="bullet-text-whats-cont-bil-1">
            <a:extLst xmlns:a="http://schemas.openxmlformats.org/drawingml/2006/main">
              <a:ext uri="{FF2B5EF4-FFF2-40B4-BE49-F238E27FC236}">
                <a16:creationId xmlns:a16="http://schemas.microsoft.com/office/drawing/2014/main" id="{86969539-478D-4144-AA8B-BB0F4B18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Whats Contábil</a:t>
            </a:r>
          </a:p>
        </p:txBody>
      </p:sp>
      <p:sp>
        <p:nvSpPr>
          <p:cNvPr id="12" name="bullet-dot-zappy-cont-bil-2">
            <a:extLst xmlns:a="http://schemas.openxmlformats.org/drawingml/2006/main">
              <a:ext uri="{FF2B5EF4-FFF2-40B4-BE49-F238E27FC236}">
                <a16:creationId xmlns:a16="http://schemas.microsoft.com/office/drawing/2014/main" id="{1EB369F0-466B-48D3-BD1B-0ADC8E77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3" name="bullet-text-zappy-cont-bil-2">
            <a:extLst xmlns:a="http://schemas.openxmlformats.org/drawingml/2006/main">
              <a:ext uri="{FF2B5EF4-FFF2-40B4-BE49-F238E27FC236}">
                <a16:creationId xmlns:a16="http://schemas.microsoft.com/office/drawing/2014/main" id="{8B6DE73D-8430-4E61-A852-B22473A8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Zappy Contábil</a:t>
            </a:r>
          </a:p>
        </p:txBody>
      </p:sp>
      <p:sp>
        <p:nvSpPr>
          <p:cNvPr id="14" name="bullet-dot-integgri-3">
            <a:extLst xmlns:a="http://schemas.openxmlformats.org/drawingml/2006/main">
              <a:ext uri="{FF2B5EF4-FFF2-40B4-BE49-F238E27FC236}">
                <a16:creationId xmlns:a16="http://schemas.microsoft.com/office/drawing/2014/main" id="{A7A7A0CE-1266-4901-BA60-089C5EBF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5" name="bullet-text-integgri-3">
            <a:extLst xmlns:a="http://schemas.openxmlformats.org/drawingml/2006/main">
              <a:ext uri="{FF2B5EF4-FFF2-40B4-BE49-F238E27FC236}">
                <a16:creationId xmlns:a16="http://schemas.microsoft.com/office/drawing/2014/main" id="{4E529D41-2568-435E-9E59-628C0D70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4810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Integgri</a:t>
            </a:r>
          </a:p>
        </p:txBody>
      </p:sp>
      <p:sp>
        <p:nvSpPr>
          <p:cNvPr id="16" name="bullet-dot-nibo-conte-do--4">
            <a:extLst xmlns:a="http://schemas.openxmlformats.org/drawingml/2006/main">
              <a:ext uri="{FF2B5EF4-FFF2-40B4-BE49-F238E27FC236}">
                <a16:creationId xmlns:a16="http://schemas.microsoft.com/office/drawing/2014/main" id="{B7DE5646-BECD-427B-BF45-193A39F5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7" name="bullet-text-nibo-conte-do--4">
            <a:extLst xmlns:a="http://schemas.openxmlformats.org/drawingml/2006/main">
              <a:ext uri="{FF2B5EF4-FFF2-40B4-BE49-F238E27FC236}">
                <a16:creationId xmlns:a16="http://schemas.microsoft.com/office/drawing/2014/main" id="{3F5E48E7-8E69-48B5-B250-170F0392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Nibo (conteúdo)</a:t>
            </a:r>
          </a:p>
        </p:txBody>
      </p:sp>
      <p:sp>
        <p:nvSpPr>
          <p:cNvPr id="18" name="bullet-dot-acelerato-5">
            <a:extLst xmlns:a="http://schemas.openxmlformats.org/drawingml/2006/main">
              <a:ext uri="{FF2B5EF4-FFF2-40B4-BE49-F238E27FC236}">
                <a16:creationId xmlns:a16="http://schemas.microsoft.com/office/drawing/2014/main" id="{F3DEF4BB-0006-4428-9EC6-B8058337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9" name="bullet-text-acelerato-5">
            <a:extLst xmlns:a="http://schemas.openxmlformats.org/drawingml/2006/main">
              <a:ext uri="{FF2B5EF4-FFF2-40B4-BE49-F238E27FC236}">
                <a16:creationId xmlns:a16="http://schemas.microsoft.com/office/drawing/2014/main" id="{D6FBFBD7-AE07-48D0-981A-42804D3A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Acelerato</a:t>
            </a:r>
          </a:p>
        </p:txBody>
      </p:sp>
      <p:sp>
        <p:nvSpPr>
          <p:cNvPr id="20" name="bullet-dot-socialhub-6">
            <a:extLst xmlns:a="http://schemas.openxmlformats.org/drawingml/2006/main">
              <a:ext uri="{FF2B5EF4-FFF2-40B4-BE49-F238E27FC236}">
                <a16:creationId xmlns:a16="http://schemas.microsoft.com/office/drawing/2014/main" id="{C7F66EBE-8557-448F-98AF-77F1FB28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21" name="bullet-text-socialhub-6">
            <a:extLst xmlns:a="http://schemas.openxmlformats.org/drawingml/2006/main">
              <a:ext uri="{FF2B5EF4-FFF2-40B4-BE49-F238E27FC236}">
                <a16:creationId xmlns:a16="http://schemas.microsoft.com/office/drawing/2014/main" id="{477FD52D-8574-4102-A9C3-C04D253A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SocialHub</a:t>
            </a:r>
          </a:p>
        </p:txBody>
      </p:sp>
      <p:sp>
        <p:nvSpPr>
          <p:cNvPr id="22" name="comp-acct-rule">
            <a:extLst xmlns:a="http://schemas.openxmlformats.org/drawingml/2006/main">
              <a:ext uri="{FF2B5EF4-FFF2-40B4-BE49-F238E27FC236}">
                <a16:creationId xmlns:a16="http://schemas.microsoft.com/office/drawing/2014/main" id="{42D4DC6C-9518-461A-B39E-68B3E6FA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23" name="comp-acct-vic-label">
            <a:extLst xmlns:a="http://schemas.openxmlformats.org/drawingml/2006/main">
              <a:ext uri="{FF2B5EF4-FFF2-40B4-BE49-F238E27FC236}">
                <a16:creationId xmlns:a16="http://schemas.microsoft.com/office/drawing/2014/main" id="{C0074F85-CA20-4189-B757-E522DFAE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483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7A62F"/>
                </a:solidFill>
              </a:defRPr>
            </a:pPr>
            <a:r>
              <a:rPr sz="900" b="1">
                <a:solidFill>
                  <a:srgbClr val="E7A62F"/>
                </a:solidFill>
              </a:rPr>
              <a:t>CITADO POR VICTOR</a:t>
            </a:r>
          </a:p>
        </p:txBody>
      </p:sp>
      <p:sp>
        <p:nvSpPr>
          <p:cNvPr id="24" name="comp-acct-vic-text">
            <a:extLst xmlns:a="http://schemas.openxmlformats.org/drawingml/2006/main">
              <a:ext uri="{FF2B5EF4-FFF2-40B4-BE49-F238E27FC236}">
                <a16:creationId xmlns:a16="http://schemas.microsoft.com/office/drawing/2014/main" id="{A8AD454D-6D7A-4C7B-862E-E5AE74A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86400"/>
            <a:ext cx="483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A2E"/>
                </a:solidFill>
              </a:defRPr>
            </a:pPr>
            <a:r>
              <a:rPr sz="1200">
                <a:solidFill>
                  <a:srgbClr val="132A2E"/>
                </a:solidFill>
              </a:rPr>
              <a:t>DigiSac — formulário comercial segmentado para contabilidade</a:t>
            </a:r>
          </a:p>
        </p:txBody>
      </p:sp>
      <p:sp>
        <p:nvSpPr>
          <p:cNvPr id="25" name="comp-imo">
            <a:extLst xmlns:a="http://schemas.openxmlformats.org/drawingml/2006/main">
              <a:ext uri="{FF2B5EF4-FFF2-40B4-BE49-F238E27FC236}">
                <a16:creationId xmlns:a16="http://schemas.microsoft.com/office/drawing/2014/main" id="{9FB8936B-E487-4EB9-A9EA-73D8C1D7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1690"/>
            <a:ext cx="5372100" cy="720852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hip-imobili-rias">
            <a:extLst xmlns:a="http://schemas.openxmlformats.org/drawingml/2006/main">
              <a:ext uri="{FF2B5EF4-FFF2-40B4-BE49-F238E27FC236}">
                <a16:creationId xmlns:a16="http://schemas.microsoft.com/office/drawing/2014/main" id="{EA32F222-749C-4165-9138-E65A7306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9340"/>
            <a:ext cx="18859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27" name="chip-text-imobili-rias">
            <a:extLst xmlns:a="http://schemas.openxmlformats.org/drawingml/2006/main">
              <a:ext uri="{FF2B5EF4-FFF2-40B4-BE49-F238E27FC236}">
                <a16:creationId xmlns:a16="http://schemas.microsoft.com/office/drawing/2014/main" id="{F06F2A1F-1F59-42AF-8B1B-963DD4A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A2E"/>
                </a:solidFill>
              </a:defRPr>
            </a:pPr>
            <a:r>
              <a:rPr sz="1350" b="1">
                <a:solidFill>
                  <a:srgbClr val="132A2E"/>
                </a:solidFill>
              </a:rPr>
              <a:t>IMOBILIÁRIAS</a:t>
            </a:r>
          </a:p>
        </p:txBody>
      </p:sp>
      <p:sp>
        <p:nvSpPr>
          <p:cNvPr id="28" name="bullet-dot-chatimob-0">
            <a:extLst xmlns:a="http://schemas.openxmlformats.org/drawingml/2006/main">
              <a:ext uri="{FF2B5EF4-FFF2-40B4-BE49-F238E27FC236}">
                <a16:creationId xmlns:a16="http://schemas.microsoft.com/office/drawing/2014/main" id="{EED39862-3D39-410D-B5C7-5B9CB192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29" name="bullet-text-chatimob-0">
            <a:extLst xmlns:a="http://schemas.openxmlformats.org/drawingml/2006/main">
              <a:ext uri="{FF2B5EF4-FFF2-40B4-BE49-F238E27FC236}">
                <a16:creationId xmlns:a16="http://schemas.microsoft.com/office/drawing/2014/main" id="{B58604E4-5240-41BC-B577-AC5BF415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ChatImob</a:t>
            </a:r>
          </a:p>
        </p:txBody>
      </p:sp>
      <p:sp>
        <p:nvSpPr>
          <p:cNvPr id="30" name="bullet-dot-universal-software-1">
            <a:extLst xmlns:a="http://schemas.openxmlformats.org/drawingml/2006/main">
              <a:ext uri="{FF2B5EF4-FFF2-40B4-BE49-F238E27FC236}">
                <a16:creationId xmlns:a16="http://schemas.microsoft.com/office/drawing/2014/main" id="{0E859E86-C4F4-4B7A-9D97-3766881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31" name="bullet-text-universal-software-1">
            <a:extLst xmlns:a="http://schemas.openxmlformats.org/drawingml/2006/main">
              <a:ext uri="{FF2B5EF4-FFF2-40B4-BE49-F238E27FC236}">
                <a16:creationId xmlns:a16="http://schemas.microsoft.com/office/drawing/2014/main" id="{BE41165C-7D19-44BF-A8F8-8FF3FD5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Universal Software</a:t>
            </a:r>
          </a:p>
        </p:txBody>
      </p:sp>
      <p:sp>
        <p:nvSpPr>
          <p:cNvPr id="32" name="bullet-dot-zimobi-2">
            <a:extLst xmlns:a="http://schemas.openxmlformats.org/drawingml/2006/main">
              <a:ext uri="{FF2B5EF4-FFF2-40B4-BE49-F238E27FC236}">
                <a16:creationId xmlns:a16="http://schemas.microsoft.com/office/drawing/2014/main" id="{C546C3E0-A55D-4589-B627-B707AE80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33" name="bullet-text-zimobi-2">
            <a:extLst xmlns:a="http://schemas.openxmlformats.org/drawingml/2006/main">
              <a:ext uri="{FF2B5EF4-FFF2-40B4-BE49-F238E27FC236}">
                <a16:creationId xmlns:a16="http://schemas.microsoft.com/office/drawing/2014/main" id="{0C3930F1-6452-478A-9979-76C6F8DD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Zimobi</a:t>
            </a:r>
          </a:p>
        </p:txBody>
      </p:sp>
      <p:sp>
        <p:nvSpPr>
          <p:cNvPr id="34" name="bullet-dot-jetimob-3">
            <a:extLst xmlns:a="http://schemas.openxmlformats.org/drawingml/2006/main">
              <a:ext uri="{FF2B5EF4-FFF2-40B4-BE49-F238E27FC236}">
                <a16:creationId xmlns:a16="http://schemas.microsoft.com/office/drawing/2014/main" id="{04C877A4-A2E8-4D0E-81D3-688AE204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35" name="bullet-text-jetimob-3">
            <a:extLst xmlns:a="http://schemas.openxmlformats.org/drawingml/2006/main">
              <a:ext uri="{FF2B5EF4-FFF2-40B4-BE49-F238E27FC236}">
                <a16:creationId xmlns:a16="http://schemas.microsoft.com/office/drawing/2014/main" id="{AE894413-B4D7-4FC6-AE19-B1869828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Jetimob</a:t>
            </a:r>
          </a:p>
        </p:txBody>
      </p:sp>
      <p:sp>
        <p:nvSpPr>
          <p:cNvPr id="36" name="bullet-dot-imobilead-4">
            <a:extLst xmlns:a="http://schemas.openxmlformats.org/drawingml/2006/main">
              <a:ext uri="{FF2B5EF4-FFF2-40B4-BE49-F238E27FC236}">
                <a16:creationId xmlns:a16="http://schemas.microsoft.com/office/drawing/2014/main" id="{C7DFFDDC-16FA-4C98-8013-12D81228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71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37" name="bullet-text-imobilead-4">
            <a:extLst xmlns:a="http://schemas.openxmlformats.org/drawingml/2006/main">
              <a:ext uri="{FF2B5EF4-FFF2-40B4-BE49-F238E27FC236}">
                <a16:creationId xmlns:a16="http://schemas.microsoft.com/office/drawing/2014/main" id="{650FF1ED-9FE3-4FC9-BDCC-13D4A785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Imobilead</a:t>
            </a:r>
          </a:p>
        </p:txBody>
      </p:sp>
      <p:sp>
        <p:nvSpPr>
          <p:cNvPr id="38" name="bullet-dot-vista-5">
            <a:extLst xmlns:a="http://schemas.openxmlformats.org/drawingml/2006/main">
              <a:ext uri="{FF2B5EF4-FFF2-40B4-BE49-F238E27FC236}">
                <a16:creationId xmlns:a16="http://schemas.microsoft.com/office/drawing/2014/main" id="{DBBAC927-E6B5-4542-A594-50501C7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95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39" name="bullet-text-vista-5">
            <a:extLst xmlns:a="http://schemas.openxmlformats.org/drawingml/2006/main">
              <a:ext uri="{FF2B5EF4-FFF2-40B4-BE49-F238E27FC236}">
                <a16:creationId xmlns:a16="http://schemas.microsoft.com/office/drawing/2014/main" id="{14069501-FB9A-4AE8-A33E-1D7CB45B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Vista</a:t>
            </a:r>
          </a:p>
        </p:txBody>
      </p:sp>
      <p:sp>
        <p:nvSpPr>
          <p:cNvPr id="40" name="bullet-dot-gest-o-real-6">
            <a:extLst xmlns:a="http://schemas.openxmlformats.org/drawingml/2006/main">
              <a:ext uri="{FF2B5EF4-FFF2-40B4-BE49-F238E27FC236}">
                <a16:creationId xmlns:a16="http://schemas.microsoft.com/office/drawing/2014/main" id="{EFAFDBBE-5D08-4AEB-BC9A-452DBC29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9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41" name="bullet-text-gest-o-real-6">
            <a:extLst xmlns:a="http://schemas.openxmlformats.org/drawingml/2006/main">
              <a:ext uri="{FF2B5EF4-FFF2-40B4-BE49-F238E27FC236}">
                <a16:creationId xmlns:a16="http://schemas.microsoft.com/office/drawing/2014/main" id="{3A6372D2-4043-46C4-8FAC-84BE81B8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Gestão Real</a:t>
            </a:r>
          </a:p>
        </p:txBody>
      </p:sp>
      <p:sp>
        <p:nvSpPr>
          <p:cNvPr id="42" name="bullet-dot-lais-ai-7">
            <a:extLst xmlns:a="http://schemas.openxmlformats.org/drawingml/2006/main">
              <a:ext uri="{FF2B5EF4-FFF2-40B4-BE49-F238E27FC236}">
                <a16:creationId xmlns:a16="http://schemas.microsoft.com/office/drawing/2014/main" id="{3DEC0280-C4F5-49AD-834B-E728F9E1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43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43" name="bullet-text-lais-ai-7">
            <a:extLst xmlns:a="http://schemas.openxmlformats.org/drawingml/2006/main">
              <a:ext uri="{FF2B5EF4-FFF2-40B4-BE49-F238E27FC236}">
                <a16:creationId xmlns:a16="http://schemas.microsoft.com/office/drawing/2014/main" id="{50B3296B-3AD9-4032-9622-7DB9EE8E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lais.ai</a:t>
            </a:r>
          </a:p>
        </p:txBody>
      </p:sp>
      <p:sp>
        <p:nvSpPr>
          <p:cNvPr id="44" name="bullet-dot-intelecta-digital-8">
            <a:extLst xmlns:a="http://schemas.openxmlformats.org/drawingml/2006/main">
              <a:ext uri="{FF2B5EF4-FFF2-40B4-BE49-F238E27FC236}">
                <a16:creationId xmlns:a16="http://schemas.microsoft.com/office/drawing/2014/main" id="{A76FC8EE-9360-41D8-949A-352200F0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67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45" name="bullet-text-intelecta-digital-8">
            <a:extLst xmlns:a="http://schemas.openxmlformats.org/drawingml/2006/main">
              <a:ext uri="{FF2B5EF4-FFF2-40B4-BE49-F238E27FC236}">
                <a16:creationId xmlns:a16="http://schemas.microsoft.com/office/drawing/2014/main" id="{FA1D57C7-3077-4F8D-8B30-C26B3A4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67350"/>
            <a:ext cx="462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A2E"/>
                </a:solidFill>
              </a:defRPr>
            </a:pPr>
            <a:r>
              <a:rPr sz="1425">
                <a:solidFill>
                  <a:srgbClr val="132A2E"/>
                </a:solidFill>
              </a:rPr>
              <a:t>intelecta.digital</a:t>
            </a:r>
          </a:p>
        </p:txBody>
      </p:sp>
      <p:sp>
        <p:nvSpPr>
          <p:cNvPr id="46" name="comp-hor">
            <a:extLst xmlns:a="http://schemas.openxmlformats.org/drawingml/2006/main">
              <a:ext uri="{FF2B5EF4-FFF2-40B4-BE49-F238E27FC236}">
                <a16:creationId xmlns:a16="http://schemas.microsoft.com/office/drawing/2014/main" id="{73EBFDA8-51E6-4185-A183-0A14541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91690"/>
            <a:ext cx="5372100" cy="720852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7" name="chip-horizontais-apari-es-na-serp">
            <a:extLst xmlns:a="http://schemas.openxmlformats.org/drawingml/2006/main">
              <a:ext uri="{FF2B5EF4-FFF2-40B4-BE49-F238E27FC236}">
                <a16:creationId xmlns:a16="http://schemas.microsoft.com/office/drawing/2014/main" id="{8FC7AED1-B145-4DF4-9586-E737431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339340"/>
            <a:ext cx="40576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3168C9"/>
          </a:solidFill>
        </p:spPr>
      </p:sp>
      <p:sp>
        <p:nvSpPr>
          <p:cNvPr id="48" name="chip-text-horizontais-apari-es-na-serp">
            <a:extLst xmlns:a="http://schemas.openxmlformats.org/drawingml/2006/main">
              <a:ext uri="{FF2B5EF4-FFF2-40B4-BE49-F238E27FC236}">
                <a16:creationId xmlns:a16="http://schemas.microsoft.com/office/drawing/2014/main" id="{1954E55A-1FD7-46DC-B5B6-2CBBFD8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438400"/>
            <a:ext cx="363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HORIZONTAIS · APARIÇÕES NA SERP</a:t>
            </a:r>
          </a:p>
        </p:txBody>
      </p:sp>
      <p:sp>
        <p:nvSpPr>
          <p:cNvPr id="49" name="comp-hor-name-0">
            <a:extLst xmlns:a="http://schemas.openxmlformats.org/drawingml/2006/main">
              <a:ext uri="{FF2B5EF4-FFF2-40B4-BE49-F238E27FC236}">
                <a16:creationId xmlns:a16="http://schemas.microsoft.com/office/drawing/2014/main" id="{5B10BF5B-DCE3-4E74-820D-64AF4D9C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914650"/>
            <a:ext cx="415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UnderChat</a:t>
            </a:r>
          </a:p>
        </p:txBody>
      </p:sp>
      <p:sp>
        <p:nvSpPr>
          <p:cNvPr id="50" name="comp-hor-count-0">
            <a:extLst xmlns:a="http://schemas.openxmlformats.org/drawingml/2006/main">
              <a:ext uri="{FF2B5EF4-FFF2-40B4-BE49-F238E27FC236}">
                <a16:creationId xmlns:a16="http://schemas.microsoft.com/office/drawing/2014/main" id="{F636A530-E851-469A-933E-374267B1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29146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68C9"/>
                </a:solidFill>
              </a:defRPr>
            </a:pPr>
            <a:r>
              <a:rPr sz="1275" b="1">
                <a:solidFill>
                  <a:srgbClr val="3168C9"/>
                </a:solidFill>
              </a:rPr>
              <a:t>6×</a:t>
            </a:r>
          </a:p>
        </p:txBody>
      </p:sp>
      <p:sp>
        <p:nvSpPr>
          <p:cNvPr id="51" name="comp-hor-name-1">
            <a:extLst xmlns:a="http://schemas.openxmlformats.org/drawingml/2006/main">
              <a:ext uri="{FF2B5EF4-FFF2-40B4-BE49-F238E27FC236}">
                <a16:creationId xmlns:a16="http://schemas.microsoft.com/office/drawing/2014/main" id="{B15E8759-F836-464F-8D70-F916C322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238500"/>
            <a:ext cx="415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Letalk</a:t>
            </a:r>
          </a:p>
        </p:txBody>
      </p:sp>
      <p:sp>
        <p:nvSpPr>
          <p:cNvPr id="52" name="comp-hor-count-1">
            <a:extLst xmlns:a="http://schemas.openxmlformats.org/drawingml/2006/main">
              <a:ext uri="{FF2B5EF4-FFF2-40B4-BE49-F238E27FC236}">
                <a16:creationId xmlns:a16="http://schemas.microsoft.com/office/drawing/2014/main" id="{D7D5622B-A631-438A-84F1-101F2BE6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323850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68C9"/>
                </a:solidFill>
              </a:defRPr>
            </a:pPr>
            <a:r>
              <a:rPr sz="1275" b="1">
                <a:solidFill>
                  <a:srgbClr val="3168C9"/>
                </a:solidFill>
              </a:rPr>
              <a:t>6×</a:t>
            </a:r>
          </a:p>
        </p:txBody>
      </p:sp>
      <p:sp>
        <p:nvSpPr>
          <p:cNvPr id="53" name="comp-hor-name-2">
            <a:extLst xmlns:a="http://schemas.openxmlformats.org/drawingml/2006/main">
              <a:ext uri="{FF2B5EF4-FFF2-40B4-BE49-F238E27FC236}">
                <a16:creationId xmlns:a16="http://schemas.microsoft.com/office/drawing/2014/main" id="{572ED749-4A43-446B-A01B-C4D4690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62350"/>
            <a:ext cx="415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ChatPro</a:t>
            </a:r>
          </a:p>
        </p:txBody>
      </p:sp>
      <p:sp>
        <p:nvSpPr>
          <p:cNvPr id="54" name="comp-hor-count-2">
            <a:extLst xmlns:a="http://schemas.openxmlformats.org/drawingml/2006/main">
              <a:ext uri="{FF2B5EF4-FFF2-40B4-BE49-F238E27FC236}">
                <a16:creationId xmlns:a16="http://schemas.microsoft.com/office/drawing/2014/main" id="{44B7CCA0-AAE3-4761-9B21-4A5D71F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35623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68C9"/>
                </a:solidFill>
              </a:defRPr>
            </a:pPr>
            <a:r>
              <a:rPr sz="1275" b="1">
                <a:solidFill>
                  <a:srgbClr val="3168C9"/>
                </a:solidFill>
              </a:rPr>
              <a:t>5×</a:t>
            </a:r>
          </a:p>
        </p:txBody>
      </p:sp>
      <p:sp>
        <p:nvSpPr>
          <p:cNvPr id="55" name="comp-hor-name-3">
            <a:extLst xmlns:a="http://schemas.openxmlformats.org/drawingml/2006/main">
              <a:ext uri="{FF2B5EF4-FFF2-40B4-BE49-F238E27FC236}">
                <a16:creationId xmlns:a16="http://schemas.microsoft.com/office/drawing/2014/main" id="{CE1C7579-A637-459C-8369-2D133344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905250"/>
            <a:ext cx="415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Total Chat</a:t>
            </a:r>
          </a:p>
        </p:txBody>
      </p:sp>
      <p:sp>
        <p:nvSpPr>
          <p:cNvPr id="56" name="comp-hor-count-3">
            <a:extLst xmlns:a="http://schemas.openxmlformats.org/drawingml/2006/main">
              <a:ext uri="{FF2B5EF4-FFF2-40B4-BE49-F238E27FC236}">
                <a16:creationId xmlns:a16="http://schemas.microsoft.com/office/drawing/2014/main" id="{47470DCC-9086-4F6C-8664-BAD4503A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39052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68C9"/>
                </a:solidFill>
              </a:defRPr>
            </a:pPr>
            <a:r>
              <a:rPr sz="1275" b="1">
                <a:solidFill>
                  <a:srgbClr val="3168C9"/>
                </a:solidFill>
              </a:rPr>
              <a:t>4×</a:t>
            </a:r>
          </a:p>
        </p:txBody>
      </p:sp>
      <p:sp>
        <p:nvSpPr>
          <p:cNvPr id="57" name="comp-hor-name-4">
            <a:extLst xmlns:a="http://schemas.openxmlformats.org/drawingml/2006/main">
              <a:ext uri="{FF2B5EF4-FFF2-40B4-BE49-F238E27FC236}">
                <a16:creationId xmlns:a16="http://schemas.microsoft.com/office/drawing/2014/main" id="{A44A00F1-E00F-4491-896B-4A1DB0A3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229100"/>
            <a:ext cx="415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Blip</a:t>
            </a:r>
          </a:p>
        </p:txBody>
      </p:sp>
      <p:sp>
        <p:nvSpPr>
          <p:cNvPr id="58" name="comp-hor-count-4">
            <a:extLst xmlns:a="http://schemas.openxmlformats.org/drawingml/2006/main">
              <a:ext uri="{FF2B5EF4-FFF2-40B4-BE49-F238E27FC236}">
                <a16:creationId xmlns:a16="http://schemas.microsoft.com/office/drawing/2014/main" id="{3376921D-3FEC-4F82-8AC8-5799E026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422910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68C9"/>
                </a:solidFill>
              </a:defRPr>
            </a:pPr>
            <a:r>
              <a:rPr sz="1275" b="1">
                <a:solidFill>
                  <a:srgbClr val="3168C9"/>
                </a:solidFill>
              </a:rPr>
              <a:t>2×</a:t>
            </a:r>
          </a:p>
        </p:txBody>
      </p:sp>
      <p:sp>
        <p:nvSpPr>
          <p:cNvPr id="59" name="comp-hor-name-5">
            <a:extLst xmlns:a="http://schemas.openxmlformats.org/drawingml/2006/main">
              <a:ext uri="{FF2B5EF4-FFF2-40B4-BE49-F238E27FC236}">
                <a16:creationId xmlns:a16="http://schemas.microsoft.com/office/drawing/2014/main" id="{D8FBBBD8-2ED4-4207-9BA5-C35AE27F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552950"/>
            <a:ext cx="415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Kommo</a:t>
            </a:r>
          </a:p>
        </p:txBody>
      </p:sp>
      <p:sp>
        <p:nvSpPr>
          <p:cNvPr id="60" name="comp-hor-count-5">
            <a:extLst xmlns:a="http://schemas.openxmlformats.org/drawingml/2006/main">
              <a:ext uri="{FF2B5EF4-FFF2-40B4-BE49-F238E27FC236}">
                <a16:creationId xmlns:a16="http://schemas.microsoft.com/office/drawing/2014/main" id="{07627F26-9992-4D36-A632-A57261F6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45529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68C9"/>
                </a:solidFill>
              </a:defRPr>
            </a:pPr>
            <a:r>
              <a:rPr sz="1275" b="1">
                <a:solidFill>
                  <a:srgbClr val="3168C9"/>
                </a:solidFill>
              </a:rPr>
              <a:t>2×</a:t>
            </a:r>
          </a:p>
        </p:txBody>
      </p:sp>
      <p:sp>
        <p:nvSpPr>
          <p:cNvPr id="61" name="comp-hor-name-6">
            <a:extLst xmlns:a="http://schemas.openxmlformats.org/drawingml/2006/main">
              <a:ext uri="{FF2B5EF4-FFF2-40B4-BE49-F238E27FC236}">
                <a16:creationId xmlns:a16="http://schemas.microsoft.com/office/drawing/2014/main" id="{8F71189E-84E3-442A-A679-C6EF264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876800"/>
            <a:ext cx="415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Clientify</a:t>
            </a:r>
          </a:p>
        </p:txBody>
      </p:sp>
      <p:sp>
        <p:nvSpPr>
          <p:cNvPr id="62" name="comp-hor-count-6">
            <a:extLst xmlns:a="http://schemas.openxmlformats.org/drawingml/2006/main">
              <a:ext uri="{FF2B5EF4-FFF2-40B4-BE49-F238E27FC236}">
                <a16:creationId xmlns:a16="http://schemas.microsoft.com/office/drawing/2014/main" id="{32842919-3DCD-4957-BA0C-C850EC5D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487680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68C9"/>
                </a:solidFill>
              </a:defRPr>
            </a:pPr>
            <a:r>
              <a:rPr sz="1275" b="1">
                <a:solidFill>
                  <a:srgbClr val="3168C9"/>
                </a:solidFill>
              </a:rPr>
              <a:t>2×</a:t>
            </a:r>
          </a:p>
        </p:txBody>
      </p:sp>
      <p:sp>
        <p:nvSpPr>
          <p:cNvPr id="63" name="comp-hor-name-7">
            <a:extLst xmlns:a="http://schemas.openxmlformats.org/drawingml/2006/main">
              <a:ext uri="{FF2B5EF4-FFF2-40B4-BE49-F238E27FC236}">
                <a16:creationId xmlns:a16="http://schemas.microsoft.com/office/drawing/2014/main" id="{BCCBCEDC-3E3C-4C24-A24D-8AEB289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219700"/>
            <a:ext cx="415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A2E"/>
                </a:solidFill>
              </a:defRPr>
            </a:pPr>
            <a:r>
              <a:rPr sz="1350">
                <a:solidFill>
                  <a:srgbClr val="132A2E"/>
                </a:solidFill>
              </a:rPr>
              <a:t>Multiatendente</a:t>
            </a:r>
          </a:p>
        </p:txBody>
      </p:sp>
      <p:sp>
        <p:nvSpPr>
          <p:cNvPr id="64" name="comp-hor-count-7">
            <a:extLst xmlns:a="http://schemas.openxmlformats.org/drawingml/2006/main">
              <a:ext uri="{FF2B5EF4-FFF2-40B4-BE49-F238E27FC236}">
                <a16:creationId xmlns:a16="http://schemas.microsoft.com/office/drawing/2014/main" id="{88E57B07-FD24-41EE-A94F-CE73C34C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521970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68C9"/>
                </a:solidFill>
              </a:defRPr>
            </a:pPr>
            <a:r>
              <a:rPr sz="1275" b="1">
                <a:solidFill>
                  <a:srgbClr val="3168C9"/>
                </a:solidFill>
              </a:rPr>
              <a:t>2×</a:t>
            </a:r>
          </a:p>
        </p:txBody>
      </p:sp>
      <p:sp>
        <p:nvSpPr>
          <p:cNvPr id="65" name="comp-hor-rule">
            <a:extLst xmlns:a="http://schemas.openxmlformats.org/drawingml/2006/main">
              <a:ext uri="{FF2B5EF4-FFF2-40B4-BE49-F238E27FC236}">
                <a16:creationId xmlns:a16="http://schemas.microsoft.com/office/drawing/2014/main" id="{AC4346E5-D57D-4A17-9566-FD5832CE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58165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66" name="comp-hor-vic-label">
            <a:extLst xmlns:a="http://schemas.openxmlformats.org/drawingml/2006/main">
              <a:ext uri="{FF2B5EF4-FFF2-40B4-BE49-F238E27FC236}">
                <a16:creationId xmlns:a16="http://schemas.microsoft.com/office/drawing/2014/main" id="{76E7AB2F-BEEF-4D4E-96DB-0416C7B2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715000"/>
            <a:ext cx="483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7A62F"/>
                </a:solidFill>
              </a:defRPr>
            </a:pPr>
            <a:r>
              <a:rPr sz="900" b="1">
                <a:solidFill>
                  <a:srgbClr val="E7A62F"/>
                </a:solidFill>
              </a:rPr>
              <a:t>CITADO POR VICTOR</a:t>
            </a:r>
          </a:p>
        </p:txBody>
      </p:sp>
      <p:sp>
        <p:nvSpPr>
          <p:cNvPr id="67" name="comp-hor-vic-text">
            <a:extLst xmlns:a="http://schemas.openxmlformats.org/drawingml/2006/main">
              <a:ext uri="{FF2B5EF4-FFF2-40B4-BE49-F238E27FC236}">
                <a16:creationId xmlns:a16="http://schemas.microsoft.com/office/drawing/2014/main" id="{09E59C09-C4E1-495E-A53E-8B841E56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886450"/>
            <a:ext cx="483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A2E"/>
                </a:solidFill>
              </a:defRPr>
            </a:pPr>
            <a:r>
              <a:rPr sz="1200">
                <a:solidFill>
                  <a:srgbClr val="132A2E"/>
                </a:solidFill>
              </a:rPr>
              <a:t>DigiSac — multicanal enterprise, citado em conversas com clientes</a:t>
            </a:r>
          </a:p>
        </p:txBody>
      </p:sp>
      <p:sp>
        <p:nvSpPr>
          <p:cNvPr id="68" name="footer-left-14">
            <a:extLst xmlns:a="http://schemas.openxmlformats.org/drawingml/2006/main">
              <a:ext uri="{FF2B5EF4-FFF2-40B4-BE49-F238E27FC236}">
                <a16:creationId xmlns:a16="http://schemas.microsoft.com/office/drawing/2014/main" id="{C02EF284-7B5C-4947-865B-61DDF428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69" name="footer-right-14">
            <a:extLst xmlns:a="http://schemas.openxmlformats.org/drawingml/2006/main">
              <a:ext uri="{FF2B5EF4-FFF2-40B4-BE49-F238E27FC236}">
                <a16:creationId xmlns:a16="http://schemas.microsoft.com/office/drawing/2014/main" id="{1426AD19-7286-448C-8FD3-7E530BBE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Anexo · 2 / 4</a:t>
            </a:r>
          </a:p>
        </p:txBody>
      </p:sp>
    </p:spTree>
    <p:extLst>
      <p:ext uri="{BB962C8B-B14F-4D97-AF65-F5344CB8AC3E}">
        <p14:creationId xmlns:p14="http://schemas.microsoft.com/office/powerpoint/2010/main" val="10809740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24764A-3771-4505-91C8-51D67CC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anexo-c-score-completo-dos-12-termos">
            <a:extLst xmlns:a="http://schemas.openxmlformats.org/drawingml/2006/main">
              <a:ext uri="{FF2B5EF4-FFF2-40B4-BE49-F238E27FC236}">
                <a16:creationId xmlns:a16="http://schemas.microsoft.com/office/drawing/2014/main" id="{1C0CFDE0-C75B-457E-9F8C-0B59BADC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472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ANEXO C · SCORE COMPLETO DOS 12 TERMOS</a:t>
            </a:r>
          </a:p>
        </p:txBody>
      </p:sp>
      <p:sp>
        <p:nvSpPr>
          <p:cNvPr id="3" name="slide-title-anexo-c-score-completo-dos-12-termos">
            <a:extLst xmlns:a="http://schemas.openxmlformats.org/drawingml/2006/main">
              <a:ext uri="{FF2B5EF4-FFF2-40B4-BE49-F238E27FC236}">
                <a16:creationId xmlns:a16="http://schemas.microsoft.com/office/drawing/2014/main" id="{EA7984C9-C32C-4040-960F-3254E78B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A2E"/>
                </a:solidFill>
              </a:defRPr>
            </a:pPr>
            <a:r>
              <a:rPr sz="2700" b="1">
                <a:solidFill>
                  <a:srgbClr val="132A2E"/>
                </a:solidFill>
              </a:rPr>
              <a:t>Score por 6 critérios, escala 1-30. Demanda/SERP, intenção comercial, fit produto, fit comercial, oportunidade SERP e especificidade.</a:t>
            </a:r>
          </a:p>
        </p:txBody>
      </p:sp>
      <p:sp>
        <p:nvSpPr>
          <p:cNvPr id="4" name="slide-subtitle-empty-anexo-c-score-completo-dos-12-termos">
            <a:extLst xmlns:a="http://schemas.openxmlformats.org/drawingml/2006/main">
              <a:ext uri="{FF2B5EF4-FFF2-40B4-BE49-F238E27FC236}">
                <a16:creationId xmlns:a16="http://schemas.microsoft.com/office/drawing/2014/main" id="{6E3205EA-E030-4274-A776-926F57D3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score-head-0">
            <a:extLst xmlns:a="http://schemas.openxmlformats.org/drawingml/2006/main">
              <a:ext uri="{FF2B5EF4-FFF2-40B4-BE49-F238E27FC236}">
                <a16:creationId xmlns:a16="http://schemas.microsoft.com/office/drawing/2014/main" id="{EFDB2D6B-E023-422D-A1DB-67C6F63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8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#</a:t>
            </a:r>
          </a:p>
        </p:txBody>
      </p:sp>
      <p:sp>
        <p:nvSpPr>
          <p:cNvPr id="6" name="score-head-1">
            <a:extLst xmlns:a="http://schemas.openxmlformats.org/drawingml/2006/main">
              <a:ext uri="{FF2B5EF4-FFF2-40B4-BE49-F238E27FC236}">
                <a16:creationId xmlns:a16="http://schemas.microsoft.com/office/drawing/2014/main" id="{0CFFC044-D6D9-4B70-852F-4960C764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62200"/>
            <a:ext cx="842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TERMO</a:t>
            </a:r>
          </a:p>
        </p:txBody>
      </p:sp>
      <p:sp>
        <p:nvSpPr>
          <p:cNvPr id="7" name="score-head-2">
            <a:extLst xmlns:a="http://schemas.openxmlformats.org/drawingml/2006/main">
              <a:ext uri="{FF2B5EF4-FFF2-40B4-BE49-F238E27FC236}">
                <a16:creationId xmlns:a16="http://schemas.microsoft.com/office/drawing/2014/main" id="{A2457B73-03FE-4555-9195-3BE9B49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6220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USO RECOMENDADO</a:t>
            </a:r>
          </a:p>
        </p:txBody>
      </p:sp>
      <p:sp>
        <p:nvSpPr>
          <p:cNvPr id="8" name="score-head-3">
            <a:extLst xmlns:a="http://schemas.openxmlformats.org/drawingml/2006/main">
              <a:ext uri="{FF2B5EF4-FFF2-40B4-BE49-F238E27FC236}">
                <a16:creationId xmlns:a16="http://schemas.microsoft.com/office/drawing/2014/main" id="{40092631-D3E8-4BA4-B753-D6667B87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36220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SCORE</a:t>
            </a:r>
          </a:p>
        </p:txBody>
      </p:sp>
      <p:sp>
        <p:nvSpPr>
          <p:cNvPr id="9" name="score-rule-0">
            <a:extLst xmlns:a="http://schemas.openxmlformats.org/drawingml/2006/main">
              <a:ext uri="{FF2B5EF4-FFF2-40B4-BE49-F238E27FC236}">
                <a16:creationId xmlns:a16="http://schemas.microsoft.com/office/drawing/2014/main" id="{F983B970-E674-4CE7-9273-4E0B246E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10" name="score-r-1">
            <a:extLst xmlns:a="http://schemas.openxmlformats.org/drawingml/2006/main">
              <a:ext uri="{FF2B5EF4-FFF2-40B4-BE49-F238E27FC236}">
                <a16:creationId xmlns:a16="http://schemas.microsoft.com/office/drawing/2014/main" id="{36BA754A-1201-40E1-9DF4-3B3017C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1</a:t>
            </a:r>
          </a:p>
        </p:txBody>
      </p:sp>
      <p:sp>
        <p:nvSpPr>
          <p:cNvPr id="11" name="score-t-1">
            <a:extLst xmlns:a="http://schemas.openxmlformats.org/drawingml/2006/main">
              <a:ext uri="{FF2B5EF4-FFF2-40B4-BE49-F238E27FC236}">
                <a16:creationId xmlns:a16="http://schemas.microsoft.com/office/drawing/2014/main" id="{3460EE6B-F317-4F40-971F-EC134D73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sistema de whatsapp para escritório contábil</a:t>
            </a:r>
          </a:p>
        </p:txBody>
      </p:sp>
      <p:sp>
        <p:nvSpPr>
          <p:cNvPr id="12" name="score-u-1">
            <a:extLst xmlns:a="http://schemas.openxmlformats.org/drawingml/2006/main">
              <a:ext uri="{FF2B5EF4-FFF2-40B4-BE49-F238E27FC236}">
                <a16:creationId xmlns:a16="http://schemas.microsoft.com/office/drawing/2014/main" id="{8BA5C649-3FB4-4232-87C6-06773205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 page</a:t>
            </a:r>
          </a:p>
        </p:txBody>
      </p:sp>
      <p:sp>
        <p:nvSpPr>
          <p:cNvPr id="13" name="score-track-28">
            <a:extLst xmlns:a="http://schemas.openxmlformats.org/drawingml/2006/main">
              <a:ext uri="{FF2B5EF4-FFF2-40B4-BE49-F238E27FC236}">
                <a16:creationId xmlns:a16="http://schemas.microsoft.com/office/drawing/2014/main" id="{04B9ABEE-265C-455E-87A3-C4A229D6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74320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14" name="score-fill-28">
            <a:extLst xmlns:a="http://schemas.openxmlformats.org/drawingml/2006/main">
              <a:ext uri="{FF2B5EF4-FFF2-40B4-BE49-F238E27FC236}">
                <a16:creationId xmlns:a16="http://schemas.microsoft.com/office/drawing/2014/main" id="{BF6AF880-5368-4E88-8617-94D20068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743200"/>
            <a:ext cx="2133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15" name="score-num-28">
            <a:extLst xmlns:a="http://schemas.openxmlformats.org/drawingml/2006/main">
              <a:ext uri="{FF2B5EF4-FFF2-40B4-BE49-F238E27FC236}">
                <a16:creationId xmlns:a16="http://schemas.microsoft.com/office/drawing/2014/main" id="{92A1946D-D367-4F5F-814F-9C136A94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6670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28/30</a:t>
            </a:r>
          </a:p>
        </p:txBody>
      </p:sp>
      <p:sp>
        <p:nvSpPr>
          <p:cNvPr id="16" name="score-r-2">
            <a:extLst xmlns:a="http://schemas.openxmlformats.org/drawingml/2006/main">
              <a:ext uri="{FF2B5EF4-FFF2-40B4-BE49-F238E27FC236}">
                <a16:creationId xmlns:a16="http://schemas.microsoft.com/office/drawing/2014/main" id="{8C96F8F3-4094-4358-9567-5EB1407B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2</a:t>
            </a:r>
          </a:p>
        </p:txBody>
      </p:sp>
      <p:sp>
        <p:nvSpPr>
          <p:cNvPr id="17" name="score-t-2">
            <a:extLst xmlns:a="http://schemas.openxmlformats.org/drawingml/2006/main">
              <a:ext uri="{FF2B5EF4-FFF2-40B4-BE49-F238E27FC236}">
                <a16:creationId xmlns:a16="http://schemas.microsoft.com/office/drawing/2014/main" id="{9AAF7E97-3D16-4F18-B2E6-FA55F0F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atendimento whatsapp escritório contábil</a:t>
            </a:r>
          </a:p>
        </p:txBody>
      </p:sp>
      <p:sp>
        <p:nvSpPr>
          <p:cNvPr id="18" name="score-u-2">
            <a:extLst xmlns:a="http://schemas.openxmlformats.org/drawingml/2006/main">
              <a:ext uri="{FF2B5EF4-FFF2-40B4-BE49-F238E27FC236}">
                <a16:creationId xmlns:a16="http://schemas.microsoft.com/office/drawing/2014/main" id="{42480558-7CAC-4BB4-93CC-721FA055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099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 page</a:t>
            </a:r>
          </a:p>
        </p:txBody>
      </p:sp>
      <p:sp>
        <p:nvSpPr>
          <p:cNvPr id="19" name="score-track-27">
            <a:extLst xmlns:a="http://schemas.openxmlformats.org/drawingml/2006/main">
              <a:ext uri="{FF2B5EF4-FFF2-40B4-BE49-F238E27FC236}">
                <a16:creationId xmlns:a16="http://schemas.microsoft.com/office/drawing/2014/main" id="{F2ECB8FE-08C8-4D38-88DC-0FFE8851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308610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20" name="score-fill-27">
            <a:extLst xmlns:a="http://schemas.openxmlformats.org/drawingml/2006/main">
              <a:ext uri="{FF2B5EF4-FFF2-40B4-BE49-F238E27FC236}">
                <a16:creationId xmlns:a16="http://schemas.microsoft.com/office/drawing/2014/main" id="{5CD0070A-FDE8-4E5E-9B65-6D24B98F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124200"/>
            <a:ext cx="2057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21" name="score-num-27">
            <a:extLst xmlns:a="http://schemas.openxmlformats.org/drawingml/2006/main">
              <a:ext uri="{FF2B5EF4-FFF2-40B4-BE49-F238E27FC236}">
                <a16:creationId xmlns:a16="http://schemas.microsoft.com/office/drawing/2014/main" id="{501094D0-00A3-4F8B-A473-F483B4E5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30099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27/30</a:t>
            </a:r>
          </a:p>
        </p:txBody>
      </p:sp>
      <p:sp>
        <p:nvSpPr>
          <p:cNvPr id="22" name="score-r-3">
            <a:extLst xmlns:a="http://schemas.openxmlformats.org/drawingml/2006/main">
              <a:ext uri="{FF2B5EF4-FFF2-40B4-BE49-F238E27FC236}">
                <a16:creationId xmlns:a16="http://schemas.microsoft.com/office/drawing/2014/main" id="{B0B3CD8B-FFFE-422C-BEFE-55C98F9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3</a:t>
            </a:r>
          </a:p>
        </p:txBody>
      </p:sp>
      <p:sp>
        <p:nvSpPr>
          <p:cNvPr id="23" name="score-t-3">
            <a:extLst xmlns:a="http://schemas.openxmlformats.org/drawingml/2006/main">
              <a:ext uri="{FF2B5EF4-FFF2-40B4-BE49-F238E27FC236}">
                <a16:creationId xmlns:a16="http://schemas.microsoft.com/office/drawing/2014/main" id="{9F8E83C6-D8AC-44E8-BB09-F4B33638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528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whatsapp para escritórios contábeis</a:t>
            </a:r>
          </a:p>
        </p:txBody>
      </p:sp>
      <p:sp>
        <p:nvSpPr>
          <p:cNvPr id="24" name="score-u-3">
            <a:extLst xmlns:a="http://schemas.openxmlformats.org/drawingml/2006/main">
              <a:ext uri="{FF2B5EF4-FFF2-40B4-BE49-F238E27FC236}">
                <a16:creationId xmlns:a16="http://schemas.microsoft.com/office/drawing/2014/main" id="{5805ED2D-02B2-4C98-9A0D-953A07F6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528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 page</a:t>
            </a:r>
          </a:p>
        </p:txBody>
      </p:sp>
      <p:sp>
        <p:nvSpPr>
          <p:cNvPr id="25" name="score-track-26">
            <a:extLst xmlns:a="http://schemas.openxmlformats.org/drawingml/2006/main">
              <a:ext uri="{FF2B5EF4-FFF2-40B4-BE49-F238E27FC236}">
                <a16:creationId xmlns:a16="http://schemas.microsoft.com/office/drawing/2014/main" id="{17AA2C88-77E7-4FD3-A20F-C57B1EAF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342900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26" name="score-fill-26">
            <a:extLst xmlns:a="http://schemas.openxmlformats.org/drawingml/2006/main">
              <a:ext uri="{FF2B5EF4-FFF2-40B4-BE49-F238E27FC236}">
                <a16:creationId xmlns:a16="http://schemas.microsoft.com/office/drawing/2014/main" id="{2A1994E8-1B42-4CCE-8FDD-B121B64F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429000"/>
            <a:ext cx="1981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27" name="score-num-26">
            <a:extLst xmlns:a="http://schemas.openxmlformats.org/drawingml/2006/main">
              <a:ext uri="{FF2B5EF4-FFF2-40B4-BE49-F238E27FC236}">
                <a16:creationId xmlns:a16="http://schemas.microsoft.com/office/drawing/2014/main" id="{135515A9-0027-40EF-B188-9A8029C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33528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26/30</a:t>
            </a:r>
          </a:p>
        </p:txBody>
      </p:sp>
      <p:sp>
        <p:nvSpPr>
          <p:cNvPr id="28" name="score-r-4">
            <a:extLst xmlns:a="http://schemas.openxmlformats.org/drawingml/2006/main">
              <a:ext uri="{FF2B5EF4-FFF2-40B4-BE49-F238E27FC236}">
                <a16:creationId xmlns:a16="http://schemas.microsoft.com/office/drawing/2014/main" id="{F30934AD-A9A0-48A1-A41B-E58B1AE5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4</a:t>
            </a:r>
          </a:p>
        </p:txBody>
      </p:sp>
      <p:sp>
        <p:nvSpPr>
          <p:cNvPr id="29" name="score-t-4">
            <a:extLst xmlns:a="http://schemas.openxmlformats.org/drawingml/2006/main">
              <a:ext uri="{FF2B5EF4-FFF2-40B4-BE49-F238E27FC236}">
                <a16:creationId xmlns:a16="http://schemas.microsoft.com/office/drawing/2014/main" id="{E057F4B7-9F35-4F40-A78E-E2C09B71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sistema de whatsapp para contabilidade</a:t>
            </a:r>
          </a:p>
        </p:txBody>
      </p:sp>
      <p:sp>
        <p:nvSpPr>
          <p:cNvPr id="30" name="score-u-4">
            <a:extLst xmlns:a="http://schemas.openxmlformats.org/drawingml/2006/main">
              <a:ext uri="{FF2B5EF4-FFF2-40B4-BE49-F238E27FC236}">
                <a16:creationId xmlns:a16="http://schemas.microsoft.com/office/drawing/2014/main" id="{A082B5A7-6C32-4F4C-A211-3C75CE8A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957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 page</a:t>
            </a:r>
          </a:p>
        </p:txBody>
      </p:sp>
      <p:sp>
        <p:nvSpPr>
          <p:cNvPr id="31" name="score-track-26">
            <a:extLst xmlns:a="http://schemas.openxmlformats.org/drawingml/2006/main">
              <a:ext uri="{FF2B5EF4-FFF2-40B4-BE49-F238E27FC236}">
                <a16:creationId xmlns:a16="http://schemas.microsoft.com/office/drawing/2014/main" id="{DE260D78-17FC-4EFF-97F9-91166AA2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379095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32" name="score-fill-26">
            <a:extLst xmlns:a="http://schemas.openxmlformats.org/drawingml/2006/main">
              <a:ext uri="{FF2B5EF4-FFF2-40B4-BE49-F238E27FC236}">
                <a16:creationId xmlns:a16="http://schemas.microsoft.com/office/drawing/2014/main" id="{35C77566-D5FA-4FF0-992B-AAAC6B85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810000"/>
            <a:ext cx="1981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33" name="score-num-26">
            <a:extLst xmlns:a="http://schemas.openxmlformats.org/drawingml/2006/main">
              <a:ext uri="{FF2B5EF4-FFF2-40B4-BE49-F238E27FC236}">
                <a16:creationId xmlns:a16="http://schemas.microsoft.com/office/drawing/2014/main" id="{B651BAF9-B923-4FD4-847B-12553062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36957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26/30</a:t>
            </a:r>
          </a:p>
        </p:txBody>
      </p:sp>
      <p:sp>
        <p:nvSpPr>
          <p:cNvPr id="34" name="score-r-5">
            <a:extLst xmlns:a="http://schemas.openxmlformats.org/drawingml/2006/main">
              <a:ext uri="{FF2B5EF4-FFF2-40B4-BE49-F238E27FC236}">
                <a16:creationId xmlns:a16="http://schemas.microsoft.com/office/drawing/2014/main" id="{1C319257-80CA-48D3-835D-13CCB03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5</a:t>
            </a:r>
          </a:p>
        </p:txBody>
      </p:sp>
      <p:sp>
        <p:nvSpPr>
          <p:cNvPr id="35" name="score-t-5">
            <a:extLst xmlns:a="http://schemas.openxmlformats.org/drawingml/2006/main">
              <a:ext uri="{FF2B5EF4-FFF2-40B4-BE49-F238E27FC236}">
                <a16:creationId xmlns:a16="http://schemas.microsoft.com/office/drawing/2014/main" id="{1E4E688F-9217-4093-AE4E-96E9F719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whatsapp com múltiplos atendentes</a:t>
            </a:r>
          </a:p>
        </p:txBody>
      </p:sp>
      <p:sp>
        <p:nvSpPr>
          <p:cNvPr id="36" name="score-u-5">
            <a:extLst xmlns:a="http://schemas.openxmlformats.org/drawingml/2006/main">
              <a:ext uri="{FF2B5EF4-FFF2-40B4-BE49-F238E27FC236}">
                <a16:creationId xmlns:a16="http://schemas.microsoft.com/office/drawing/2014/main" id="{306448F8-5EA2-4A43-A248-8CD511D0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5765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 page</a:t>
            </a:r>
          </a:p>
        </p:txBody>
      </p:sp>
      <p:sp>
        <p:nvSpPr>
          <p:cNvPr id="37" name="score-track-25">
            <a:extLst xmlns:a="http://schemas.openxmlformats.org/drawingml/2006/main">
              <a:ext uri="{FF2B5EF4-FFF2-40B4-BE49-F238E27FC236}">
                <a16:creationId xmlns:a16="http://schemas.microsoft.com/office/drawing/2014/main" id="{CCF2D4E8-9D16-40A2-9703-26AD6BB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13385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38" name="score-fill-25">
            <a:extLst xmlns:a="http://schemas.openxmlformats.org/drawingml/2006/main">
              <a:ext uri="{FF2B5EF4-FFF2-40B4-BE49-F238E27FC236}">
                <a16:creationId xmlns:a16="http://schemas.microsoft.com/office/drawing/2014/main" id="{F10EFB88-689D-4C49-87D4-E604477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114800"/>
            <a:ext cx="190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39" name="score-num-25">
            <a:extLst xmlns:a="http://schemas.openxmlformats.org/drawingml/2006/main">
              <a:ext uri="{FF2B5EF4-FFF2-40B4-BE49-F238E27FC236}">
                <a16:creationId xmlns:a16="http://schemas.microsoft.com/office/drawing/2014/main" id="{243F0967-07AF-4987-988C-10069259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40386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25/30</a:t>
            </a:r>
          </a:p>
        </p:txBody>
      </p:sp>
      <p:sp>
        <p:nvSpPr>
          <p:cNvPr id="40" name="score-r-6">
            <a:extLst xmlns:a="http://schemas.openxmlformats.org/drawingml/2006/main">
              <a:ext uri="{FF2B5EF4-FFF2-40B4-BE49-F238E27FC236}">
                <a16:creationId xmlns:a16="http://schemas.microsoft.com/office/drawing/2014/main" id="{00FF8947-CAE3-4BD8-A498-81E87D5A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6</a:t>
            </a:r>
          </a:p>
        </p:txBody>
      </p:sp>
      <p:sp>
        <p:nvSpPr>
          <p:cNvPr id="41" name="score-t-6">
            <a:extLst xmlns:a="http://schemas.openxmlformats.org/drawingml/2006/main">
              <a:ext uri="{FF2B5EF4-FFF2-40B4-BE49-F238E27FC236}">
                <a16:creationId xmlns:a16="http://schemas.microsoft.com/office/drawing/2014/main" id="{9646F005-12A4-4AD9-9022-4C15DEF8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centralizar atendimento whatsapp</a:t>
            </a:r>
          </a:p>
        </p:txBody>
      </p:sp>
      <p:sp>
        <p:nvSpPr>
          <p:cNvPr id="42" name="score-u-6">
            <a:extLst xmlns:a="http://schemas.openxmlformats.org/drawingml/2006/main">
              <a:ext uri="{FF2B5EF4-FFF2-40B4-BE49-F238E27FC236}">
                <a16:creationId xmlns:a16="http://schemas.microsoft.com/office/drawing/2014/main" id="{78072882-14AE-468D-B493-09421DA4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0055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Blog/landing de dor</a:t>
            </a:r>
          </a:p>
        </p:txBody>
      </p:sp>
      <p:sp>
        <p:nvSpPr>
          <p:cNvPr id="43" name="score-track-25">
            <a:extLst xmlns:a="http://schemas.openxmlformats.org/drawingml/2006/main">
              <a:ext uri="{FF2B5EF4-FFF2-40B4-BE49-F238E27FC236}">
                <a16:creationId xmlns:a16="http://schemas.microsoft.com/office/drawing/2014/main" id="{43441D37-A9DB-482D-B6AF-BE1DFFF1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47675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44" name="score-fill-25">
            <a:extLst xmlns:a="http://schemas.openxmlformats.org/drawingml/2006/main">
              <a:ext uri="{FF2B5EF4-FFF2-40B4-BE49-F238E27FC236}">
                <a16:creationId xmlns:a16="http://schemas.microsoft.com/office/drawing/2014/main" id="{8D622597-63D9-4E8E-A061-0E5E61A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495800"/>
            <a:ext cx="190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45" name="score-num-25">
            <a:extLst xmlns:a="http://schemas.openxmlformats.org/drawingml/2006/main">
              <a:ext uri="{FF2B5EF4-FFF2-40B4-BE49-F238E27FC236}">
                <a16:creationId xmlns:a16="http://schemas.microsoft.com/office/drawing/2014/main" id="{E900A00F-FC19-4DAF-84EE-AF60416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43815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25/30</a:t>
            </a:r>
          </a:p>
        </p:txBody>
      </p:sp>
      <p:sp>
        <p:nvSpPr>
          <p:cNvPr id="46" name="score-r-7">
            <a:extLst xmlns:a="http://schemas.openxmlformats.org/drawingml/2006/main">
              <a:ext uri="{FF2B5EF4-FFF2-40B4-BE49-F238E27FC236}">
                <a16:creationId xmlns:a16="http://schemas.microsoft.com/office/drawing/2014/main" id="{A580160E-1099-46F9-B87C-B72E36E3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7</a:t>
            </a:r>
          </a:p>
        </p:txBody>
      </p:sp>
      <p:sp>
        <p:nvSpPr>
          <p:cNvPr id="47" name="score-t-7">
            <a:extLst xmlns:a="http://schemas.openxmlformats.org/drawingml/2006/main">
              <a:ext uri="{FF2B5EF4-FFF2-40B4-BE49-F238E27FC236}">
                <a16:creationId xmlns:a16="http://schemas.microsoft.com/office/drawing/2014/main" id="{5F997288-EB70-4DF2-BCAD-C9FBC9BF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organizar atendimento whatsapp</a:t>
            </a:r>
          </a:p>
        </p:txBody>
      </p:sp>
      <p:sp>
        <p:nvSpPr>
          <p:cNvPr id="48" name="score-u-7">
            <a:extLst xmlns:a="http://schemas.openxmlformats.org/drawingml/2006/main">
              <a:ext uri="{FF2B5EF4-FFF2-40B4-BE49-F238E27FC236}">
                <a16:creationId xmlns:a16="http://schemas.microsoft.com/office/drawing/2014/main" id="{D21FA177-0BBC-4A77-BC34-A6E187E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4345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Blog/landing de dor</a:t>
            </a:r>
          </a:p>
        </p:txBody>
      </p:sp>
      <p:sp>
        <p:nvSpPr>
          <p:cNvPr id="49" name="score-track-25">
            <a:extLst xmlns:a="http://schemas.openxmlformats.org/drawingml/2006/main">
              <a:ext uri="{FF2B5EF4-FFF2-40B4-BE49-F238E27FC236}">
                <a16:creationId xmlns:a16="http://schemas.microsoft.com/office/drawing/2014/main" id="{1AC5198F-12D2-49B3-9484-4256B115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81965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50" name="score-fill-25">
            <a:extLst xmlns:a="http://schemas.openxmlformats.org/drawingml/2006/main">
              <a:ext uri="{FF2B5EF4-FFF2-40B4-BE49-F238E27FC236}">
                <a16:creationId xmlns:a16="http://schemas.microsoft.com/office/drawing/2014/main" id="{8152D72C-FE18-476A-8E04-89AE4E0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800600"/>
            <a:ext cx="190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51" name="score-num-25">
            <a:extLst xmlns:a="http://schemas.openxmlformats.org/drawingml/2006/main">
              <a:ext uri="{FF2B5EF4-FFF2-40B4-BE49-F238E27FC236}">
                <a16:creationId xmlns:a16="http://schemas.microsoft.com/office/drawing/2014/main" id="{D600C203-51B2-4DE5-B64E-D3B653D4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474345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25/30</a:t>
            </a:r>
          </a:p>
        </p:txBody>
      </p:sp>
      <p:sp>
        <p:nvSpPr>
          <p:cNvPr id="52" name="score-r-8">
            <a:extLst xmlns:a="http://schemas.openxmlformats.org/drawingml/2006/main">
              <a:ext uri="{FF2B5EF4-FFF2-40B4-BE49-F238E27FC236}">
                <a16:creationId xmlns:a16="http://schemas.microsoft.com/office/drawing/2014/main" id="{4563F983-3E8E-4EA0-87BD-E3D4A314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8</a:t>
            </a:r>
          </a:p>
        </p:txBody>
      </p:sp>
      <p:sp>
        <p:nvSpPr>
          <p:cNvPr id="53" name="score-t-8">
            <a:extLst xmlns:a="http://schemas.openxmlformats.org/drawingml/2006/main">
              <a:ext uri="{FF2B5EF4-FFF2-40B4-BE49-F238E27FC236}">
                <a16:creationId xmlns:a16="http://schemas.microsoft.com/office/drawing/2014/main" id="{67180F31-B751-498D-B5D0-A50D2C96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atendimento whatsapp para contadores</a:t>
            </a:r>
          </a:p>
        </p:txBody>
      </p:sp>
      <p:sp>
        <p:nvSpPr>
          <p:cNvPr id="54" name="score-u-8">
            <a:extLst xmlns:a="http://schemas.openxmlformats.org/drawingml/2006/main">
              <a:ext uri="{FF2B5EF4-FFF2-40B4-BE49-F238E27FC236}">
                <a16:creationId xmlns:a16="http://schemas.microsoft.com/office/drawing/2014/main" id="{1F20B966-9D0B-4E38-9082-59CE91C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08635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Landing/blog</a:t>
            </a:r>
          </a:p>
        </p:txBody>
      </p:sp>
      <p:sp>
        <p:nvSpPr>
          <p:cNvPr id="55" name="score-track-24">
            <a:extLst xmlns:a="http://schemas.openxmlformats.org/drawingml/2006/main">
              <a:ext uri="{FF2B5EF4-FFF2-40B4-BE49-F238E27FC236}">
                <a16:creationId xmlns:a16="http://schemas.microsoft.com/office/drawing/2014/main" id="{EBE70DF0-6008-419B-9888-B130FA85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16255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56" name="score-fill-24">
            <a:extLst xmlns:a="http://schemas.openxmlformats.org/drawingml/2006/main">
              <a:ext uri="{FF2B5EF4-FFF2-40B4-BE49-F238E27FC236}">
                <a16:creationId xmlns:a16="http://schemas.microsoft.com/office/drawing/2014/main" id="{34F210D4-D24A-4A72-847D-4B59BF5F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181600"/>
            <a:ext cx="1828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57" name="score-num-24">
            <a:extLst xmlns:a="http://schemas.openxmlformats.org/drawingml/2006/main">
              <a:ext uri="{FF2B5EF4-FFF2-40B4-BE49-F238E27FC236}">
                <a16:creationId xmlns:a16="http://schemas.microsoft.com/office/drawing/2014/main" id="{F69840CE-4115-4E12-B1C7-E6FE0C86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08635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24/30</a:t>
            </a:r>
          </a:p>
        </p:txBody>
      </p:sp>
      <p:sp>
        <p:nvSpPr>
          <p:cNvPr id="58" name="score-r-9">
            <a:extLst xmlns:a="http://schemas.openxmlformats.org/drawingml/2006/main">
              <a:ext uri="{FF2B5EF4-FFF2-40B4-BE49-F238E27FC236}">
                <a16:creationId xmlns:a16="http://schemas.microsoft.com/office/drawing/2014/main" id="{E64E06EE-CC94-4B77-8D6A-62E7A250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9</a:t>
            </a:r>
          </a:p>
        </p:txBody>
      </p:sp>
      <p:sp>
        <p:nvSpPr>
          <p:cNvPr id="59" name="score-t-9">
            <a:extLst xmlns:a="http://schemas.openxmlformats.org/drawingml/2006/main">
              <a:ext uri="{FF2B5EF4-FFF2-40B4-BE49-F238E27FC236}">
                <a16:creationId xmlns:a16="http://schemas.microsoft.com/office/drawing/2014/main" id="{BF858658-A4BF-4EE6-8494-9D5E4C17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2925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controle de atendimento whatsapp</a:t>
            </a:r>
          </a:p>
        </p:txBody>
      </p:sp>
      <p:sp>
        <p:nvSpPr>
          <p:cNvPr id="60" name="score-u-9">
            <a:extLst xmlns:a="http://schemas.openxmlformats.org/drawingml/2006/main">
              <a:ext uri="{FF2B5EF4-FFF2-40B4-BE49-F238E27FC236}">
                <a16:creationId xmlns:a16="http://schemas.microsoft.com/office/drawing/2014/main" id="{F9C2891B-3697-4AEB-8543-8A01C20B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2925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Blog/landing de dor</a:t>
            </a:r>
          </a:p>
        </p:txBody>
      </p:sp>
      <p:sp>
        <p:nvSpPr>
          <p:cNvPr id="61" name="score-track-24">
            <a:extLst xmlns:a="http://schemas.openxmlformats.org/drawingml/2006/main">
              <a:ext uri="{FF2B5EF4-FFF2-40B4-BE49-F238E27FC236}">
                <a16:creationId xmlns:a16="http://schemas.microsoft.com/office/drawing/2014/main" id="{4A166BC7-552B-466F-BF0A-0527F2A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52450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62" name="score-fill-24">
            <a:extLst xmlns:a="http://schemas.openxmlformats.org/drawingml/2006/main">
              <a:ext uri="{FF2B5EF4-FFF2-40B4-BE49-F238E27FC236}">
                <a16:creationId xmlns:a16="http://schemas.microsoft.com/office/drawing/2014/main" id="{CD43372B-33F3-466B-8120-0FDFCC6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562600"/>
            <a:ext cx="1828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63" name="score-num-24">
            <a:extLst xmlns:a="http://schemas.openxmlformats.org/drawingml/2006/main">
              <a:ext uri="{FF2B5EF4-FFF2-40B4-BE49-F238E27FC236}">
                <a16:creationId xmlns:a16="http://schemas.microsoft.com/office/drawing/2014/main" id="{329F6005-1C0E-447D-AD34-5EB22830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42925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24/30</a:t>
            </a:r>
          </a:p>
        </p:txBody>
      </p:sp>
      <p:sp>
        <p:nvSpPr>
          <p:cNvPr id="64" name="score-r-10">
            <a:extLst xmlns:a="http://schemas.openxmlformats.org/drawingml/2006/main">
              <a:ext uri="{FF2B5EF4-FFF2-40B4-BE49-F238E27FC236}">
                <a16:creationId xmlns:a16="http://schemas.microsoft.com/office/drawing/2014/main" id="{817A611D-2A47-49C4-9883-3A964229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10</a:t>
            </a:r>
          </a:p>
        </p:txBody>
      </p:sp>
      <p:sp>
        <p:nvSpPr>
          <p:cNvPr id="65" name="score-t-10">
            <a:extLst xmlns:a="http://schemas.openxmlformats.org/drawingml/2006/main">
              <a:ext uri="{FF2B5EF4-FFF2-40B4-BE49-F238E27FC236}">
                <a16:creationId xmlns:a16="http://schemas.microsoft.com/office/drawing/2014/main" id="{45AB9F9F-67B4-4CE0-9EBB-19CCC5F1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912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gestão de atendimento whatsapp</a:t>
            </a:r>
          </a:p>
        </p:txBody>
      </p:sp>
      <p:sp>
        <p:nvSpPr>
          <p:cNvPr id="66" name="score-u-10">
            <a:extLst xmlns:a="http://schemas.openxmlformats.org/drawingml/2006/main">
              <a:ext uri="{FF2B5EF4-FFF2-40B4-BE49-F238E27FC236}">
                <a16:creationId xmlns:a16="http://schemas.microsoft.com/office/drawing/2014/main" id="{6A18174B-C3F9-4305-95D8-AE07A17A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7912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Landing/blog</a:t>
            </a:r>
          </a:p>
        </p:txBody>
      </p:sp>
      <p:sp>
        <p:nvSpPr>
          <p:cNvPr id="67" name="score-track-24">
            <a:extLst xmlns:a="http://schemas.openxmlformats.org/drawingml/2006/main">
              <a:ext uri="{FF2B5EF4-FFF2-40B4-BE49-F238E27FC236}">
                <a16:creationId xmlns:a16="http://schemas.microsoft.com/office/drawing/2014/main" id="{03C9655E-035A-45C9-9D93-5D07BD05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86740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68" name="score-fill-24">
            <a:extLst xmlns:a="http://schemas.openxmlformats.org/drawingml/2006/main">
              <a:ext uri="{FF2B5EF4-FFF2-40B4-BE49-F238E27FC236}">
                <a16:creationId xmlns:a16="http://schemas.microsoft.com/office/drawing/2014/main" id="{82509726-19C9-4B21-8A52-76EB9007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867400"/>
            <a:ext cx="1828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F"/>
          </a:solidFill>
        </p:spPr>
      </p:sp>
      <p:sp>
        <p:nvSpPr>
          <p:cNvPr id="69" name="score-num-24">
            <a:extLst xmlns:a="http://schemas.openxmlformats.org/drawingml/2006/main">
              <a:ext uri="{FF2B5EF4-FFF2-40B4-BE49-F238E27FC236}">
                <a16:creationId xmlns:a16="http://schemas.microsoft.com/office/drawing/2014/main" id="{3C6E6338-865C-42C1-B03A-A8E36940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77215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24/30</a:t>
            </a:r>
          </a:p>
        </p:txBody>
      </p:sp>
      <p:sp>
        <p:nvSpPr>
          <p:cNvPr id="70" name="score-r-11">
            <a:extLst xmlns:a="http://schemas.openxmlformats.org/drawingml/2006/main">
              <a:ext uri="{FF2B5EF4-FFF2-40B4-BE49-F238E27FC236}">
                <a16:creationId xmlns:a16="http://schemas.microsoft.com/office/drawing/2014/main" id="{C35C570B-3A98-416B-B71A-D85D08CD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11</a:t>
            </a:r>
          </a:p>
        </p:txBody>
      </p:sp>
      <p:sp>
        <p:nvSpPr>
          <p:cNvPr id="71" name="score-t-11">
            <a:extLst xmlns:a="http://schemas.openxmlformats.org/drawingml/2006/main">
              <a:ext uri="{FF2B5EF4-FFF2-40B4-BE49-F238E27FC236}">
                <a16:creationId xmlns:a16="http://schemas.microsoft.com/office/drawing/2014/main" id="{0C0A7C56-9A86-4B8D-8302-59F61AED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341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multiatendimento whatsapp</a:t>
            </a:r>
          </a:p>
        </p:txBody>
      </p:sp>
      <p:sp>
        <p:nvSpPr>
          <p:cNvPr id="72" name="score-u-11">
            <a:extLst xmlns:a="http://schemas.openxmlformats.org/drawingml/2006/main">
              <a:ext uri="{FF2B5EF4-FFF2-40B4-BE49-F238E27FC236}">
                <a16:creationId xmlns:a16="http://schemas.microsoft.com/office/drawing/2014/main" id="{B604569D-749C-431B-A1C2-6C8C6900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1341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 page</a:t>
            </a:r>
          </a:p>
        </p:txBody>
      </p:sp>
      <p:sp>
        <p:nvSpPr>
          <p:cNvPr id="73" name="score-track-23">
            <a:extLst xmlns:a="http://schemas.openxmlformats.org/drawingml/2006/main">
              <a:ext uri="{FF2B5EF4-FFF2-40B4-BE49-F238E27FC236}">
                <a16:creationId xmlns:a16="http://schemas.microsoft.com/office/drawing/2014/main" id="{C97EA668-E91A-4509-85DA-5716E2ED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621030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74" name="score-fill-23">
            <a:extLst xmlns:a="http://schemas.openxmlformats.org/drawingml/2006/main">
              <a:ext uri="{FF2B5EF4-FFF2-40B4-BE49-F238E27FC236}">
                <a16:creationId xmlns:a16="http://schemas.microsoft.com/office/drawing/2014/main" id="{568D835C-44F1-4F80-AF32-CA470172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248400"/>
            <a:ext cx="1752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6A6D"/>
          </a:solidFill>
        </p:spPr>
      </p:sp>
      <p:sp>
        <p:nvSpPr>
          <p:cNvPr id="75" name="score-num-23">
            <a:extLst xmlns:a="http://schemas.openxmlformats.org/drawingml/2006/main">
              <a:ext uri="{FF2B5EF4-FFF2-40B4-BE49-F238E27FC236}">
                <a16:creationId xmlns:a16="http://schemas.microsoft.com/office/drawing/2014/main" id="{90073D22-4C00-415A-8B9C-D649223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611505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23/30</a:t>
            </a:r>
          </a:p>
        </p:txBody>
      </p:sp>
      <p:sp>
        <p:nvSpPr>
          <p:cNvPr id="76" name="score-r-12">
            <a:extLst xmlns:a="http://schemas.openxmlformats.org/drawingml/2006/main">
              <a:ext uri="{FF2B5EF4-FFF2-40B4-BE49-F238E27FC236}">
                <a16:creationId xmlns:a16="http://schemas.microsoft.com/office/drawing/2014/main" id="{0BFBC8EB-DD48-4112-8D69-A65F81E0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0"/>
            <a:ext cx="38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4B4A"/>
                </a:solidFill>
              </a:defRPr>
            </a:pPr>
            <a:r>
              <a:rPr sz="1125" b="1">
                <a:solidFill>
                  <a:srgbClr val="064B4A"/>
                </a:solidFill>
              </a:rPr>
              <a:t>12</a:t>
            </a:r>
          </a:p>
        </p:txBody>
      </p:sp>
      <p:sp>
        <p:nvSpPr>
          <p:cNvPr id="77" name="score-t-12">
            <a:extLst xmlns:a="http://schemas.openxmlformats.org/drawingml/2006/main">
              <a:ext uri="{FF2B5EF4-FFF2-40B4-BE49-F238E27FC236}">
                <a16:creationId xmlns:a16="http://schemas.microsoft.com/office/drawing/2014/main" id="{9E5F9B5C-F14D-4C2F-89FF-75AB61DA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4770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A2E"/>
                </a:solidFill>
              </a:defRPr>
            </a:pPr>
            <a:r>
              <a:rPr sz="1125">
                <a:solidFill>
                  <a:srgbClr val="132A2E"/>
                </a:solidFill>
              </a:rPr>
              <a:t>sistema de atendimento whatsapp</a:t>
            </a:r>
          </a:p>
        </p:txBody>
      </p:sp>
      <p:sp>
        <p:nvSpPr>
          <p:cNvPr id="78" name="score-u-12">
            <a:extLst xmlns:a="http://schemas.openxmlformats.org/drawingml/2006/main">
              <a:ext uri="{FF2B5EF4-FFF2-40B4-BE49-F238E27FC236}">
                <a16:creationId xmlns:a16="http://schemas.microsoft.com/office/drawing/2014/main" id="{5229738B-D173-4961-BE3A-1CFE0A9A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4770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5D6A6D"/>
                </a:solidFill>
              </a:defRPr>
            </a:pPr>
            <a:r>
              <a:rPr sz="1050" i="1">
                <a:solidFill>
                  <a:srgbClr val="5D6A6D"/>
                </a:solidFill>
              </a:rPr>
              <a:t>Landing horizontal</a:t>
            </a:r>
          </a:p>
        </p:txBody>
      </p:sp>
      <p:sp>
        <p:nvSpPr>
          <p:cNvPr id="79" name="score-track-23">
            <a:extLst xmlns:a="http://schemas.openxmlformats.org/drawingml/2006/main">
              <a:ext uri="{FF2B5EF4-FFF2-40B4-BE49-F238E27FC236}">
                <a16:creationId xmlns:a16="http://schemas.microsoft.com/office/drawing/2014/main" id="{0F0B452F-FE9D-46BF-BC96-D0B27F3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6553200"/>
            <a:ext cx="2286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</p:spPr>
      </p:sp>
      <p:sp>
        <p:nvSpPr>
          <p:cNvPr id="80" name="score-fill-23">
            <a:extLst xmlns:a="http://schemas.openxmlformats.org/drawingml/2006/main">
              <a:ext uri="{FF2B5EF4-FFF2-40B4-BE49-F238E27FC236}">
                <a16:creationId xmlns:a16="http://schemas.microsoft.com/office/drawing/2014/main" id="{DD570C2F-D9DE-4F71-9A71-D9BC18AC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553200"/>
            <a:ext cx="1752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6A6D"/>
          </a:solidFill>
        </p:spPr>
      </p:sp>
      <p:sp>
        <p:nvSpPr>
          <p:cNvPr id="81" name="score-num-23">
            <a:extLst xmlns:a="http://schemas.openxmlformats.org/drawingml/2006/main">
              <a:ext uri="{FF2B5EF4-FFF2-40B4-BE49-F238E27FC236}">
                <a16:creationId xmlns:a16="http://schemas.microsoft.com/office/drawing/2014/main" id="{3FD60549-54CD-4010-A194-492C93D4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64770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A2E"/>
                </a:solidFill>
              </a:defRPr>
            </a:pPr>
            <a:r>
              <a:rPr sz="1650" b="1">
                <a:solidFill>
                  <a:srgbClr val="132A2E"/>
                </a:solidFill>
              </a:rPr>
              <a:t>23/30</a:t>
            </a:r>
          </a:p>
        </p:txBody>
      </p:sp>
      <p:sp>
        <p:nvSpPr>
          <p:cNvPr id="82" name="score-limit">
            <a:extLst xmlns:a="http://schemas.openxmlformats.org/drawingml/2006/main">
              <a:ext uri="{FF2B5EF4-FFF2-40B4-BE49-F238E27FC236}">
                <a16:creationId xmlns:a16="http://schemas.microsoft.com/office/drawing/2014/main" id="{F9BC4F11-E558-467D-AEDC-41041362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35165"/>
            <a:ext cx="16649700" cy="712470"/>
          </a:xfrm>
          <a:prstGeom xmlns:a="http://schemas.openxmlformats.org/drawingml/2006/main" prst="roundRect">
            <a:avLst>
              <a:gd name="adj" fmla="val 16043"/>
            </a:avLst>
          </a:prstGeom>
          <a:solidFill xmlns:a="http://schemas.openxmlformats.org/drawingml/2006/main">
            <a:srgbClr val="FAE3B3"/>
          </a:solidFill>
        </p:spPr>
      </p:sp>
      <p:sp>
        <p:nvSpPr>
          <p:cNvPr id="83" name="score-limit-label">
            <a:extLst xmlns:a="http://schemas.openxmlformats.org/drawingml/2006/main">
              <a:ext uri="{FF2B5EF4-FFF2-40B4-BE49-F238E27FC236}">
                <a16:creationId xmlns:a16="http://schemas.microsoft.com/office/drawing/2014/main" id="{A8811185-03A3-4B89-8285-A79A56C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200900"/>
            <a:ext cx="16116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5B3F"/>
                </a:solidFill>
              </a:defRPr>
            </a:pPr>
            <a:r>
              <a:rPr sz="975" b="1">
                <a:solidFill>
                  <a:srgbClr val="B85B3F"/>
                </a:solidFill>
              </a:rPr>
              <a:t>LIMITAÇÃO METODOLÓGICA · DECLARADA</a:t>
            </a:r>
          </a:p>
        </p:txBody>
      </p:sp>
      <p:sp>
        <p:nvSpPr>
          <p:cNvPr id="84" name="score-limit-text">
            <a:extLst xmlns:a="http://schemas.openxmlformats.org/drawingml/2006/main">
              <a:ext uri="{FF2B5EF4-FFF2-40B4-BE49-F238E27FC236}">
                <a16:creationId xmlns:a16="http://schemas.microsoft.com/office/drawing/2014/main" id="{55528A5A-5D64-42F5-845A-E8E50371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91400"/>
            <a:ext cx="1611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A2E"/>
                </a:solidFill>
              </a:defRPr>
            </a:pPr>
            <a:r>
              <a:rPr sz="1200">
                <a:solidFill>
                  <a:srgbClr val="132A2E"/>
                </a:solidFill>
              </a:rPr>
              <a:t>Volume de busca incorporado nos slides 6 e 7 via Apify (autocomplete PT-BR). Score formal ainda não inclui métricas reais do Search Console — entram na próxima atualização, depois da publicação.</a:t>
            </a:r>
          </a:p>
        </p:txBody>
      </p:sp>
      <p:sp>
        <p:nvSpPr>
          <p:cNvPr id="85" name="footer-left-15">
            <a:extLst xmlns:a="http://schemas.openxmlformats.org/drawingml/2006/main">
              <a:ext uri="{FF2B5EF4-FFF2-40B4-BE49-F238E27FC236}">
                <a16:creationId xmlns:a16="http://schemas.microsoft.com/office/drawing/2014/main" id="{05F5D3E8-62A8-452C-B274-651B3F2C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2005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86" name="footer-right-15">
            <a:extLst xmlns:a="http://schemas.openxmlformats.org/drawingml/2006/main">
              <a:ext uri="{FF2B5EF4-FFF2-40B4-BE49-F238E27FC236}">
                <a16:creationId xmlns:a16="http://schemas.microsoft.com/office/drawing/2014/main" id="{96149586-8CC0-4591-BF37-3A5B31FB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802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Anexo · 3 / 4</a:t>
            </a:r>
          </a:p>
        </p:txBody>
      </p:sp>
    </p:spTree>
    <p:extLst>
      <p:ext uri="{BB962C8B-B14F-4D97-AF65-F5344CB8AC3E}">
        <p14:creationId xmlns:p14="http://schemas.microsoft.com/office/powerpoint/2010/main" val="6745821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6E73CE8-DF77-4DF3-8C4E-29753D1B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</p:spPr>
      </p:sp>
      <p:sp>
        <p:nvSpPr>
          <p:cNvPr id="2" name="label-anexo-d-bibliografia-interna">
            <a:extLst xmlns:a="http://schemas.openxmlformats.org/drawingml/2006/main">
              <a:ext uri="{FF2B5EF4-FFF2-40B4-BE49-F238E27FC236}">
                <a16:creationId xmlns:a16="http://schemas.microsoft.com/office/drawing/2014/main" id="{1A6C5896-897F-462F-97E5-46A33BFC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ANEXO D · BIBLIOGRAFIA INTERNA</a:t>
            </a:r>
          </a:p>
        </p:txBody>
      </p:sp>
      <p:sp>
        <p:nvSpPr>
          <p:cNvPr id="3" name="slide-title-anexo-d-bibliografia-interna">
            <a:extLst xmlns:a="http://schemas.openxmlformats.org/drawingml/2006/main">
              <a:ext uri="{FF2B5EF4-FFF2-40B4-BE49-F238E27FC236}">
                <a16:creationId xmlns:a16="http://schemas.microsoft.com/office/drawing/2014/main" id="{0027CCC4-8509-4BF3-9C18-8880B411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6649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A2E"/>
                </a:solidFill>
              </a:defRPr>
            </a:pPr>
            <a:r>
              <a:rPr sz="2700" b="1">
                <a:solidFill>
                  <a:srgbClr val="132A2E"/>
                </a:solidFill>
              </a:rPr>
              <a:t>Cada slide tem evidência rastreável em duas frentes: pesquisa estratégica e estrutura do sistema.</a:t>
            </a:r>
          </a:p>
        </p:txBody>
      </p:sp>
      <p:sp>
        <p:nvSpPr>
          <p:cNvPr id="4" name="slide-subtitle-empty-anexo-d-bibliografia-interna">
            <a:extLst xmlns:a="http://schemas.openxmlformats.org/drawingml/2006/main">
              <a:ext uri="{FF2B5EF4-FFF2-40B4-BE49-F238E27FC236}">
                <a16:creationId xmlns:a16="http://schemas.microsoft.com/office/drawing/2014/main" id="{5E111037-DDAE-47E3-88DC-3D1E49F6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chip-pesquisa-docs-estrategia-mvp-">
            <a:extLst xmlns:a="http://schemas.openxmlformats.org/drawingml/2006/main">
              <a:ext uri="{FF2B5EF4-FFF2-40B4-BE49-F238E27FC236}">
                <a16:creationId xmlns:a16="http://schemas.microsoft.com/office/drawing/2014/main" id="{456ED6E0-4F84-4228-8967-60B56C45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4045"/>
            <a:ext cx="40576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08756F"/>
          </a:solidFill>
        </p:spPr>
      </p:sp>
      <p:sp>
        <p:nvSpPr>
          <p:cNvPr id="6" name="chip-text-pesquisa-docs-estrategia-mvp-">
            <a:extLst xmlns:a="http://schemas.openxmlformats.org/drawingml/2006/main">
              <a:ext uri="{FF2B5EF4-FFF2-40B4-BE49-F238E27FC236}">
                <a16:creationId xmlns:a16="http://schemas.microsoft.com/office/drawing/2014/main" id="{980185B9-699B-477D-994E-A390AB08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363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PESQUISA · docs/estrategia-mvp/</a:t>
            </a:r>
          </a:p>
        </p:txBody>
      </p:sp>
      <p:sp>
        <p:nvSpPr>
          <p:cNvPr id="7" name="biblio-r-0">
            <a:extLst xmlns:a="http://schemas.openxmlformats.org/drawingml/2006/main">
              <a:ext uri="{FF2B5EF4-FFF2-40B4-BE49-F238E27FC236}">
                <a16:creationId xmlns:a16="http://schemas.microsoft.com/office/drawing/2014/main" id="{80D1042F-B852-4250-8749-F9CFA00B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4110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biblio-r-file-0">
            <a:extLst xmlns:a="http://schemas.openxmlformats.org/drawingml/2006/main">
              <a:ext uri="{FF2B5EF4-FFF2-40B4-BE49-F238E27FC236}">
                <a16:creationId xmlns:a16="http://schemas.microsoft.com/office/drawing/2014/main" id="{21918CCC-B9C7-494E-824A-5CAF184D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matriz-nichos-mvp.md</a:t>
            </a:r>
          </a:p>
        </p:txBody>
      </p:sp>
      <p:sp>
        <p:nvSpPr>
          <p:cNvPr id="9" name="biblio-r-desc-0">
            <a:extLst xmlns:a="http://schemas.openxmlformats.org/drawingml/2006/main">
              <a:ext uri="{FF2B5EF4-FFF2-40B4-BE49-F238E27FC236}">
                <a16:creationId xmlns:a16="http://schemas.microsoft.com/office/drawing/2014/main" id="{25B0CD39-60C5-44C4-8A81-42F8D35E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15 nichos avaliados</a:t>
            </a:r>
          </a:p>
        </p:txBody>
      </p:sp>
      <p:sp>
        <p:nvSpPr>
          <p:cNvPr id="10" name="biblio-r-1">
            <a:extLst xmlns:a="http://schemas.openxmlformats.org/drawingml/2006/main">
              <a:ext uri="{FF2B5EF4-FFF2-40B4-BE49-F238E27FC236}">
                <a16:creationId xmlns:a16="http://schemas.microsoft.com/office/drawing/2014/main" id="{8B6FB879-1BFB-4DE8-9A76-F8FE71B1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biblio-r-file-1">
            <a:extLst xmlns:a="http://schemas.openxmlformats.org/drawingml/2006/main">
              <a:ext uri="{FF2B5EF4-FFF2-40B4-BE49-F238E27FC236}">
                <a16:creationId xmlns:a16="http://schemas.microsoft.com/office/drawing/2014/main" id="{9A8CF058-D76D-43B3-8556-88F7198C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matriz-termos-mvp.md</a:t>
            </a:r>
          </a:p>
        </p:txBody>
      </p:sp>
      <p:sp>
        <p:nvSpPr>
          <p:cNvPr id="12" name="biblio-r-desc-1">
            <a:extLst xmlns:a="http://schemas.openxmlformats.org/drawingml/2006/main">
              <a:ext uri="{FF2B5EF4-FFF2-40B4-BE49-F238E27FC236}">
                <a16:creationId xmlns:a16="http://schemas.microsoft.com/office/drawing/2014/main" id="{ACFFBE53-8E8F-4E26-873C-C803087C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158 termos por intenção</a:t>
            </a:r>
          </a:p>
        </p:txBody>
      </p:sp>
      <p:sp>
        <p:nvSpPr>
          <p:cNvPr id="13" name="biblio-r-2">
            <a:extLst xmlns:a="http://schemas.openxmlformats.org/drawingml/2006/main">
              <a:ext uri="{FF2B5EF4-FFF2-40B4-BE49-F238E27FC236}">
                <a16:creationId xmlns:a16="http://schemas.microsoft.com/office/drawing/2014/main" id="{8E2552EB-5570-4B06-8264-738BEDA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0940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biblio-r-file-2">
            <a:extLst xmlns:a="http://schemas.openxmlformats.org/drawingml/2006/main">
              <a:ext uri="{FF2B5EF4-FFF2-40B4-BE49-F238E27FC236}">
                <a16:creationId xmlns:a16="http://schemas.microsoft.com/office/drawing/2014/main" id="{D0F65101-A2BB-4BFA-9EE6-09F2E45B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pesquisa-serp-nichos-prioridade-a.csv</a:t>
            </a:r>
          </a:p>
        </p:txBody>
      </p:sp>
      <p:sp>
        <p:nvSpPr>
          <p:cNvPr id="15" name="biblio-r-desc-2">
            <a:extLst xmlns:a="http://schemas.openxmlformats.org/drawingml/2006/main">
              <a:ext uri="{FF2B5EF4-FFF2-40B4-BE49-F238E27FC236}">
                <a16:creationId xmlns:a16="http://schemas.microsoft.com/office/drawing/2014/main" id="{42A5771B-41A6-4FAB-9F13-F2381D33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SERP — 4 nichos prioridade A</a:t>
            </a:r>
          </a:p>
        </p:txBody>
      </p:sp>
      <p:sp>
        <p:nvSpPr>
          <p:cNvPr id="16" name="biblio-r-3">
            <a:extLst xmlns:a="http://schemas.openxmlformats.org/drawingml/2006/main">
              <a:ext uri="{FF2B5EF4-FFF2-40B4-BE49-F238E27FC236}">
                <a16:creationId xmlns:a16="http://schemas.microsoft.com/office/drawing/2014/main" id="{C2249759-D557-4294-9817-6827FC60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4355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biblio-r-file-3">
            <a:extLst xmlns:a="http://schemas.openxmlformats.org/drawingml/2006/main">
              <a:ext uri="{FF2B5EF4-FFF2-40B4-BE49-F238E27FC236}">
                <a16:creationId xmlns:a16="http://schemas.microsoft.com/office/drawing/2014/main" id="{31ACB205-8AD3-4BEF-BDC0-EC3941E5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analise-concorrentes-mvp.md</a:t>
            </a:r>
          </a:p>
        </p:txBody>
      </p:sp>
      <p:sp>
        <p:nvSpPr>
          <p:cNvPr id="18" name="biblio-r-desc-3">
            <a:extLst xmlns:a="http://schemas.openxmlformats.org/drawingml/2006/main">
              <a:ext uri="{FF2B5EF4-FFF2-40B4-BE49-F238E27FC236}">
                <a16:creationId xmlns:a16="http://schemas.microsoft.com/office/drawing/2014/main" id="{C97D600A-F72D-4DF0-8D49-2901393E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17 domínios consolidados</a:t>
            </a:r>
          </a:p>
        </p:txBody>
      </p:sp>
      <p:sp>
        <p:nvSpPr>
          <p:cNvPr id="19" name="biblio-r-4">
            <a:extLst xmlns:a="http://schemas.openxmlformats.org/drawingml/2006/main">
              <a:ext uri="{FF2B5EF4-FFF2-40B4-BE49-F238E27FC236}">
                <a16:creationId xmlns:a16="http://schemas.microsoft.com/office/drawing/2014/main" id="{11E99F60-2ED1-4BAB-9235-CA498880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7770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biblio-r-file-4">
            <a:extLst xmlns:a="http://schemas.openxmlformats.org/drawingml/2006/main">
              <a:ext uri="{FF2B5EF4-FFF2-40B4-BE49-F238E27FC236}">
                <a16:creationId xmlns:a16="http://schemas.microsoft.com/office/drawing/2014/main" id="{1670F916-F34F-4E89-A852-817B8346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score-oportunidades-mvp.md</a:t>
            </a:r>
          </a:p>
        </p:txBody>
      </p:sp>
      <p:sp>
        <p:nvSpPr>
          <p:cNvPr id="21" name="biblio-r-desc-4">
            <a:extLst xmlns:a="http://schemas.openxmlformats.org/drawingml/2006/main">
              <a:ext uri="{FF2B5EF4-FFF2-40B4-BE49-F238E27FC236}">
                <a16:creationId xmlns:a16="http://schemas.microsoft.com/office/drawing/2014/main" id="{AC3360BB-4443-43FB-A2E3-E5A94F1E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12 termos pontuados</a:t>
            </a:r>
          </a:p>
        </p:txBody>
      </p:sp>
      <p:sp>
        <p:nvSpPr>
          <p:cNvPr id="22" name="biblio-r-5">
            <a:extLst xmlns:a="http://schemas.openxmlformats.org/drawingml/2006/main">
              <a:ext uri="{FF2B5EF4-FFF2-40B4-BE49-F238E27FC236}">
                <a16:creationId xmlns:a16="http://schemas.microsoft.com/office/drawing/2014/main" id="{DC80C5FE-CCEC-421E-9B30-91750ED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1185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biblio-r-file-5">
            <a:extLst xmlns:a="http://schemas.openxmlformats.org/drawingml/2006/main">
              <a:ext uri="{FF2B5EF4-FFF2-40B4-BE49-F238E27FC236}">
                <a16:creationId xmlns:a16="http://schemas.microsoft.com/office/drawing/2014/main" id="{DD0EAB09-C768-4C10-8FC9-8D572036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comparativo-nichos-prioridade-a.md</a:t>
            </a:r>
          </a:p>
        </p:txBody>
      </p:sp>
      <p:sp>
        <p:nvSpPr>
          <p:cNvPr id="24" name="biblio-r-desc-5">
            <a:extLst xmlns:a="http://schemas.openxmlformats.org/drawingml/2006/main">
              <a:ext uri="{FF2B5EF4-FFF2-40B4-BE49-F238E27FC236}">
                <a16:creationId xmlns:a16="http://schemas.microsoft.com/office/drawing/2014/main" id="{6ADFCC24-EB0F-45F8-9D5D-69B3EE05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626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Comparativo dos 4 nichos</a:t>
            </a:r>
          </a:p>
        </p:txBody>
      </p:sp>
      <p:sp>
        <p:nvSpPr>
          <p:cNvPr id="25" name="biblio-r-6">
            <a:extLst xmlns:a="http://schemas.openxmlformats.org/drawingml/2006/main">
              <a:ext uri="{FF2B5EF4-FFF2-40B4-BE49-F238E27FC236}">
                <a16:creationId xmlns:a16="http://schemas.microsoft.com/office/drawing/2014/main" id="{5ADC4B70-9D8B-4CB9-8E45-588C395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biblio-r-file-6">
            <a:extLst xmlns:a="http://schemas.openxmlformats.org/drawingml/2006/main">
              <a:ext uri="{FF2B5EF4-FFF2-40B4-BE49-F238E27FC236}">
                <a16:creationId xmlns:a16="http://schemas.microsoft.com/office/drawing/2014/main" id="{760940A3-0128-4642-B523-88C65633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389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top-10-paginas-mvp.md</a:t>
            </a:r>
          </a:p>
        </p:txBody>
      </p:sp>
      <p:sp>
        <p:nvSpPr>
          <p:cNvPr id="27" name="biblio-r-desc-6">
            <a:extLst xmlns:a="http://schemas.openxmlformats.org/drawingml/2006/main">
              <a:ext uri="{FF2B5EF4-FFF2-40B4-BE49-F238E27FC236}">
                <a16:creationId xmlns:a16="http://schemas.microsoft.com/office/drawing/2014/main" id="{9EFD87BD-E516-4F68-BBC2-DCC572E3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103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Primeiro lote de publicação</a:t>
            </a:r>
          </a:p>
        </p:txBody>
      </p:sp>
      <p:sp>
        <p:nvSpPr>
          <p:cNvPr id="28" name="biblio-r-7">
            <a:extLst xmlns:a="http://schemas.openxmlformats.org/drawingml/2006/main">
              <a:ext uri="{FF2B5EF4-FFF2-40B4-BE49-F238E27FC236}">
                <a16:creationId xmlns:a16="http://schemas.microsoft.com/office/drawing/2014/main" id="{424C032D-4F13-4413-9349-2FA13507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78015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biblio-r-file-7">
            <a:extLst xmlns:a="http://schemas.openxmlformats.org/drawingml/2006/main">
              <a:ext uri="{FF2B5EF4-FFF2-40B4-BE49-F238E27FC236}">
                <a16:creationId xmlns:a16="http://schemas.microsoft.com/office/drawing/2014/main" id="{12A00BBF-54EC-4FC2-A4CA-9A19F476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0866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volumes-tendencias-mvp.md</a:t>
            </a:r>
          </a:p>
        </p:txBody>
      </p:sp>
      <p:sp>
        <p:nvSpPr>
          <p:cNvPr id="30" name="biblio-r-desc-7">
            <a:extLst xmlns:a="http://schemas.openxmlformats.org/drawingml/2006/main">
              <a:ext uri="{FF2B5EF4-FFF2-40B4-BE49-F238E27FC236}">
                <a16:creationId xmlns:a16="http://schemas.microsoft.com/office/drawing/2014/main" id="{9029BC12-045A-4FAB-9908-BB4BCC1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2580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Volume + CPC + tendência via Apify</a:t>
            </a:r>
          </a:p>
        </p:txBody>
      </p:sp>
      <p:sp>
        <p:nvSpPr>
          <p:cNvPr id="31" name="chip-sistema-ideiapages-">
            <a:extLst xmlns:a="http://schemas.openxmlformats.org/drawingml/2006/main">
              <a:ext uri="{FF2B5EF4-FFF2-40B4-BE49-F238E27FC236}">
                <a16:creationId xmlns:a16="http://schemas.microsoft.com/office/drawing/2014/main" id="{45E7272A-F57E-414B-A2F0-B07C9CC3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4045"/>
            <a:ext cx="2914650" cy="415290"/>
          </a:xfrm>
          <a:prstGeom xmlns:a="http://schemas.openxmlformats.org/drawingml/2006/main" prst="roundRect">
            <a:avLst>
              <a:gd name="adj" fmla="val 41284"/>
            </a:avLst>
          </a:prstGeom>
          <a:solidFill xmlns:a="http://schemas.openxmlformats.org/drawingml/2006/main">
            <a:srgbClr val="D8694E"/>
          </a:solidFill>
        </p:spPr>
      </p:sp>
      <p:sp>
        <p:nvSpPr>
          <p:cNvPr id="32" name="chip-text-sistema-ideiapages-">
            <a:extLst xmlns:a="http://schemas.openxmlformats.org/drawingml/2006/main">
              <a:ext uri="{FF2B5EF4-FFF2-40B4-BE49-F238E27FC236}">
                <a16:creationId xmlns:a16="http://schemas.microsoft.com/office/drawing/2014/main" id="{497D4C37-90E9-4BBA-94D9-693E5AE3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81200"/>
            <a:ext cx="2495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SISTEMA · ideiapages/</a:t>
            </a:r>
          </a:p>
        </p:txBody>
      </p:sp>
      <p:sp>
        <p:nvSpPr>
          <p:cNvPr id="33" name="biblio-s-0">
            <a:extLst xmlns:a="http://schemas.openxmlformats.org/drawingml/2006/main">
              <a:ext uri="{FF2B5EF4-FFF2-40B4-BE49-F238E27FC236}">
                <a16:creationId xmlns:a16="http://schemas.microsoft.com/office/drawing/2014/main" id="{1EEB9424-2603-486B-8F29-62F14DF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04110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biblio-s-file-0">
            <a:extLst xmlns:a="http://schemas.openxmlformats.org/drawingml/2006/main">
              <a:ext uri="{FF2B5EF4-FFF2-40B4-BE49-F238E27FC236}">
                <a16:creationId xmlns:a16="http://schemas.microsoft.com/office/drawing/2014/main" id="{FF92F041-101A-4804-A3E3-9A96E87A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146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ideiapages/README.md</a:t>
            </a:r>
          </a:p>
        </p:txBody>
      </p:sp>
      <p:sp>
        <p:nvSpPr>
          <p:cNvPr id="35" name="biblio-s-desc-0">
            <a:extLst xmlns:a="http://schemas.openxmlformats.org/drawingml/2006/main">
              <a:ext uri="{FF2B5EF4-FFF2-40B4-BE49-F238E27FC236}">
                <a16:creationId xmlns:a16="http://schemas.microsoft.com/office/drawing/2014/main" id="{1163FAC5-8612-424B-AAF9-ED0D8ABB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Visão geral e roadmap</a:t>
            </a:r>
          </a:p>
        </p:txBody>
      </p:sp>
      <p:sp>
        <p:nvSpPr>
          <p:cNvPr id="36" name="biblio-s-1">
            <a:extLst xmlns:a="http://schemas.openxmlformats.org/drawingml/2006/main">
              <a:ext uri="{FF2B5EF4-FFF2-40B4-BE49-F238E27FC236}">
                <a16:creationId xmlns:a16="http://schemas.microsoft.com/office/drawing/2014/main" id="{5B0D993D-E077-40D7-B600-3FD71BEE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57525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7" name="biblio-s-file-1">
            <a:extLst xmlns:a="http://schemas.openxmlformats.org/drawingml/2006/main">
              <a:ext uri="{FF2B5EF4-FFF2-40B4-BE49-F238E27FC236}">
                <a16:creationId xmlns:a16="http://schemas.microsoft.com/office/drawing/2014/main" id="{A2B8E65C-E7F8-4F35-A521-22CC8F9F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623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ideiapages/ROADMAP.md</a:t>
            </a:r>
          </a:p>
        </p:txBody>
      </p:sp>
      <p:sp>
        <p:nvSpPr>
          <p:cNvPr id="38" name="biblio-s-desc-1">
            <a:extLst xmlns:a="http://schemas.openxmlformats.org/drawingml/2006/main">
              <a:ext uri="{FF2B5EF4-FFF2-40B4-BE49-F238E27FC236}">
                <a16:creationId xmlns:a16="http://schemas.microsoft.com/office/drawing/2014/main" id="{5348BD3B-BB7B-4CBC-99F1-C0C66E9B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48 tarefas · 67% entregue</a:t>
            </a:r>
          </a:p>
        </p:txBody>
      </p:sp>
      <p:sp>
        <p:nvSpPr>
          <p:cNvPr id="39" name="biblio-s-2">
            <a:extLst xmlns:a="http://schemas.openxmlformats.org/drawingml/2006/main">
              <a:ext uri="{FF2B5EF4-FFF2-40B4-BE49-F238E27FC236}">
                <a16:creationId xmlns:a16="http://schemas.microsoft.com/office/drawing/2014/main" id="{8D62A477-370C-4166-BA62-189B697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0940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biblio-s-file-2">
            <a:extLst xmlns:a="http://schemas.openxmlformats.org/drawingml/2006/main">
              <a:ext uri="{FF2B5EF4-FFF2-40B4-BE49-F238E27FC236}">
                <a16:creationId xmlns:a16="http://schemas.microsoft.com/office/drawing/2014/main" id="{146C4DC3-820C-4B8F-BF20-4740ECDF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00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ideiapages/FASE-0-APROVACAO.md</a:t>
            </a:r>
          </a:p>
        </p:txBody>
      </p:sp>
      <p:sp>
        <p:nvSpPr>
          <p:cNvPr id="41" name="biblio-s-desc-2">
            <a:extLst xmlns:a="http://schemas.openxmlformats.org/drawingml/2006/main">
              <a:ext uri="{FF2B5EF4-FFF2-40B4-BE49-F238E27FC236}">
                <a16:creationId xmlns:a16="http://schemas.microsoft.com/office/drawing/2014/main" id="{97B205D4-620C-456E-91EC-98EF3F3C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005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Pipeline pesquisa aprovado em piloto</a:t>
            </a:r>
          </a:p>
        </p:txBody>
      </p:sp>
      <p:sp>
        <p:nvSpPr>
          <p:cNvPr id="42" name="biblio-s-3">
            <a:extLst xmlns:a="http://schemas.openxmlformats.org/drawingml/2006/main">
              <a:ext uri="{FF2B5EF4-FFF2-40B4-BE49-F238E27FC236}">
                <a16:creationId xmlns:a16="http://schemas.microsoft.com/office/drawing/2014/main" id="{C7C2CD59-A303-4BFF-AE6C-87ABD275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64355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biblio-s-file-3">
            <a:extLst xmlns:a="http://schemas.openxmlformats.org/drawingml/2006/main">
              <a:ext uri="{FF2B5EF4-FFF2-40B4-BE49-F238E27FC236}">
                <a16:creationId xmlns:a16="http://schemas.microsoft.com/office/drawing/2014/main" id="{5A920449-97DF-4C2B-8D2D-1C801CC0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specs/fase-1-paginas-piloto.md</a:t>
            </a:r>
          </a:p>
        </p:txBody>
      </p:sp>
      <p:sp>
        <p:nvSpPr>
          <p:cNvPr id="44" name="biblio-s-desc-3">
            <a:extLst xmlns:a="http://schemas.openxmlformats.org/drawingml/2006/main">
              <a:ext uri="{FF2B5EF4-FFF2-40B4-BE49-F238E27FC236}">
                <a16:creationId xmlns:a16="http://schemas.microsoft.com/office/drawing/2014/main" id="{436621D7-CEFD-418D-963E-F5A08730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482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Renderização + conversão</a:t>
            </a:r>
          </a:p>
        </p:txBody>
      </p:sp>
      <p:sp>
        <p:nvSpPr>
          <p:cNvPr id="45" name="biblio-s-4">
            <a:extLst xmlns:a="http://schemas.openxmlformats.org/drawingml/2006/main">
              <a:ext uri="{FF2B5EF4-FFF2-40B4-BE49-F238E27FC236}">
                <a16:creationId xmlns:a16="http://schemas.microsoft.com/office/drawing/2014/main" id="{2053994A-2620-4871-8E4F-6AD6E73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17770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6" name="biblio-s-file-4">
            <a:extLst xmlns:a="http://schemas.openxmlformats.org/drawingml/2006/main">
              <a:ext uri="{FF2B5EF4-FFF2-40B4-BE49-F238E27FC236}">
                <a16:creationId xmlns:a16="http://schemas.microsoft.com/office/drawing/2014/main" id="{774A6532-2651-4EF4-BD41-86117FC1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244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specs/fase-2-multi-ia-ab.md</a:t>
            </a:r>
          </a:p>
        </p:txBody>
      </p:sp>
      <p:sp>
        <p:nvSpPr>
          <p:cNvPr id="47" name="biblio-s-desc-4">
            <a:extLst xmlns:a="http://schemas.openxmlformats.org/drawingml/2006/main">
              <a:ext uri="{FF2B5EF4-FFF2-40B4-BE49-F238E27FC236}">
                <a16:creationId xmlns:a16="http://schemas.microsoft.com/office/drawing/2014/main" id="{BB492415-C016-40A7-81EE-4649ED5E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959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3 IAs + quality gate + A/B</a:t>
            </a:r>
          </a:p>
        </p:txBody>
      </p:sp>
      <p:sp>
        <p:nvSpPr>
          <p:cNvPr id="48" name="biblio-s-5">
            <a:extLst xmlns:a="http://schemas.openxmlformats.org/drawingml/2006/main">
              <a:ext uri="{FF2B5EF4-FFF2-40B4-BE49-F238E27FC236}">
                <a16:creationId xmlns:a16="http://schemas.microsoft.com/office/drawing/2014/main" id="{ABAA93E2-C7D5-4AF0-A775-381F213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71185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9" name="biblio-s-file-5">
            <a:extLst xmlns:a="http://schemas.openxmlformats.org/drawingml/2006/main">
              <a:ext uri="{FF2B5EF4-FFF2-40B4-BE49-F238E27FC236}">
                <a16:creationId xmlns:a16="http://schemas.microsoft.com/office/drawing/2014/main" id="{4F4C3C1A-4E66-46A0-B154-19B2377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7721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specs/fase-3-dashboard.md</a:t>
            </a:r>
          </a:p>
        </p:txBody>
      </p:sp>
      <p:sp>
        <p:nvSpPr>
          <p:cNvPr id="50" name="biblio-s-desc-5">
            <a:extLst xmlns:a="http://schemas.openxmlformats.org/drawingml/2006/main">
              <a:ext uri="{FF2B5EF4-FFF2-40B4-BE49-F238E27FC236}">
                <a16:creationId xmlns:a16="http://schemas.microsoft.com/office/drawing/2014/main" id="{3E6BAAE4-5272-4B09-AECE-E5BB0BC6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626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Dashboard interno + recomendações</a:t>
            </a:r>
          </a:p>
        </p:txBody>
      </p:sp>
      <p:sp>
        <p:nvSpPr>
          <p:cNvPr id="51" name="biblio-s-6">
            <a:extLst xmlns:a="http://schemas.openxmlformats.org/drawingml/2006/main">
              <a:ext uri="{FF2B5EF4-FFF2-40B4-BE49-F238E27FC236}">
                <a16:creationId xmlns:a16="http://schemas.microsoft.com/office/drawing/2014/main" id="{AA5AE8AE-2318-4467-85C9-77D73141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324600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2" name="biblio-s-file-6">
            <a:extLst xmlns:a="http://schemas.openxmlformats.org/drawingml/2006/main">
              <a:ext uri="{FF2B5EF4-FFF2-40B4-BE49-F238E27FC236}">
                <a16:creationId xmlns:a16="http://schemas.microsoft.com/office/drawing/2014/main" id="{86FB89E6-02DF-4F7A-998A-0988FFFF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4389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specs/fase-4-autocura.md</a:t>
            </a:r>
          </a:p>
        </p:txBody>
      </p:sp>
      <p:sp>
        <p:nvSpPr>
          <p:cNvPr id="53" name="biblio-s-desc-6">
            <a:extLst xmlns:a="http://schemas.openxmlformats.org/drawingml/2006/main">
              <a:ext uri="{FF2B5EF4-FFF2-40B4-BE49-F238E27FC236}">
                <a16:creationId xmlns:a16="http://schemas.microsoft.com/office/drawing/2014/main" id="{53899648-6315-42ED-881D-BE9775CB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6103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Detecção de queda + reescrita</a:t>
            </a:r>
          </a:p>
        </p:txBody>
      </p:sp>
      <p:sp>
        <p:nvSpPr>
          <p:cNvPr id="54" name="biblio-s-7">
            <a:extLst xmlns:a="http://schemas.openxmlformats.org/drawingml/2006/main">
              <a:ext uri="{FF2B5EF4-FFF2-40B4-BE49-F238E27FC236}">
                <a16:creationId xmlns:a16="http://schemas.microsoft.com/office/drawing/2014/main" id="{B9479D6B-F929-41CB-AF72-2EDD8EE1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978015"/>
            <a:ext cx="8191500" cy="548640"/>
          </a:xfrm>
          <a:prstGeom xmlns:a="http://schemas.openxmlformats.org/drawingml/2006/main" prst="roundRect">
            <a:avLst>
              <a:gd name="adj" fmla="val 1736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5" name="biblio-s-file-7">
            <a:extLst xmlns:a="http://schemas.openxmlformats.org/drawingml/2006/main">
              <a:ext uri="{FF2B5EF4-FFF2-40B4-BE49-F238E27FC236}">
                <a16:creationId xmlns:a16="http://schemas.microsoft.com/office/drawing/2014/main" id="{277A3030-73BC-477F-A6DB-A90800EC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0866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4B4A"/>
                </a:solidFill>
              </a:defRPr>
            </a:pPr>
            <a:r>
              <a:rPr sz="1050" b="1">
                <a:solidFill>
                  <a:srgbClr val="064B4A"/>
                </a:solidFill>
              </a:rPr>
              <a:t>references/product_facts.md</a:t>
            </a:r>
          </a:p>
        </p:txBody>
      </p:sp>
      <p:sp>
        <p:nvSpPr>
          <p:cNvPr id="56" name="biblio-s-desc-7">
            <a:extLst xmlns:a="http://schemas.openxmlformats.org/drawingml/2006/main">
              <a:ext uri="{FF2B5EF4-FFF2-40B4-BE49-F238E27FC236}">
                <a16:creationId xmlns:a16="http://schemas.microsoft.com/office/drawing/2014/main" id="{A34EFA1F-EFE6-479E-B98D-D8AD45B6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25805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A6D"/>
                </a:solidFill>
              </a:defRPr>
            </a:pPr>
            <a:r>
              <a:rPr sz="1050">
                <a:solidFill>
                  <a:srgbClr val="5D6A6D"/>
                </a:solidFill>
              </a:rPr>
              <a:t>Fatos do Ideia Chat</a:t>
            </a:r>
          </a:p>
        </p:txBody>
      </p:sp>
      <p:sp>
        <p:nvSpPr>
          <p:cNvPr id="57" name="footer-left-16">
            <a:extLst xmlns:a="http://schemas.openxmlformats.org/drawingml/2006/main">
              <a:ext uri="{FF2B5EF4-FFF2-40B4-BE49-F238E27FC236}">
                <a16:creationId xmlns:a16="http://schemas.microsoft.com/office/drawing/2014/main" id="{0DB02875-17B0-4DD2-B64D-D7BD09BA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63100"/>
            <a:ext cx="15506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8586"/>
                </a:solidFill>
              </a:defRPr>
            </a:pPr>
            <a:r>
              <a:rPr sz="975">
                <a:solidFill>
                  <a:srgbClr val="7D8586"/>
                </a:solidFill>
              </a:rPr>
              <a:t>Estratégia + Sistema do MVP · IDeiaPages × Ideia Chat · Junior · Estratégia</a:t>
            </a:r>
          </a:p>
        </p:txBody>
      </p:sp>
      <p:sp>
        <p:nvSpPr>
          <p:cNvPr id="58" name="footer-right-16">
            <a:extLst xmlns:a="http://schemas.openxmlformats.org/drawingml/2006/main">
              <a:ext uri="{FF2B5EF4-FFF2-40B4-BE49-F238E27FC236}">
                <a16:creationId xmlns:a16="http://schemas.microsoft.com/office/drawing/2014/main" id="{0F9718AC-8AE2-4326-9899-F2BD5EE1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95631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4B4A"/>
                </a:solidFill>
              </a:defRPr>
            </a:pPr>
            <a:r>
              <a:rPr sz="975" b="1">
                <a:solidFill>
                  <a:srgbClr val="064B4A"/>
                </a:solidFill>
              </a:rPr>
              <a:t>Anexo · 4 / 4</a:t>
            </a:r>
          </a:p>
        </p:txBody>
      </p:sp>
    </p:spTree>
    <p:extLst>
      <p:ext uri="{BB962C8B-B14F-4D97-AF65-F5344CB8AC3E}">
        <p14:creationId xmlns:p14="http://schemas.microsoft.com/office/powerpoint/2010/main" val="1037789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2026-05-08T11:29:58.6360000Z</dcterms:created>
  <dcterms:modified xsi:type="dcterms:W3CDTF">2026-05-08T11:29:58.6360000Z</dcterms:modified>
</coreProperties>
</file>